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I'm Joseph Iype, Senior Data Scientist at HSBC, working on machine-readable policy for data governance in a heavily regulated, multi-jurisdictional bank.
The title is deliberate: ODRL today essentially gives us "permit" and "prohibit". Real regulatory reasoning needs much more — and I want to show what that "more" looks like.
One-line thesis: ODRL is winning on adoption but losing on semantics. I'm proposing two thin, backward-compatible profiles — odrl-prov for provenance and odrl-cr for conflict resolution — as candidates for ODRL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success: ODRL 2.2 is genuinely winning. Its abstractions are simple, semantic-web native, and easy to drop into knowledge graphs.
Point at the grid: RightsML for media, JPEG Trust, IDS usage control, Gaia-X, TDM reservation, trading licences. Adoption is now dominated by non-DRM, industrial use.
The pivot: the *character* of the rules has changed. Media licensing is basically a commercial deal. Cross-border financial data transfer is overlapping statutes + sector regulation + contracts. Simplicity that was a virtue in DRM becomes a liability in regulated, multi-jurisdictional settings. That tension drives everything else in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sharpest framing of the paper: the rules-engine ecosystem is routing AROUND ODRL's normative semantics.
Walk the pipeline: an ODRL policy gets compiled — for example by ODRL-PAP — into an execution environment like OPA/Rego. At compile time, someone has to make arbitrary decisions about conflicts ODRL cannot express natively.
Land the punchline: same policy, two engines, two different answers. ODRL is functioning as an interoperable *syntax*, not interoperable *policy semantics*. If we don't fix that in the standard, every deployment keeps re-inventing the semantics privately — which is exactly what a standard exists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the entire conflict model in ODRL 2.2 is one property with three values — perm, prohibit, invalid — and it only triggers on an exact Permission/Prohibition collision on the same action and asset.
Benchmark it: XACML 3.0, from 2013, already had combining algorithms — deny-overrides, permit-overrides, first-applicable — ordered evaluation, indeterminate verdicts. ODRL is strictly weaker than a 13-year-old access-control standard.
Right side, the four blind spots: (1) permission-vs-permission across merged policies — the everyday case in federated data spaces; (2) conflicting duties — deletion vs retention; (3) action subsumption — actions are assumed disjoint, but edit and delete clearly interact; (4) precedence by jurisdiction, time, or specificity — lex superior, lex posterior, lex specialis have no home in ODRL.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example to slow down on — it's from daily life in international banking.
One request: transfer a customer dataset across borders. Three concurrent policies: P1 GDPR-derived prohibition on transfers to non-adequate countries; P2 CLOUD-Act-derived permission on lawful subpoena; P3 a contract permitting transfer with explicit consent. Same asset, same action.
Now try each ODRL setting. invalid — the default — nukes the whole merged set: default-deny, blocking compliant consented transfers. prohibit — GDPR always wins, which sounds safe but actually breaks Article 49 derogations that exist precisely to allow consented transfers. perm — most permissive wins — is catastrophic for a bank: a corporate contract overriding a statutory prohibition.
Takeaway: it's not that ODRL picks the wrong strategy — it's that no expressible strategy is correct. The right answer needs precedence, weights, and context ODRL can't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auditor's question aloud — it's the whole slide: "Why was this transfer blocked at 14:07 GMT on 12 May, under which clause of which regulation, and which engineer approved the derivation?" ODRL 2.2 has no standards-based answer.
Three points beneath it: first, the Information Model defines zero normative properties for derivation traceability. Second, people retrofit Dublin Core and PAV — but those are flat metadata tags: they can't model derivation chains and say nothing about runtime evaluation; the Temporal Model draft is unfinished and skips derivation entirely. Third, LegalRuleML already shows the purpose-built pattern — every rule linked to its exact textual provision, authoring agent, and temporal efficacy.
For regulated industries, this isn't nice-to-have: you must evidence compliance as rigorously as you enforce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philosophy matters as much as the content: we deliberately follow DPV 2.0's layering pattern — thin, modular profiles on top of the core, not a heavier core. A media-licensing user never touches these; a bank switches them on.
odrl-prov: PROV-O/PAV alignment so every rule carries its legal source, author, version, derivation history — and every runtime decision is recorded. It answers "where did this rule come from and why did it fire?"
odrl-cr: generalises the conflict property into an extensible class of strategies — XACML parity plus numeric weights — with a mandatory resolution report. It answers "when rules collide, which wins, and can we prove it?"
Stress backward compatibility: existing ODRL 2.2 policies are untouched. Adoption cost is near zero for those who don't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Mechanically simple: declare Policy and Rule as subclasses of prov:Entity, then adopt four properties as standard ODRL vocabulary — wasDerivedFrom to the source document, wasAttributedTo for the authoring agent, hadPrimarySource pointing at the actual legal text via stable identifiers like ELI or Akoma Ntoso, and pav:version / previousVersion for change control.
The genuinely novel piece is on the right: odrl:EvaluationRecord. Everything else is design-time metadata; this captures every PDP execution at runtime. That unification — where the rule came from AND when and why it fired — is what turns provenance from documentation into evidence.
That's precisely the chain a legal auditor needs to verify an automated compliance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every line — trace the story. Top block: a policy derived from GDPR Article 44, generated by a derivation activity, attributed to a named data architect, primary source pinned to the EUR-Lex ELI URI, versioned 1.2.0 with a link to its predecessor.
Middle: the derivation activity itself — timestamped, associated with a specific converter tool version. Note: tool-assisted rule derivation is itself part of the audit trail.
Bottom: the runtime side — a decision record from 14:07 on 12 May, influenced by that policy. This closes the loop on the auditor's question from earlier: statute, article, author, tool, version, and the individual decision — one machine-readable graph, all standard PROV-O.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structural move: ConflictTerm stops being a closed three-value enumeration and becomes an extensible class. That single change opens a hierarchy of strategies.
First family: XACML equivalents — DenyOverrides, PermitOverrides, FirstApplicable, OnlyOneApplicable — mapped onto ODRL's deontic vocabulary. This buys immediate parity with the industry-standard access-control language.
Second: PriorityWeighted, a decimal weight per rule. Simple, deterministic, and enough to express jurisdictional or specificity precedence — federal outweighs state, specific outweighs general.
And the part I care most about as a bank practitioner: resolution is auditable BY CONSTRUCTION. Every strategy MUST emit a ResolutionReport — winning rule, overridden rules, strategy applied — aligned with the Compliance Report Model. Not just "the answer is deny" but "deny, because this rule beat those rules under this strategy."
On our worked example: DenyOverrides for the statutory baseline, weights for Art. 49 derogations — and every resolution leaves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obvious challenge: "if ODRL is so limited, why not use something richer?" We've been here before. Rei and KAoS — early-2000s semantic-web policy languages — had far richer conflict handling; KAoS even ran automated policy deconfliction through a description-logic theorem prover.
But: neither handled rule provenance natively, and neither achieved anything like ODRL's adoption. Theoretical purity without an ecosystem loses.
So the strategy is deliberate: don't abandon ODRL for something purer — fold the defeasible-logic strengths of Rei/KAoS and LegalRuleML's metadata model INTO ODRL through profiles. Keep the tooling and the installed base; upgrade the inferential capacity. That's the whole argument for the profile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thesis: ODRL escaped DRM, but its semantics didn't scale with its new homes. Today, developers hardcode regulatory logic into external engines — which quietly destroys the interoperability a standard exists to provide.
Three asks of this workshop: adopt odrl-prov and odrl-cr as W3C profiles — they're thin, modular, backward-compatible; align with what already works — PROV-O, PAV, LegalRuleML, XACML patterns — reuse rather than reinvent; and put them on the roadmap for ODRL 3.0, giving policy engines standard auditability and defeasible reasoning.
End line: let's make ODRL not just a descriptive format, but a foundation for automated, legally sound policy enforcement. Happy to take questions — and I'd especially welcome discussion on strategy composition and the EvaluationRecord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85800" y="1234440"/>
            <a:ext cx="10789920" cy="32004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W3C WORKSHOP ON THE FUTURE OF ODRL  ·  LONDON  ·  JUNE 2026</a:t>
            </a:r>
            <a:endParaRPr lang="en-US" sz="1300" dirty="0"/>
          </a:p>
        </p:txBody>
      </p:sp>
      <p:sp>
        <p:nvSpPr>
          <p:cNvPr id="3" name="Text 1"/>
          <p:cNvSpPr/>
          <p:nvPr/>
        </p:nvSpPr>
        <p:spPr>
          <a:xfrm>
            <a:off x="685800" y="1691640"/>
            <a:ext cx="10789920" cy="9601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Beyond Permit and Prohibit</a:t>
            </a:r>
            <a:endParaRPr lang="en-US" sz="5400" dirty="0"/>
          </a:p>
        </p:txBody>
      </p:sp>
      <p:sp>
        <p:nvSpPr>
          <p:cNvPr id="4" name="Text 2"/>
          <p:cNvSpPr/>
          <p:nvPr/>
        </p:nvSpPr>
        <p:spPr>
          <a:xfrm>
            <a:off x="685800" y="2743200"/>
            <a:ext cx="9692640" cy="91440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Provenance and Conflict Resolution Extensions for Generalising ODRL for Machine-Readable Privacy and Data Management Policy</a:t>
            </a:r>
            <a:endParaRPr lang="en-US" sz="1900" dirty="0"/>
          </a:p>
        </p:txBody>
      </p:sp>
      <p:sp>
        <p:nvSpPr>
          <p:cNvPr id="5" name="Shape 3"/>
          <p:cNvSpPr/>
          <p:nvPr/>
        </p:nvSpPr>
        <p:spPr>
          <a:xfrm>
            <a:off x="713232" y="4160520"/>
            <a:ext cx="2926080" cy="0"/>
          </a:xfrm>
          <a:prstGeom prst="line">
            <a:avLst/>
          </a:prstGeom>
          <a:noFill/>
          <a:ln w="12700">
            <a:solidFill>
              <a:srgbClr val="CADCFC"/>
            </a:solidFill>
            <a:prstDash val="solid"/>
          </a:ln>
        </p:spPr>
      </p:sp>
      <p:sp>
        <p:nvSpPr>
          <p:cNvPr id="6" name="Text 4"/>
          <p:cNvSpPr/>
          <p:nvPr/>
        </p:nvSpPr>
        <p:spPr>
          <a:xfrm>
            <a:off x="685800" y="4343400"/>
            <a:ext cx="731520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Joseph K Iype</a:t>
            </a:r>
            <a:endParaRPr lang="en-US" sz="1700" dirty="0"/>
          </a:p>
          <a:p>
            <a:pPr indent="0" marL="0">
              <a:buNone/>
            </a:pPr>
            <a:r>
              <a:rPr lang="en-US" sz="1300" dirty="0">
                <a:solidFill>
                  <a:srgbClr val="CADCFC"/>
                </a:solidFill>
                <a:latin typeface="Calibri" pitchFamily="34" charset="0"/>
                <a:ea typeface="Calibri" pitchFamily="34" charset="-122"/>
                <a:cs typeface="Calibri" pitchFamily="34" charset="-120"/>
              </a:rPr>
              <a:t>Senior Data Scientist, HSBC</a:t>
            </a:r>
            <a:endParaRPr lang="en-US" sz="1700" dirty="0"/>
          </a:p>
        </p:txBody>
      </p:sp>
      <p:sp>
        <p:nvSpPr>
          <p:cNvPr id="7" name="Text 5"/>
          <p:cNvSpPr/>
          <p:nvPr/>
        </p:nvSpPr>
        <p:spPr>
          <a:xfrm>
            <a:off x="685800" y="5806440"/>
            <a:ext cx="10789920" cy="365760"/>
          </a:xfrm>
          <a:prstGeom prst="rect">
            <a:avLst/>
          </a:prstGeom>
          <a:noFill/>
          <a:ln/>
        </p:spPr>
        <p:txBody>
          <a:bodyPr wrap="square" lIns="0" tIns="0" rIns="0" bIns="0" rtlCol="0" anchor="ctr"/>
          <a:lstStyle/>
          <a:p>
            <a:pPr indent="0" marL="0">
              <a:buNone/>
            </a:pPr>
            <a:r>
              <a:rPr lang="en-US" sz="1400" dirty="0">
                <a:solidFill>
                  <a:srgbClr val="CADCFC"/>
                </a:solidFill>
                <a:latin typeface="Courier New" pitchFamily="34" charset="0"/>
                <a:ea typeface="Courier New" pitchFamily="34" charset="-122"/>
                <a:cs typeface="Courier New" pitchFamily="34" charset="-120"/>
              </a:rPr>
              <a:t>Proposing two backward-compatible W3C profiles:  odrl-prov  +  odrl-cr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5A6178"/>
                </a:solidFill>
                <a:latin typeface="Calibri" pitchFamily="34" charset="0"/>
                <a:ea typeface="Calibri" pitchFamily="34" charset="-122"/>
                <a:cs typeface="Calibri" pitchFamily="34" charset="-120"/>
              </a:rPr>
              <a:t>WHERE ODRL IS TODAY</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ODRL has outgrown its DRM origins</a:t>
            </a:r>
            <a:endParaRPr lang="en-US" sz="3300" dirty="0"/>
          </a:p>
        </p:txBody>
      </p:sp>
      <p:sp>
        <p:nvSpPr>
          <p:cNvPr id="4" name="Text 2"/>
          <p:cNvSpPr/>
          <p:nvPr/>
        </p:nvSpPr>
        <p:spPr>
          <a:xfrm>
            <a:off x="502920" y="1600200"/>
            <a:ext cx="5029200" cy="2377440"/>
          </a:xfrm>
          <a:prstGeom prst="rect">
            <a:avLst/>
          </a:prstGeom>
          <a:noFill/>
          <a:ln/>
        </p:spPr>
        <p:txBody>
          <a:bodyPr wrap="square" lIns="0" tIns="0" rIns="0" bIns="0" rtlCol="0" anchor="ctr"/>
          <a:lstStyle/>
          <a:p>
            <a:pPr indent="0" marL="0">
              <a:buNone/>
            </a:pPr>
            <a:r>
              <a:rPr lang="en-US" sz="1500" dirty="0">
                <a:solidFill>
                  <a:srgbClr val="222639"/>
                </a:solidFill>
                <a:latin typeface="Calibri" pitchFamily="34" charset="0"/>
                <a:ea typeface="Calibri" pitchFamily="34" charset="-122"/>
                <a:cs typeface="Calibri" pitchFamily="34" charset="-120"/>
              </a:rPr>
              <a:t>ODRL 2.2's core abstractions — Policy, Rule, Permission, Prohibition, Duty, Constraint, Party, Asset — plus easy JSON-LD / Turtle serialisation have made it the de-facto vocabulary for machine-readable policy. Industrial use cases beyond DRM now dominate the adoption curve.</a:t>
            </a:r>
            <a:endParaRPr lang="en-US" sz="1500" dirty="0"/>
          </a:p>
        </p:txBody>
      </p:sp>
      <p:sp>
        <p:nvSpPr>
          <p:cNvPr id="5" name="Text 3"/>
          <p:cNvSpPr/>
          <p:nvPr/>
        </p:nvSpPr>
        <p:spPr>
          <a:xfrm>
            <a:off x="502920" y="3977640"/>
            <a:ext cx="5029200" cy="1920240"/>
          </a:xfrm>
          <a:prstGeom prst="rect">
            <a:avLst/>
          </a:prstGeom>
          <a:noFill/>
          <a:ln/>
        </p:spPr>
        <p:txBody>
          <a:bodyPr wrap="square" lIns="0" tIns="0" rIns="0" bIns="0" rtlCol="0" anchor="ctr"/>
          <a:lstStyle/>
          <a:p>
            <a:pPr indent="0" marL="0">
              <a:buNone/>
            </a:pPr>
            <a:r>
              <a:rPr lang="en-US" sz="1500" i="1" dirty="0">
                <a:solidFill>
                  <a:srgbClr val="1E2761"/>
                </a:solidFill>
                <a:latin typeface="Calibri" pitchFamily="34" charset="0"/>
                <a:ea typeface="Calibri" pitchFamily="34" charset="-122"/>
                <a:cs typeface="Calibri" pitchFamily="34" charset="-120"/>
              </a:rPr>
              <a:t>But complexity has shifted: a media licence is a commercial agreement; a cross-border transfer of sensitive financial data means reconciling overlapping national laws, sector regulation, and contracts.</a:t>
            </a:r>
            <a:endParaRPr lang="en-US" sz="1500" dirty="0"/>
          </a:p>
        </p:txBody>
      </p:sp>
      <p:sp>
        <p:nvSpPr>
          <p:cNvPr id="6" name="Shape 4"/>
          <p:cNvSpPr/>
          <p:nvPr/>
        </p:nvSpPr>
        <p:spPr>
          <a:xfrm>
            <a:off x="5989320" y="1645920"/>
            <a:ext cx="2834640" cy="1417320"/>
          </a:xfrm>
          <a:prstGeom prst="roundRect">
            <a:avLst>
              <a:gd name="adj" fmla="val 5161"/>
            </a:avLst>
          </a:prstGeom>
          <a:solidFill>
            <a:srgbClr val="F3F6FC"/>
          </a:solidFill>
          <a:ln w="9525">
            <a:solidFill>
              <a:srgbClr val="DDE4F2"/>
            </a:solidFill>
            <a:prstDash val="solid"/>
          </a:ln>
        </p:spPr>
      </p:sp>
      <p:sp>
        <p:nvSpPr>
          <p:cNvPr id="7" name="Text 5"/>
          <p:cNvSpPr/>
          <p:nvPr/>
        </p:nvSpPr>
        <p:spPr>
          <a:xfrm>
            <a:off x="6172200" y="1920240"/>
            <a:ext cx="2468880" cy="9601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IPTC RightsML 2.0</a:t>
            </a:r>
            <a:endParaRPr lang="en-US" sz="1400" dirty="0"/>
          </a:p>
          <a:p>
            <a:pPr indent="0" marL="0">
              <a:buNone/>
            </a:pPr>
            <a:r>
              <a:rPr lang="en-US" sz="1150" dirty="0">
                <a:solidFill>
                  <a:srgbClr val="5A6178"/>
                </a:solidFill>
                <a:latin typeface="Calibri" pitchFamily="34" charset="0"/>
                <a:ea typeface="Calibri" pitchFamily="34" charset="-122"/>
                <a:cs typeface="Calibri" pitchFamily="34" charset="-120"/>
              </a:rPr>
              <a:t>Media licensing</a:t>
            </a:r>
            <a:endParaRPr lang="en-US" sz="1400" dirty="0"/>
          </a:p>
        </p:txBody>
      </p:sp>
      <p:sp>
        <p:nvSpPr>
          <p:cNvPr id="8" name="Shape 6"/>
          <p:cNvSpPr/>
          <p:nvPr/>
        </p:nvSpPr>
        <p:spPr>
          <a:xfrm>
            <a:off x="9052560" y="1645920"/>
            <a:ext cx="2834640" cy="1417320"/>
          </a:xfrm>
          <a:prstGeom prst="roundRect">
            <a:avLst>
              <a:gd name="adj" fmla="val 5161"/>
            </a:avLst>
          </a:prstGeom>
          <a:solidFill>
            <a:srgbClr val="F3F6FC"/>
          </a:solidFill>
          <a:ln w="9525">
            <a:solidFill>
              <a:srgbClr val="DDE4F2"/>
            </a:solidFill>
            <a:prstDash val="solid"/>
          </a:ln>
        </p:spPr>
      </p:sp>
      <p:sp>
        <p:nvSpPr>
          <p:cNvPr id="9" name="Text 7"/>
          <p:cNvSpPr/>
          <p:nvPr/>
        </p:nvSpPr>
        <p:spPr>
          <a:xfrm>
            <a:off x="9235440" y="1920240"/>
            <a:ext cx="2468880" cy="9601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JPEG Trust</a:t>
            </a:r>
            <a:endParaRPr lang="en-US" sz="1400" dirty="0"/>
          </a:p>
          <a:p>
            <a:pPr indent="0" marL="0">
              <a:buNone/>
            </a:pPr>
            <a:r>
              <a:rPr lang="en-US" sz="1150" dirty="0">
                <a:solidFill>
                  <a:srgbClr val="5A6178"/>
                </a:solidFill>
                <a:latin typeface="Calibri" pitchFamily="34" charset="0"/>
                <a:ea typeface="Calibri" pitchFamily="34" charset="-122"/>
                <a:cs typeface="Calibri" pitchFamily="34" charset="-120"/>
              </a:rPr>
              <a:t>Image provenance</a:t>
            </a:r>
            <a:endParaRPr lang="en-US" sz="1400" dirty="0"/>
          </a:p>
        </p:txBody>
      </p:sp>
      <p:sp>
        <p:nvSpPr>
          <p:cNvPr id="10" name="Shape 8"/>
          <p:cNvSpPr/>
          <p:nvPr/>
        </p:nvSpPr>
        <p:spPr>
          <a:xfrm>
            <a:off x="5989320" y="3291840"/>
            <a:ext cx="2834640" cy="1417320"/>
          </a:xfrm>
          <a:prstGeom prst="roundRect">
            <a:avLst>
              <a:gd name="adj" fmla="val 5161"/>
            </a:avLst>
          </a:prstGeom>
          <a:solidFill>
            <a:srgbClr val="F3F6FC"/>
          </a:solidFill>
          <a:ln w="9525">
            <a:solidFill>
              <a:srgbClr val="DDE4F2"/>
            </a:solidFill>
            <a:prstDash val="solid"/>
          </a:ln>
        </p:spPr>
      </p:sp>
      <p:sp>
        <p:nvSpPr>
          <p:cNvPr id="11" name="Text 9"/>
          <p:cNvSpPr/>
          <p:nvPr/>
        </p:nvSpPr>
        <p:spPr>
          <a:xfrm>
            <a:off x="6172200" y="3566160"/>
            <a:ext cx="2468880" cy="9601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IDS Usage Control</a:t>
            </a:r>
            <a:endParaRPr lang="en-US" sz="1400" dirty="0"/>
          </a:p>
          <a:p>
            <a:pPr indent="0" marL="0">
              <a:buNone/>
            </a:pPr>
            <a:r>
              <a:rPr lang="en-US" sz="1150" dirty="0">
                <a:solidFill>
                  <a:srgbClr val="5A6178"/>
                </a:solidFill>
                <a:latin typeface="Calibri" pitchFamily="34" charset="0"/>
                <a:ea typeface="Calibri" pitchFamily="34" charset="-122"/>
                <a:cs typeface="Calibri" pitchFamily="34" charset="-120"/>
              </a:rPr>
              <a:t>Data spaces</a:t>
            </a:r>
            <a:endParaRPr lang="en-US" sz="1400" dirty="0"/>
          </a:p>
        </p:txBody>
      </p:sp>
      <p:sp>
        <p:nvSpPr>
          <p:cNvPr id="12" name="Shape 10"/>
          <p:cNvSpPr/>
          <p:nvPr/>
        </p:nvSpPr>
        <p:spPr>
          <a:xfrm>
            <a:off x="9052560" y="3291840"/>
            <a:ext cx="2834640" cy="1417320"/>
          </a:xfrm>
          <a:prstGeom prst="roundRect">
            <a:avLst>
              <a:gd name="adj" fmla="val 5161"/>
            </a:avLst>
          </a:prstGeom>
          <a:solidFill>
            <a:srgbClr val="F3F6FC"/>
          </a:solidFill>
          <a:ln w="9525">
            <a:solidFill>
              <a:srgbClr val="DDE4F2"/>
            </a:solidFill>
            <a:prstDash val="solid"/>
          </a:ln>
        </p:spPr>
      </p:sp>
      <p:sp>
        <p:nvSpPr>
          <p:cNvPr id="13" name="Text 11"/>
          <p:cNvSpPr/>
          <p:nvPr/>
        </p:nvSpPr>
        <p:spPr>
          <a:xfrm>
            <a:off x="9235440" y="3566160"/>
            <a:ext cx="2468880" cy="9601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Gaia-X</a:t>
            </a:r>
            <a:endParaRPr lang="en-US" sz="1400" dirty="0"/>
          </a:p>
          <a:p>
            <a:pPr indent="0" marL="0">
              <a:buNone/>
            </a:pPr>
            <a:r>
              <a:rPr lang="en-US" sz="1150" dirty="0">
                <a:solidFill>
                  <a:srgbClr val="5A6178"/>
                </a:solidFill>
                <a:latin typeface="Calibri" pitchFamily="34" charset="0"/>
                <a:ea typeface="Calibri" pitchFamily="34" charset="-122"/>
                <a:cs typeface="Calibri" pitchFamily="34" charset="-120"/>
              </a:rPr>
              <a:t>Verifiable credentials</a:t>
            </a:r>
            <a:endParaRPr lang="en-US" sz="1400" dirty="0"/>
          </a:p>
        </p:txBody>
      </p:sp>
      <p:sp>
        <p:nvSpPr>
          <p:cNvPr id="14" name="Shape 12"/>
          <p:cNvSpPr/>
          <p:nvPr/>
        </p:nvSpPr>
        <p:spPr>
          <a:xfrm>
            <a:off x="5989320" y="4937760"/>
            <a:ext cx="2834640" cy="1417320"/>
          </a:xfrm>
          <a:prstGeom prst="roundRect">
            <a:avLst>
              <a:gd name="adj" fmla="val 5161"/>
            </a:avLst>
          </a:prstGeom>
          <a:solidFill>
            <a:srgbClr val="F3F6FC"/>
          </a:solidFill>
          <a:ln w="9525">
            <a:solidFill>
              <a:srgbClr val="DDE4F2"/>
            </a:solidFill>
            <a:prstDash val="solid"/>
          </a:ln>
        </p:spPr>
      </p:sp>
      <p:sp>
        <p:nvSpPr>
          <p:cNvPr id="15" name="Text 13"/>
          <p:cNvSpPr/>
          <p:nvPr/>
        </p:nvSpPr>
        <p:spPr>
          <a:xfrm>
            <a:off x="6172200" y="5212080"/>
            <a:ext cx="2468880" cy="9601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W3C TDM Reservation</a:t>
            </a:r>
            <a:endParaRPr lang="en-US" sz="1400" dirty="0"/>
          </a:p>
          <a:p>
            <a:pPr indent="0" marL="0">
              <a:buNone/>
            </a:pPr>
            <a:r>
              <a:rPr lang="en-US" sz="1150" dirty="0">
                <a:solidFill>
                  <a:srgbClr val="5A6178"/>
                </a:solidFill>
                <a:latin typeface="Calibri" pitchFamily="34" charset="0"/>
                <a:ea typeface="Calibri" pitchFamily="34" charset="-122"/>
                <a:cs typeface="Calibri" pitchFamily="34" charset="-120"/>
              </a:rPr>
              <a:t>Text &amp; data mining</a:t>
            </a:r>
            <a:endParaRPr lang="en-US" sz="1400" dirty="0"/>
          </a:p>
        </p:txBody>
      </p:sp>
      <p:sp>
        <p:nvSpPr>
          <p:cNvPr id="16" name="Shape 14"/>
          <p:cNvSpPr/>
          <p:nvPr/>
        </p:nvSpPr>
        <p:spPr>
          <a:xfrm>
            <a:off x="9052560" y="4937760"/>
            <a:ext cx="2834640" cy="1417320"/>
          </a:xfrm>
          <a:prstGeom prst="roundRect">
            <a:avLst>
              <a:gd name="adj" fmla="val 5161"/>
            </a:avLst>
          </a:prstGeom>
          <a:solidFill>
            <a:srgbClr val="F3F6FC"/>
          </a:solidFill>
          <a:ln w="9525">
            <a:solidFill>
              <a:srgbClr val="DDE4F2"/>
            </a:solidFill>
            <a:prstDash val="solid"/>
          </a:ln>
        </p:spPr>
      </p:sp>
      <p:sp>
        <p:nvSpPr>
          <p:cNvPr id="17" name="Text 15"/>
          <p:cNvSpPr/>
          <p:nvPr/>
        </p:nvSpPr>
        <p:spPr>
          <a:xfrm>
            <a:off x="9235440" y="5212080"/>
            <a:ext cx="2468880" cy="96012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Financial trading licences</a:t>
            </a:r>
            <a:endParaRPr lang="en-US" sz="1400" dirty="0"/>
          </a:p>
          <a:p>
            <a:pPr indent="0" marL="0">
              <a:buNone/>
            </a:pPr>
            <a:r>
              <a:rPr lang="en-US" sz="1150" dirty="0">
                <a:solidFill>
                  <a:srgbClr val="5A6178"/>
                </a:solidFill>
                <a:latin typeface="Calibri" pitchFamily="34" charset="0"/>
                <a:ea typeface="Calibri" pitchFamily="34" charset="-122"/>
                <a:cs typeface="Calibri" pitchFamily="34" charset="-120"/>
              </a:rPr>
              <a:t>Market data</a:t>
            </a:r>
            <a:endParaRPr lang="en-US" sz="1400" dirty="0"/>
          </a:p>
        </p:txBody>
      </p:sp>
      <p:sp>
        <p:nvSpPr>
          <p:cNvPr id="18" name="Text 16"/>
          <p:cNvSpPr/>
          <p:nvPr/>
        </p:nvSpPr>
        <p:spPr>
          <a:xfrm>
            <a:off x="502920" y="6473952"/>
            <a:ext cx="6400800" cy="274320"/>
          </a:xfrm>
          <a:prstGeom prst="rect">
            <a:avLst/>
          </a:prstGeom>
          <a:noFill/>
          <a:ln/>
        </p:spPr>
        <p:txBody>
          <a:bodyPr wrap="square" lIns="0" tIns="0" rIns="0" bIns="0" rtlCol="0" anchor="ctr"/>
          <a:lstStyle/>
          <a:p>
            <a:pPr indent="0" marL="0">
              <a:buNone/>
            </a:pPr>
            <a:r>
              <a:rPr lang="en-US" sz="900" dirty="0">
                <a:solidFill>
                  <a:srgbClr val="5A6178"/>
                </a:solidFill>
                <a:latin typeface="Calibri" pitchFamily="34" charset="0"/>
                <a:ea typeface="Calibri" pitchFamily="34" charset="-122"/>
                <a:cs typeface="Calibri" pitchFamily="34" charset="-120"/>
              </a:rPr>
              <a:t>Beyond Permit and Prohibit  ·  W3C ODRL Workshop 2026</a:t>
            </a:r>
            <a:endParaRPr lang="en-US" sz="900" dirty="0"/>
          </a:p>
        </p:txBody>
      </p:sp>
      <p:sp>
        <p:nvSpPr>
          <p:cNvPr id="19" name="Text 1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5A6178"/>
                </a:solidFill>
                <a:latin typeface="Calibri" pitchFamily="34" charset="0"/>
                <a:ea typeface="Calibri" pitchFamily="34" charset="-122"/>
                <a:cs typeface="Calibri" pitchFamily="34" charset="-120"/>
              </a:rPr>
              <a:t>THE CORE PROBLEM</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Interoperable syntax — but not interoperable semantics</a:t>
            </a:r>
            <a:endParaRPr lang="en-US" sz="3300" dirty="0"/>
          </a:p>
        </p:txBody>
      </p:sp>
      <p:sp>
        <p:nvSpPr>
          <p:cNvPr id="4" name="Shape 2"/>
          <p:cNvSpPr/>
          <p:nvPr/>
        </p:nvSpPr>
        <p:spPr>
          <a:xfrm>
            <a:off x="685800" y="1920240"/>
            <a:ext cx="2468880" cy="1051560"/>
          </a:xfrm>
          <a:prstGeom prst="roundRect">
            <a:avLst>
              <a:gd name="adj" fmla="val 6957"/>
            </a:avLst>
          </a:prstGeom>
          <a:solidFill>
            <a:srgbClr val="1E2761"/>
          </a:solidFill>
          <a:ln/>
        </p:spPr>
      </p:sp>
      <p:sp>
        <p:nvSpPr>
          <p:cNvPr id="5" name="Text 3"/>
          <p:cNvSpPr/>
          <p:nvPr/>
        </p:nvSpPr>
        <p:spPr>
          <a:xfrm>
            <a:off x="850392" y="2103120"/>
            <a:ext cx="2139696"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ODRL 2.2 policy</a:t>
            </a:r>
            <a:endParaRPr lang="en-US" sz="1500" dirty="0"/>
          </a:p>
          <a:p>
            <a:pPr algn="ctr" indent="0" marL="0">
              <a:buNone/>
            </a:pPr>
            <a:r>
              <a:rPr lang="en-US" sz="1150" dirty="0">
                <a:solidFill>
                  <a:srgbClr val="CADCFC"/>
                </a:solidFill>
                <a:latin typeface="Calibri" pitchFamily="34" charset="0"/>
                <a:ea typeface="Calibri" pitchFamily="34" charset="-122"/>
                <a:cs typeface="Calibri" pitchFamily="34" charset="-120"/>
              </a:rPr>
              <a:t>JSON-LD / Turtle</a:t>
            </a:r>
            <a:endParaRPr lang="en-US" sz="1500" dirty="0"/>
          </a:p>
        </p:txBody>
      </p:sp>
      <p:sp>
        <p:nvSpPr>
          <p:cNvPr id="6" name="Text 4"/>
          <p:cNvSpPr/>
          <p:nvPr/>
        </p:nvSpPr>
        <p:spPr>
          <a:xfrm>
            <a:off x="3200400" y="2176272"/>
            <a:ext cx="457200" cy="548640"/>
          </a:xfrm>
          <a:prstGeom prst="rect">
            <a:avLst/>
          </a:prstGeom>
          <a:noFill/>
          <a:ln/>
        </p:spPr>
        <p:txBody>
          <a:bodyPr wrap="square" lIns="0" tIns="0" rIns="0" bIns="0" rtlCol="0" anchor="ctr"/>
          <a:lstStyle/>
          <a:p>
            <a:pPr algn="ctr" indent="0" marL="0">
              <a:buNone/>
            </a:pPr>
            <a:r>
              <a:rPr lang="en-US" sz="2400" dirty="0">
                <a:solidFill>
                  <a:srgbClr val="5A6178"/>
                </a:solidFill>
              </a:rPr>
              <a:t>→</a:t>
            </a:r>
            <a:endParaRPr lang="en-US" sz="2400" dirty="0"/>
          </a:p>
        </p:txBody>
      </p:sp>
      <p:sp>
        <p:nvSpPr>
          <p:cNvPr id="7" name="Shape 5"/>
          <p:cNvSpPr/>
          <p:nvPr/>
        </p:nvSpPr>
        <p:spPr>
          <a:xfrm>
            <a:off x="3657600" y="1920240"/>
            <a:ext cx="2468880" cy="1051560"/>
          </a:xfrm>
          <a:prstGeom prst="roundRect">
            <a:avLst>
              <a:gd name="adj" fmla="val 6957"/>
            </a:avLst>
          </a:prstGeom>
          <a:solidFill>
            <a:srgbClr val="3D4B8F"/>
          </a:solidFill>
          <a:ln/>
        </p:spPr>
      </p:sp>
      <p:sp>
        <p:nvSpPr>
          <p:cNvPr id="8" name="Text 6"/>
          <p:cNvSpPr/>
          <p:nvPr/>
        </p:nvSpPr>
        <p:spPr>
          <a:xfrm>
            <a:off x="3822192" y="2103120"/>
            <a:ext cx="2139696"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Compiler</a:t>
            </a:r>
            <a:endParaRPr lang="en-US" sz="1500" dirty="0"/>
          </a:p>
          <a:p>
            <a:pPr algn="ctr" indent="0" marL="0">
              <a:buNone/>
            </a:pPr>
            <a:r>
              <a:rPr lang="en-US" sz="1150" dirty="0">
                <a:solidFill>
                  <a:srgbClr val="CADCFC"/>
                </a:solidFill>
                <a:latin typeface="Calibri" pitchFamily="34" charset="0"/>
                <a:ea typeface="Calibri" pitchFamily="34" charset="-122"/>
                <a:cs typeface="Calibri" pitchFamily="34" charset="-120"/>
              </a:rPr>
              <a:t>e.g. ODRL-PAP</a:t>
            </a:r>
            <a:endParaRPr lang="en-US" sz="1500" dirty="0"/>
          </a:p>
        </p:txBody>
      </p:sp>
      <p:sp>
        <p:nvSpPr>
          <p:cNvPr id="9" name="Text 7"/>
          <p:cNvSpPr/>
          <p:nvPr/>
        </p:nvSpPr>
        <p:spPr>
          <a:xfrm>
            <a:off x="6172200" y="2176272"/>
            <a:ext cx="457200" cy="548640"/>
          </a:xfrm>
          <a:prstGeom prst="rect">
            <a:avLst/>
          </a:prstGeom>
          <a:noFill/>
          <a:ln/>
        </p:spPr>
        <p:txBody>
          <a:bodyPr wrap="square" lIns="0" tIns="0" rIns="0" bIns="0" rtlCol="0" anchor="ctr"/>
          <a:lstStyle/>
          <a:p>
            <a:pPr algn="ctr" indent="0" marL="0">
              <a:buNone/>
            </a:pPr>
            <a:r>
              <a:rPr lang="en-US" sz="2400" dirty="0">
                <a:solidFill>
                  <a:srgbClr val="5A6178"/>
                </a:solidFill>
              </a:rPr>
              <a:t>→</a:t>
            </a:r>
            <a:endParaRPr lang="en-US" sz="2400" dirty="0"/>
          </a:p>
        </p:txBody>
      </p:sp>
      <p:sp>
        <p:nvSpPr>
          <p:cNvPr id="10" name="Shape 8"/>
          <p:cNvSpPr/>
          <p:nvPr/>
        </p:nvSpPr>
        <p:spPr>
          <a:xfrm>
            <a:off x="6629400" y="1920240"/>
            <a:ext cx="2468880" cy="1051560"/>
          </a:xfrm>
          <a:prstGeom prst="roundRect">
            <a:avLst>
              <a:gd name="adj" fmla="val 6957"/>
            </a:avLst>
          </a:prstGeom>
          <a:solidFill>
            <a:srgbClr val="3D4B8F"/>
          </a:solidFill>
          <a:ln/>
        </p:spPr>
      </p:sp>
      <p:sp>
        <p:nvSpPr>
          <p:cNvPr id="11" name="Text 9"/>
          <p:cNvSpPr/>
          <p:nvPr/>
        </p:nvSpPr>
        <p:spPr>
          <a:xfrm>
            <a:off x="6793992" y="2103120"/>
            <a:ext cx="2139696"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Execution engine</a:t>
            </a:r>
            <a:endParaRPr lang="en-US" sz="1500" dirty="0"/>
          </a:p>
          <a:p>
            <a:pPr algn="ctr" indent="0" marL="0">
              <a:buNone/>
            </a:pPr>
            <a:r>
              <a:rPr lang="en-US" sz="1150" dirty="0">
                <a:solidFill>
                  <a:srgbClr val="CADCFC"/>
                </a:solidFill>
                <a:latin typeface="Calibri" pitchFamily="34" charset="0"/>
                <a:ea typeface="Calibri" pitchFamily="34" charset="-122"/>
                <a:cs typeface="Calibri" pitchFamily="34" charset="-120"/>
              </a:rPr>
              <a:t>OPA / Rego, etc.</a:t>
            </a:r>
            <a:endParaRPr lang="en-US" sz="1500" dirty="0"/>
          </a:p>
        </p:txBody>
      </p:sp>
      <p:sp>
        <p:nvSpPr>
          <p:cNvPr id="12" name="Text 10"/>
          <p:cNvSpPr/>
          <p:nvPr/>
        </p:nvSpPr>
        <p:spPr>
          <a:xfrm>
            <a:off x="9144000" y="2176272"/>
            <a:ext cx="457200" cy="548640"/>
          </a:xfrm>
          <a:prstGeom prst="rect">
            <a:avLst/>
          </a:prstGeom>
          <a:noFill/>
          <a:ln/>
        </p:spPr>
        <p:txBody>
          <a:bodyPr wrap="square" lIns="0" tIns="0" rIns="0" bIns="0" rtlCol="0" anchor="ctr"/>
          <a:lstStyle/>
          <a:p>
            <a:pPr algn="ctr" indent="0" marL="0">
              <a:buNone/>
            </a:pPr>
            <a:r>
              <a:rPr lang="en-US" sz="2400" dirty="0">
                <a:solidFill>
                  <a:srgbClr val="5A6178"/>
                </a:solidFill>
              </a:rPr>
              <a:t>→</a:t>
            </a:r>
            <a:endParaRPr lang="en-US" sz="2400" dirty="0"/>
          </a:p>
        </p:txBody>
      </p:sp>
      <p:sp>
        <p:nvSpPr>
          <p:cNvPr id="13" name="Shape 11"/>
          <p:cNvSpPr/>
          <p:nvPr/>
        </p:nvSpPr>
        <p:spPr>
          <a:xfrm>
            <a:off x="9601200" y="1920240"/>
            <a:ext cx="2468880" cy="1051560"/>
          </a:xfrm>
          <a:prstGeom prst="roundRect">
            <a:avLst>
              <a:gd name="adj" fmla="val 6957"/>
            </a:avLst>
          </a:prstGeom>
          <a:solidFill>
            <a:srgbClr val="B23A48"/>
          </a:solidFill>
          <a:ln/>
        </p:spPr>
      </p:sp>
      <p:sp>
        <p:nvSpPr>
          <p:cNvPr id="14" name="Text 12"/>
          <p:cNvSpPr/>
          <p:nvPr/>
        </p:nvSpPr>
        <p:spPr>
          <a:xfrm>
            <a:off x="9765792" y="2103120"/>
            <a:ext cx="2139696"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Decision</a:t>
            </a:r>
            <a:endParaRPr lang="en-US" sz="1500" dirty="0"/>
          </a:p>
          <a:p>
            <a:pPr algn="ctr" indent="0" marL="0">
              <a:buNone/>
            </a:pPr>
            <a:r>
              <a:rPr lang="en-US" sz="1150" dirty="0">
                <a:solidFill>
                  <a:srgbClr val="CADCFC"/>
                </a:solidFill>
                <a:latin typeface="Calibri" pitchFamily="34" charset="0"/>
                <a:ea typeface="Calibri" pitchFamily="34" charset="-122"/>
                <a:cs typeface="Calibri" pitchFamily="34" charset="-120"/>
              </a:rPr>
              <a:t>engine-specific</a:t>
            </a:r>
            <a:endParaRPr lang="en-US" sz="1500" dirty="0"/>
          </a:p>
        </p:txBody>
      </p:sp>
      <p:sp>
        <p:nvSpPr>
          <p:cNvPr id="15" name="Text 13"/>
          <p:cNvSpPr/>
          <p:nvPr/>
        </p:nvSpPr>
        <p:spPr>
          <a:xfrm>
            <a:off x="685800" y="3246120"/>
            <a:ext cx="10789920" cy="502920"/>
          </a:xfrm>
          <a:prstGeom prst="rect">
            <a:avLst/>
          </a:prstGeom>
          <a:noFill/>
          <a:ln/>
        </p:spPr>
        <p:txBody>
          <a:bodyPr wrap="square" lIns="0" tIns="0" rIns="0" bIns="0" rtlCol="0" anchor="ctr"/>
          <a:lstStyle/>
          <a:p>
            <a:pPr algn="ctr" indent="0" marL="0">
              <a:buNone/>
            </a:pPr>
            <a:r>
              <a:rPr lang="en-US" sz="1500" dirty="0">
                <a:solidFill>
                  <a:srgbClr val="222639"/>
                </a:solidFill>
                <a:latin typeface="Calibri" pitchFamily="34" charset="0"/>
                <a:ea typeface="Calibri" pitchFamily="34" charset="-122"/>
                <a:cs typeface="Calibri" pitchFamily="34" charset="-120"/>
              </a:rPr>
              <a:t>Each proprietary execution layer injects its own conflict-resolution semantics and provenance tracking on top of ODRL's underspecified base.</a:t>
            </a:r>
            <a:endParaRPr lang="en-US" sz="1500" dirty="0"/>
          </a:p>
        </p:txBody>
      </p:sp>
      <p:sp>
        <p:nvSpPr>
          <p:cNvPr id="16" name="Shape 14"/>
          <p:cNvSpPr/>
          <p:nvPr/>
        </p:nvSpPr>
        <p:spPr>
          <a:xfrm>
            <a:off x="1554480" y="4114800"/>
            <a:ext cx="9052560" cy="1737360"/>
          </a:xfrm>
          <a:prstGeom prst="roundRect">
            <a:avLst>
              <a:gd name="adj" fmla="val 5263"/>
            </a:avLst>
          </a:prstGeom>
          <a:solidFill>
            <a:srgbClr val="F3F6FC"/>
          </a:solidFill>
          <a:ln w="9525">
            <a:solidFill>
              <a:srgbClr val="DDE4F2"/>
            </a:solidFill>
            <a:prstDash val="solid"/>
          </a:ln>
        </p:spPr>
      </p:sp>
      <p:sp>
        <p:nvSpPr>
          <p:cNvPr id="17" name="Text 15"/>
          <p:cNvSpPr/>
          <p:nvPr/>
        </p:nvSpPr>
        <p:spPr>
          <a:xfrm>
            <a:off x="1920240" y="4343400"/>
            <a:ext cx="8321040" cy="320040"/>
          </a:xfrm>
          <a:prstGeom prst="rect">
            <a:avLst/>
          </a:prstGeom>
          <a:noFill/>
          <a:ln/>
        </p:spPr>
        <p:txBody>
          <a:bodyPr wrap="square" lIns="0" tIns="0" rIns="0" bIns="0" rtlCol="0" anchor="ctr"/>
          <a:lstStyle/>
          <a:p>
            <a:pPr indent="0" marL="0">
              <a:buNone/>
            </a:pPr>
            <a:r>
              <a:rPr lang="en-US" sz="1400" b="1" dirty="0">
                <a:solidFill>
                  <a:srgbClr val="B23A48"/>
                </a:solidFill>
                <a:latin typeface="Calibri" pitchFamily="34" charset="0"/>
                <a:ea typeface="Calibri" pitchFamily="34" charset="-122"/>
                <a:cs typeface="Calibri" pitchFamily="34" charset="-120"/>
              </a:rPr>
              <a:t>The broken promise</a:t>
            </a:r>
            <a:endParaRPr lang="en-US" sz="1400" dirty="0"/>
          </a:p>
        </p:txBody>
      </p:sp>
      <p:sp>
        <p:nvSpPr>
          <p:cNvPr id="18" name="Text 16"/>
          <p:cNvSpPr/>
          <p:nvPr/>
        </p:nvSpPr>
        <p:spPr>
          <a:xfrm>
            <a:off x="1920240" y="4709160"/>
            <a:ext cx="8321040" cy="1005840"/>
          </a:xfrm>
          <a:prstGeom prst="rect">
            <a:avLst/>
          </a:prstGeom>
          <a:noFill/>
          <a:ln/>
        </p:spPr>
        <p:txBody>
          <a:bodyPr wrap="square" lIns="0" tIns="0" rIns="0" bIns="0" rtlCol="0" anchor="ctr"/>
          <a:lstStyle/>
          <a:p>
            <a:pPr indent="0" marL="0">
              <a:buNone/>
            </a:pPr>
            <a:r>
              <a:rPr lang="en-US" sz="1500" dirty="0">
                <a:solidFill>
                  <a:srgbClr val="222639"/>
                </a:solidFill>
                <a:latin typeface="Calibri" pitchFamily="34" charset="0"/>
                <a:ea typeface="Calibri" pitchFamily="34" charset="-122"/>
                <a:cs typeface="Calibri" pitchFamily="34" charset="-120"/>
              </a:rPr>
              <a:t>Two conformant engines can evaluate the same ODRL policy and reach different conclusions, because each applies its own unstandardised conflict logic. At that point, semantic interoperability — the whole point of a shared policy language — is gone.</a:t>
            </a:r>
            <a:endParaRPr lang="en-US" sz="1500" dirty="0"/>
          </a:p>
        </p:txBody>
      </p:sp>
      <p:sp>
        <p:nvSpPr>
          <p:cNvPr id="19" name="Text 17"/>
          <p:cNvSpPr/>
          <p:nvPr/>
        </p:nvSpPr>
        <p:spPr>
          <a:xfrm>
            <a:off x="502920" y="6473952"/>
            <a:ext cx="6400800" cy="274320"/>
          </a:xfrm>
          <a:prstGeom prst="rect">
            <a:avLst/>
          </a:prstGeom>
          <a:noFill/>
          <a:ln/>
        </p:spPr>
        <p:txBody>
          <a:bodyPr wrap="square" lIns="0" tIns="0" rIns="0" bIns="0" rtlCol="0" anchor="ctr"/>
          <a:lstStyle/>
          <a:p>
            <a:pPr indent="0" marL="0">
              <a:buNone/>
            </a:pPr>
            <a:r>
              <a:rPr lang="en-US" sz="900" dirty="0">
                <a:solidFill>
                  <a:srgbClr val="5A6178"/>
                </a:solidFill>
                <a:latin typeface="Calibri" pitchFamily="34" charset="0"/>
                <a:ea typeface="Calibri" pitchFamily="34" charset="-122"/>
                <a:cs typeface="Calibri" pitchFamily="34" charset="-120"/>
              </a:rPr>
              <a:t>Beyond Permit and Prohibit  ·  W3C ODRL Workshop 2026</a:t>
            </a:r>
            <a:endParaRPr lang="en-US" sz="9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5A6178"/>
                </a:solidFill>
                <a:latin typeface="Calibri" pitchFamily="34" charset="0"/>
                <a:ea typeface="Calibri" pitchFamily="34" charset="-122"/>
                <a:cs typeface="Calibri" pitchFamily="34" charset="-120"/>
              </a:rPr>
              <a:t>STRUCTURAL GAP 1</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The conflict-resolution deficit</a:t>
            </a:r>
            <a:endParaRPr lang="en-US" sz="3300" dirty="0"/>
          </a:p>
        </p:txBody>
      </p:sp>
      <p:sp>
        <p:nvSpPr>
          <p:cNvPr id="4" name="Shape 2"/>
          <p:cNvSpPr/>
          <p:nvPr/>
        </p:nvSpPr>
        <p:spPr>
          <a:xfrm>
            <a:off x="502920" y="1645920"/>
            <a:ext cx="4206240" cy="2011680"/>
          </a:xfrm>
          <a:prstGeom prst="roundRect">
            <a:avLst>
              <a:gd name="adj" fmla="val 3636"/>
            </a:avLst>
          </a:prstGeom>
          <a:solidFill>
            <a:srgbClr val="1E2761"/>
          </a:solidFill>
          <a:ln/>
        </p:spPr>
      </p:sp>
      <p:sp>
        <p:nvSpPr>
          <p:cNvPr id="5" name="Text 3"/>
          <p:cNvSpPr/>
          <p:nvPr/>
        </p:nvSpPr>
        <p:spPr>
          <a:xfrm>
            <a:off x="777240" y="1874520"/>
            <a:ext cx="3657600" cy="1645920"/>
          </a:xfrm>
          <a:prstGeom prst="rect">
            <a:avLst/>
          </a:prstGeom>
          <a:noFill/>
          <a:ln/>
        </p:spPr>
        <p:txBody>
          <a:bodyPr wrap="square" lIns="0" tIns="0" rIns="0" bIns="0" rtlCol="0" anchor="ctr"/>
          <a:lstStyle/>
          <a:p>
            <a:pPr indent="0" marL="0">
              <a:spcAft>
                <a:spcPts val="800"/>
              </a:spcAft>
              <a:buNone/>
            </a:pPr>
            <a:r>
              <a:rPr lang="en-US" sz="1400" b="1" dirty="0">
                <a:solidFill>
                  <a:srgbClr val="CADCFC"/>
                </a:solidFill>
                <a:latin typeface="Calibri" pitchFamily="34" charset="0"/>
                <a:ea typeface="Calibri" pitchFamily="34" charset="-122"/>
                <a:cs typeface="Calibri" pitchFamily="34" charset="-120"/>
              </a:rPr>
              <a:t>ODRL 2.2 today</a:t>
            </a:r>
            <a:endParaRPr lang="en-US" sz="1400" dirty="0"/>
          </a:p>
          <a:p>
            <a:pPr indent="0" marL="0">
              <a:spcAft>
                <a:spcPts val="800"/>
              </a:spcAft>
              <a:buNone/>
            </a:pPr>
            <a:r>
              <a:rPr lang="en-US" sz="1400" dirty="0">
                <a:solidFill>
                  <a:srgbClr val="FFFFFF"/>
                </a:solidFill>
                <a:latin typeface="Courier New" pitchFamily="34" charset="0"/>
                <a:ea typeface="Courier New" pitchFamily="34" charset="-122"/>
                <a:cs typeface="Courier New" pitchFamily="34" charset="-120"/>
              </a:rPr>
              <a:t>conflict ∈ { perm, prohibit, invalid }</a:t>
            </a:r>
            <a:endParaRPr lang="en-US" sz="1400" dirty="0"/>
          </a:p>
          <a:p>
            <a:pPr indent="0" marL="0">
              <a:spcAft>
                <a:spcPts val="800"/>
              </a:spcAft>
              <a:buNone/>
            </a:pPr>
            <a:r>
              <a:rPr lang="en-US" sz="1250" dirty="0">
                <a:solidFill>
                  <a:srgbClr val="CADCFC"/>
                </a:solidFill>
                <a:latin typeface="Calibri" pitchFamily="34" charset="0"/>
                <a:ea typeface="Calibri" pitchFamily="34" charset="-122"/>
                <a:cs typeface="Calibri" pitchFamily="34" charset="-120"/>
              </a:rPr>
              <a:t>Fires only when a Permission and a Prohibition target the exact same Action on the exact same Asset.</a:t>
            </a:r>
            <a:endParaRPr lang="en-US" sz="1400" dirty="0"/>
          </a:p>
        </p:txBody>
      </p:sp>
      <p:sp>
        <p:nvSpPr>
          <p:cNvPr id="6" name="Shape 4"/>
          <p:cNvSpPr/>
          <p:nvPr/>
        </p:nvSpPr>
        <p:spPr>
          <a:xfrm>
            <a:off x="502920" y="3886200"/>
            <a:ext cx="4206240" cy="2011680"/>
          </a:xfrm>
          <a:prstGeom prst="roundRect">
            <a:avLst>
              <a:gd name="adj" fmla="val 3636"/>
            </a:avLst>
          </a:prstGeom>
          <a:solidFill>
            <a:srgbClr val="F3F6FC"/>
          </a:solidFill>
          <a:ln w="9525">
            <a:solidFill>
              <a:srgbClr val="DDE4F2"/>
            </a:solidFill>
            <a:prstDash val="solid"/>
          </a:ln>
        </p:spPr>
      </p:sp>
      <p:sp>
        <p:nvSpPr>
          <p:cNvPr id="7" name="Text 5"/>
          <p:cNvSpPr/>
          <p:nvPr/>
        </p:nvSpPr>
        <p:spPr>
          <a:xfrm>
            <a:off x="777240" y="4114800"/>
            <a:ext cx="3657600" cy="1645920"/>
          </a:xfrm>
          <a:prstGeom prst="rect">
            <a:avLst/>
          </a:prstGeom>
          <a:noFill/>
          <a:ln/>
        </p:spPr>
        <p:txBody>
          <a:bodyPr wrap="square" lIns="0" tIns="0" rIns="0" bIns="0" rtlCol="0" anchor="ctr"/>
          <a:lstStyle/>
          <a:p>
            <a:pPr indent="0" marL="0">
              <a:spcAft>
                <a:spcPts val="800"/>
              </a:spcAft>
              <a:buNone/>
            </a:pPr>
            <a:r>
              <a:rPr lang="en-US" sz="1400" b="1" dirty="0">
                <a:solidFill>
                  <a:srgbClr val="1E2761"/>
                </a:solidFill>
                <a:latin typeface="Calibri" pitchFamily="34" charset="0"/>
                <a:ea typeface="Calibri" pitchFamily="34" charset="-122"/>
                <a:cs typeface="Calibri" pitchFamily="34" charset="-120"/>
              </a:rPr>
              <a:t>XACML 3.0 (2013)</a:t>
            </a:r>
            <a:endParaRPr lang="en-US" sz="1400" dirty="0"/>
          </a:p>
          <a:p>
            <a:pPr indent="0" marL="0">
              <a:spcAft>
                <a:spcPts val="800"/>
              </a:spcAft>
              <a:buNone/>
            </a:pPr>
            <a:r>
              <a:rPr lang="en-US" sz="1250" dirty="0">
                <a:solidFill>
                  <a:srgbClr val="222639"/>
                </a:solidFill>
                <a:latin typeface="Courier New" pitchFamily="34" charset="0"/>
                <a:ea typeface="Courier New" pitchFamily="34" charset="-122"/>
                <a:cs typeface="Courier New" pitchFamily="34" charset="-120"/>
              </a:rPr>
              <a:t>deny-overrides · permit-unless-deny · first-applicable · ordered evaluation · indeterminate verdicts</a:t>
            </a:r>
            <a:endParaRPr lang="en-US" sz="1400" dirty="0"/>
          </a:p>
          <a:p>
            <a:pPr indent="0" marL="0">
              <a:spcAft>
                <a:spcPts val="800"/>
              </a:spcAft>
              <a:buNone/>
            </a:pPr>
            <a:r>
              <a:rPr lang="en-US" sz="1250" i="1" dirty="0">
                <a:solidFill>
                  <a:srgbClr val="B23A48"/>
                </a:solidFill>
                <a:latin typeface="Calibri" pitchFamily="34" charset="0"/>
                <a:ea typeface="Calibri" pitchFamily="34" charset="-122"/>
                <a:cs typeface="Calibri" pitchFamily="34" charset="-120"/>
              </a:rPr>
              <a:t>ODRL 2.2 is strictly weaker than a 2013 standard.</a:t>
            </a:r>
            <a:endParaRPr lang="en-US" sz="1400" dirty="0"/>
          </a:p>
        </p:txBody>
      </p:sp>
      <p:sp>
        <p:nvSpPr>
          <p:cNvPr id="8" name="Text 6"/>
          <p:cNvSpPr/>
          <p:nvPr/>
        </p:nvSpPr>
        <p:spPr>
          <a:xfrm>
            <a:off x="5212080" y="1645920"/>
            <a:ext cx="6492240" cy="32004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Four classes of conflict ODRL cannot resolve</a:t>
            </a:r>
            <a:endParaRPr lang="en-US" sz="1500" dirty="0"/>
          </a:p>
        </p:txBody>
      </p:sp>
      <p:sp>
        <p:nvSpPr>
          <p:cNvPr id="9" name="Shape 7"/>
          <p:cNvSpPr/>
          <p:nvPr/>
        </p:nvSpPr>
        <p:spPr>
          <a:xfrm>
            <a:off x="5212080" y="2103120"/>
            <a:ext cx="384048" cy="384048"/>
          </a:xfrm>
          <a:prstGeom prst="ellipse">
            <a:avLst/>
          </a:prstGeom>
          <a:solidFill>
            <a:srgbClr val="1E2761"/>
          </a:solidFill>
          <a:ln/>
        </p:spPr>
      </p:sp>
      <p:sp>
        <p:nvSpPr>
          <p:cNvPr id="10" name="Text 8"/>
          <p:cNvSpPr/>
          <p:nvPr/>
        </p:nvSpPr>
        <p:spPr>
          <a:xfrm>
            <a:off x="5212080"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5760720" y="2029968"/>
            <a:ext cx="5943600" cy="914400"/>
          </a:xfrm>
          <a:prstGeom prst="rect">
            <a:avLst/>
          </a:prstGeom>
          <a:noFill/>
          <a:ln/>
        </p:spPr>
        <p:txBody>
          <a:bodyPr wrap="square" lIns="0" tIns="0" rIns="0" bIns="0" rtlCol="0" anchor="ctr"/>
          <a:lstStyle/>
          <a:p>
            <a:pPr indent="0" marL="0">
              <a:buNone/>
            </a:pPr>
            <a:r>
              <a:rPr lang="en-US" sz="1350" b="1" dirty="0">
                <a:solidFill>
                  <a:srgbClr val="222639"/>
                </a:solidFill>
                <a:latin typeface="Calibri" pitchFamily="34" charset="0"/>
                <a:ea typeface="Calibri" pitchFamily="34" charset="-122"/>
                <a:cs typeface="Calibri" pitchFamily="34" charset="-120"/>
              </a:rPr>
              <a:t>Permission vs Permission / Prohibition vs Prohibition</a:t>
            </a:r>
            <a:endParaRPr lang="en-US" sz="1350" dirty="0"/>
          </a:p>
          <a:p>
            <a:pPr indent="0" marL="0">
              <a:buNone/>
            </a:pPr>
            <a:r>
              <a:rPr lang="en-US" sz="1200" dirty="0">
                <a:solidFill>
                  <a:srgbClr val="5A6178"/>
                </a:solidFill>
                <a:latin typeface="Calibri" pitchFamily="34" charset="0"/>
                <a:ea typeface="Calibri" pitchFamily="34" charset="-122"/>
                <a:cs typeface="Calibri" pitchFamily="34" charset="-120"/>
              </a:rPr>
              <a:t>When merged policies grant overlapping but different rights, nothing says which prevails.</a:t>
            </a:r>
            <a:endParaRPr lang="en-US" sz="1350" dirty="0"/>
          </a:p>
        </p:txBody>
      </p:sp>
      <p:sp>
        <p:nvSpPr>
          <p:cNvPr id="12" name="Shape 10"/>
          <p:cNvSpPr/>
          <p:nvPr/>
        </p:nvSpPr>
        <p:spPr>
          <a:xfrm>
            <a:off x="5212080" y="3090672"/>
            <a:ext cx="384048" cy="384048"/>
          </a:xfrm>
          <a:prstGeom prst="ellipse">
            <a:avLst/>
          </a:prstGeom>
          <a:solidFill>
            <a:srgbClr val="1E2761"/>
          </a:solidFill>
          <a:ln/>
        </p:spPr>
      </p:sp>
      <p:sp>
        <p:nvSpPr>
          <p:cNvPr id="13" name="Text 11"/>
          <p:cNvSpPr/>
          <p:nvPr/>
        </p:nvSpPr>
        <p:spPr>
          <a:xfrm>
            <a:off x="5212080" y="3072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5760720" y="3017520"/>
            <a:ext cx="5943600" cy="914400"/>
          </a:xfrm>
          <a:prstGeom prst="rect">
            <a:avLst/>
          </a:prstGeom>
          <a:noFill/>
          <a:ln/>
        </p:spPr>
        <p:txBody>
          <a:bodyPr wrap="square" lIns="0" tIns="0" rIns="0" bIns="0" rtlCol="0" anchor="ctr"/>
          <a:lstStyle/>
          <a:p>
            <a:pPr indent="0" marL="0">
              <a:buNone/>
            </a:pPr>
            <a:r>
              <a:rPr lang="en-US" sz="1350" b="1" dirty="0">
                <a:solidFill>
                  <a:srgbClr val="222639"/>
                </a:solidFill>
                <a:latin typeface="Calibri" pitchFamily="34" charset="0"/>
                <a:ea typeface="Calibri" pitchFamily="34" charset="-122"/>
                <a:cs typeface="Calibri" pitchFamily="34" charset="-120"/>
              </a:rPr>
              <a:t>Conflicting Duties &amp; Obligations</a:t>
            </a:r>
            <a:endParaRPr lang="en-US" sz="1350" dirty="0"/>
          </a:p>
          <a:p>
            <a:pPr indent="0" marL="0">
              <a:buNone/>
            </a:pPr>
            <a:r>
              <a:rPr lang="en-US" sz="1200" dirty="0">
                <a:solidFill>
                  <a:srgbClr val="5A6178"/>
                </a:solidFill>
                <a:latin typeface="Calibri" pitchFamily="34" charset="0"/>
                <a:ea typeface="Calibri" pitchFamily="34" charset="-122"/>
                <a:cs typeface="Calibri" pitchFamily="34" charset="-120"/>
              </a:rPr>
              <a:t>Delete after 30 days vs retain 7 years for tax — no vocabulary to reconcile.</a:t>
            </a:r>
            <a:endParaRPr lang="en-US" sz="1350" dirty="0"/>
          </a:p>
        </p:txBody>
      </p:sp>
      <p:sp>
        <p:nvSpPr>
          <p:cNvPr id="15" name="Shape 13"/>
          <p:cNvSpPr/>
          <p:nvPr/>
        </p:nvSpPr>
        <p:spPr>
          <a:xfrm>
            <a:off x="5212080" y="4078224"/>
            <a:ext cx="384048" cy="384048"/>
          </a:xfrm>
          <a:prstGeom prst="ellipse">
            <a:avLst/>
          </a:prstGeom>
          <a:solidFill>
            <a:srgbClr val="1E2761"/>
          </a:solidFill>
          <a:ln/>
        </p:spPr>
      </p:sp>
      <p:sp>
        <p:nvSpPr>
          <p:cNvPr id="16" name="Text 14"/>
          <p:cNvSpPr/>
          <p:nvPr/>
        </p:nvSpPr>
        <p:spPr>
          <a:xfrm>
            <a:off x="5212080" y="4059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5760720" y="4005072"/>
            <a:ext cx="5943600" cy="914400"/>
          </a:xfrm>
          <a:prstGeom prst="rect">
            <a:avLst/>
          </a:prstGeom>
          <a:noFill/>
          <a:ln/>
        </p:spPr>
        <p:txBody>
          <a:bodyPr wrap="square" lIns="0" tIns="0" rIns="0" bIns="0" rtlCol="0" anchor="ctr"/>
          <a:lstStyle/>
          <a:p>
            <a:pPr indent="0" marL="0">
              <a:buNone/>
            </a:pPr>
            <a:r>
              <a:rPr lang="en-US" sz="1350" b="1" dirty="0">
                <a:solidFill>
                  <a:srgbClr val="222639"/>
                </a:solidFill>
                <a:latin typeface="Calibri" pitchFamily="34" charset="0"/>
                <a:ea typeface="Calibri" pitchFamily="34" charset="-122"/>
                <a:cs typeface="Calibri" pitchFamily="34" charset="-120"/>
              </a:rPr>
              <a:t>Implicit action subsumption</a:t>
            </a:r>
            <a:endParaRPr lang="en-US" sz="1350" dirty="0"/>
          </a:p>
          <a:p>
            <a:pPr indent="0" marL="0">
              <a:buNone/>
            </a:pPr>
            <a:r>
              <a:rPr lang="en-US" sz="1200" dirty="0">
                <a:solidFill>
                  <a:srgbClr val="5A6178"/>
                </a:solidFill>
                <a:latin typeface="Calibri" pitchFamily="34" charset="0"/>
                <a:ea typeface="Calibri" pitchFamily="34" charset="-122"/>
                <a:cs typeface="Calibri" pitchFamily="34" charset="-120"/>
              </a:rPr>
              <a:t>permit display vs prohibit print; “edit” may implicitly conflict with “delete” (Steyskal &amp; Polleres).</a:t>
            </a:r>
            <a:endParaRPr lang="en-US" sz="1350" dirty="0"/>
          </a:p>
        </p:txBody>
      </p:sp>
      <p:sp>
        <p:nvSpPr>
          <p:cNvPr id="18" name="Shape 16"/>
          <p:cNvSpPr/>
          <p:nvPr/>
        </p:nvSpPr>
        <p:spPr>
          <a:xfrm>
            <a:off x="5212080" y="5065776"/>
            <a:ext cx="384048" cy="384048"/>
          </a:xfrm>
          <a:prstGeom prst="ellipse">
            <a:avLst/>
          </a:prstGeom>
          <a:solidFill>
            <a:srgbClr val="1E2761"/>
          </a:solidFill>
          <a:ln/>
        </p:spPr>
      </p:sp>
      <p:sp>
        <p:nvSpPr>
          <p:cNvPr id="19" name="Text 17"/>
          <p:cNvSpPr/>
          <p:nvPr/>
        </p:nvSpPr>
        <p:spPr>
          <a:xfrm>
            <a:off x="5212080" y="5047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5760720" y="4992624"/>
            <a:ext cx="5943600" cy="914400"/>
          </a:xfrm>
          <a:prstGeom prst="rect">
            <a:avLst/>
          </a:prstGeom>
          <a:noFill/>
          <a:ln/>
        </p:spPr>
        <p:txBody>
          <a:bodyPr wrap="square" lIns="0" tIns="0" rIns="0" bIns="0" rtlCol="0" anchor="ctr"/>
          <a:lstStyle/>
          <a:p>
            <a:pPr indent="0" marL="0">
              <a:buNone/>
            </a:pPr>
            <a:r>
              <a:rPr lang="en-US" sz="1350" b="1" dirty="0">
                <a:solidFill>
                  <a:srgbClr val="222639"/>
                </a:solidFill>
                <a:latin typeface="Calibri" pitchFamily="34" charset="0"/>
                <a:ea typeface="Calibri" pitchFamily="34" charset="-122"/>
                <a:cs typeface="Calibri" pitchFamily="34" charset="-120"/>
              </a:rPr>
              <a:t>Jurisdictional / temporal / specificity precedence</a:t>
            </a:r>
            <a:endParaRPr lang="en-US" sz="1350" dirty="0"/>
          </a:p>
          <a:p>
            <a:pPr indent="0" marL="0">
              <a:buNone/>
            </a:pPr>
            <a:r>
              <a:rPr lang="en-US" sz="1200" dirty="0">
                <a:solidFill>
                  <a:srgbClr val="5A6178"/>
                </a:solidFill>
                <a:latin typeface="Calibri" pitchFamily="34" charset="0"/>
                <a:ea typeface="Calibri" pitchFamily="34" charset="-122"/>
                <a:cs typeface="Calibri" pitchFamily="34" charset="-120"/>
              </a:rPr>
              <a:t>No way to weight federal vs state law, or newer vs older enactments.</a:t>
            </a:r>
            <a:endParaRPr lang="en-US" sz="135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indent="0" marL="0">
              <a:buNone/>
            </a:pPr>
            <a:r>
              <a:rPr lang="en-US" sz="900" dirty="0">
                <a:solidFill>
                  <a:srgbClr val="5A6178"/>
                </a:solidFill>
                <a:latin typeface="Calibri" pitchFamily="34" charset="0"/>
                <a:ea typeface="Calibri" pitchFamily="34" charset="-122"/>
                <a:cs typeface="Calibri" pitchFamily="34" charset="-120"/>
              </a:rPr>
              <a:t>Beyond Permit and Prohibit  ·  W3C ODRL Workshop 2026</a:t>
            </a:r>
            <a:endParaRPr lang="en-US" sz="900" dirty="0"/>
          </a:p>
        </p:txBody>
      </p:sp>
      <p:sp>
        <p:nvSpPr>
          <p:cNvPr id="22" name="Text 2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5A6178"/>
                </a:solidFill>
                <a:latin typeface="Calibri" pitchFamily="34" charset="0"/>
                <a:ea typeface="Calibri" pitchFamily="34" charset="-122"/>
                <a:cs typeface="Calibri" pitchFamily="34" charset="-120"/>
              </a:rPr>
              <a:t>ANATOMY OF THE GAP</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Worked example: one cross-border transfer, three policies</a:t>
            </a:r>
            <a:endParaRPr lang="en-US" sz="3300" dirty="0"/>
          </a:p>
        </p:txBody>
      </p:sp>
      <p:sp>
        <p:nvSpPr>
          <p:cNvPr id="4" name="Shape 2"/>
          <p:cNvSpPr/>
          <p:nvPr/>
        </p:nvSpPr>
        <p:spPr>
          <a:xfrm>
            <a:off x="502920" y="1627632"/>
            <a:ext cx="3611880" cy="1051560"/>
          </a:xfrm>
          <a:prstGeom prst="roundRect">
            <a:avLst>
              <a:gd name="adj" fmla="val 6957"/>
            </a:avLst>
          </a:prstGeom>
          <a:solidFill>
            <a:srgbClr val="F3F6FC"/>
          </a:solidFill>
          <a:ln w="15875">
            <a:solidFill>
              <a:srgbClr val="B23A48"/>
            </a:solidFill>
            <a:prstDash val="solid"/>
          </a:ln>
        </p:spPr>
      </p:sp>
      <p:sp>
        <p:nvSpPr>
          <p:cNvPr id="5" name="Text 3"/>
          <p:cNvSpPr/>
          <p:nvPr/>
        </p:nvSpPr>
        <p:spPr>
          <a:xfrm>
            <a:off x="685800" y="1783080"/>
            <a:ext cx="3246120" cy="777240"/>
          </a:xfrm>
          <a:prstGeom prst="rect">
            <a:avLst/>
          </a:prstGeom>
          <a:noFill/>
          <a:ln/>
        </p:spPr>
        <p:txBody>
          <a:bodyPr wrap="square" lIns="0" tIns="0" rIns="0" bIns="0" rtlCol="0" anchor="ctr"/>
          <a:lstStyle/>
          <a:p>
            <a:pPr indent="0" marL="0">
              <a:buNone/>
            </a:pPr>
            <a:r>
              <a:rPr lang="en-US" sz="1400" b="1" dirty="0">
                <a:solidFill>
                  <a:srgbClr val="B23A48"/>
                </a:solidFill>
                <a:latin typeface="Calibri" pitchFamily="34" charset="0"/>
                <a:ea typeface="Calibri" pitchFamily="34" charset="-122"/>
                <a:cs typeface="Calibri" pitchFamily="34" charset="-120"/>
              </a:rPr>
              <a:t>P1 · GDPR</a:t>
            </a:r>
            <a:endParaRPr lang="en-US" sz="1400" dirty="0"/>
          </a:p>
          <a:p>
            <a:pPr indent="0" marL="0">
              <a:buNone/>
            </a:pPr>
            <a:r>
              <a:rPr lang="en-US" sz="1250" dirty="0">
                <a:solidFill>
                  <a:srgbClr val="222639"/>
                </a:solidFill>
                <a:latin typeface="Calibri" pitchFamily="34" charset="0"/>
                <a:ea typeface="Calibri" pitchFamily="34" charset="-122"/>
                <a:cs typeface="Calibri" pitchFamily="34" charset="-120"/>
              </a:rPr>
              <a:t>Prohibits transfer to non-adequate countries</a:t>
            </a:r>
            <a:endParaRPr lang="en-US" sz="1400" dirty="0"/>
          </a:p>
        </p:txBody>
      </p:sp>
      <p:sp>
        <p:nvSpPr>
          <p:cNvPr id="6" name="Shape 4"/>
          <p:cNvSpPr/>
          <p:nvPr/>
        </p:nvSpPr>
        <p:spPr>
          <a:xfrm>
            <a:off x="4434840" y="1627632"/>
            <a:ext cx="3611880" cy="1051560"/>
          </a:xfrm>
          <a:prstGeom prst="roundRect">
            <a:avLst>
              <a:gd name="adj" fmla="val 6957"/>
            </a:avLst>
          </a:prstGeom>
          <a:solidFill>
            <a:srgbClr val="F3F6FC"/>
          </a:solidFill>
          <a:ln w="15875">
            <a:solidFill>
              <a:srgbClr val="1E2761"/>
            </a:solidFill>
            <a:prstDash val="solid"/>
          </a:ln>
        </p:spPr>
      </p:sp>
      <p:sp>
        <p:nvSpPr>
          <p:cNvPr id="7" name="Text 5"/>
          <p:cNvSpPr/>
          <p:nvPr/>
        </p:nvSpPr>
        <p:spPr>
          <a:xfrm>
            <a:off x="4617720" y="1783080"/>
            <a:ext cx="3246120" cy="7772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P2 · US CLOUD Act</a:t>
            </a:r>
            <a:endParaRPr lang="en-US" sz="1400" dirty="0"/>
          </a:p>
          <a:p>
            <a:pPr indent="0" marL="0">
              <a:buNone/>
            </a:pPr>
            <a:r>
              <a:rPr lang="en-US" sz="1250" dirty="0">
                <a:solidFill>
                  <a:srgbClr val="222639"/>
                </a:solidFill>
                <a:latin typeface="Calibri" pitchFamily="34" charset="0"/>
                <a:ea typeface="Calibri" pitchFamily="34" charset="-122"/>
                <a:cs typeface="Calibri" pitchFamily="34" charset="-120"/>
              </a:rPr>
              <a:t>Permits disclosure upon lawful subpoena</a:t>
            </a:r>
            <a:endParaRPr lang="en-US" sz="1400" dirty="0"/>
          </a:p>
        </p:txBody>
      </p:sp>
      <p:sp>
        <p:nvSpPr>
          <p:cNvPr id="8" name="Shape 6"/>
          <p:cNvSpPr/>
          <p:nvPr/>
        </p:nvSpPr>
        <p:spPr>
          <a:xfrm>
            <a:off x="8366760" y="1627632"/>
            <a:ext cx="3611880" cy="1051560"/>
          </a:xfrm>
          <a:prstGeom prst="roundRect">
            <a:avLst>
              <a:gd name="adj" fmla="val 6957"/>
            </a:avLst>
          </a:prstGeom>
          <a:solidFill>
            <a:srgbClr val="F3F6FC"/>
          </a:solidFill>
          <a:ln w="15875">
            <a:solidFill>
              <a:srgbClr val="2C6E49"/>
            </a:solidFill>
            <a:prstDash val="solid"/>
          </a:ln>
        </p:spPr>
      </p:sp>
      <p:sp>
        <p:nvSpPr>
          <p:cNvPr id="9" name="Text 7"/>
          <p:cNvSpPr/>
          <p:nvPr/>
        </p:nvSpPr>
        <p:spPr>
          <a:xfrm>
            <a:off x="8549640" y="1783080"/>
            <a:ext cx="3246120" cy="777240"/>
          </a:xfrm>
          <a:prstGeom prst="rect">
            <a:avLst/>
          </a:prstGeom>
          <a:noFill/>
          <a:ln/>
        </p:spPr>
        <p:txBody>
          <a:bodyPr wrap="square" lIns="0" tIns="0" rIns="0" bIns="0" rtlCol="0" anchor="ctr"/>
          <a:lstStyle/>
          <a:p>
            <a:pPr indent="0" marL="0">
              <a:buNone/>
            </a:pPr>
            <a:r>
              <a:rPr lang="en-US" sz="1400" b="1" dirty="0">
                <a:solidFill>
                  <a:srgbClr val="2C6E49"/>
                </a:solidFill>
                <a:latin typeface="Calibri" pitchFamily="34" charset="0"/>
                <a:ea typeface="Calibri" pitchFamily="34" charset="-122"/>
                <a:cs typeface="Calibri" pitchFamily="34" charset="-120"/>
              </a:rPr>
              <a:t>P3 · Corporate contract</a:t>
            </a:r>
            <a:endParaRPr lang="en-US" sz="1400" dirty="0"/>
          </a:p>
          <a:p>
            <a:pPr indent="0" marL="0">
              <a:buNone/>
            </a:pPr>
            <a:r>
              <a:rPr lang="en-US" sz="1250" dirty="0">
                <a:solidFill>
                  <a:srgbClr val="222639"/>
                </a:solidFill>
                <a:latin typeface="Calibri" pitchFamily="34" charset="0"/>
                <a:ea typeface="Calibri" pitchFamily="34" charset="-122"/>
                <a:cs typeface="Calibri" pitchFamily="34" charset="-120"/>
              </a:rPr>
              <a:t>Permits transfer with explicit user consent</a:t>
            </a:r>
            <a:endParaRPr lang="en-US" sz="1400" dirty="0"/>
          </a:p>
        </p:txBody>
      </p:sp>
      <p:sp>
        <p:nvSpPr>
          <p:cNvPr id="10" name="Text 8"/>
          <p:cNvSpPr/>
          <p:nvPr/>
        </p:nvSpPr>
        <p:spPr>
          <a:xfrm>
            <a:off x="502920" y="2880360"/>
            <a:ext cx="11155680" cy="365760"/>
          </a:xfrm>
          <a:prstGeom prst="rect">
            <a:avLst/>
          </a:prstGeom>
          <a:noFill/>
          <a:ln/>
        </p:spPr>
        <p:txBody>
          <a:bodyPr wrap="square" lIns="0" tIns="0" rIns="0" bIns="0" rtlCol="0" anchor="ctr"/>
          <a:lstStyle/>
          <a:p>
            <a:pPr indent="0" marL="0">
              <a:buNone/>
            </a:pPr>
            <a:r>
              <a:rPr lang="en-US" sz="1450" dirty="0">
                <a:solidFill>
                  <a:srgbClr val="222639"/>
                </a:solidFill>
                <a:latin typeface="Calibri" pitchFamily="34" charset="0"/>
                <a:ea typeface="Calibri" pitchFamily="34" charset="-122"/>
                <a:cs typeface="Calibri" pitchFamily="34" charset="-120"/>
              </a:rPr>
              <a:t>All three target the identical Asset and Action (transfer). Merge them, and every available conflict setting fails:</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3337560"/>
          <a:ext cx="11155680" cy="914400"/>
        </p:xfrm>
        <a:graphic>
          <a:graphicData uri="http://schemas.openxmlformats.org/drawingml/2006/table">
            <a:tbl>
              <a:tblPr/>
              <a:tblGrid>
                <a:gridCol w="2834640"/>
                <a:gridCol w="3977640"/>
                <a:gridCol w="4343400"/>
              </a:tblGrid>
              <a:tr h="5669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Setting</a:t>
                      </a:r>
                      <a:endParaRPr lang="en-US" sz="1250" dirty="0">
                        <a:latin typeface="Calibri" charset="0"/>
                        <a:ea typeface="Calibri" charset="0"/>
                        <a:cs typeface="Calibri"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1E276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 it is wrong</a:t>
                      </a:r>
                      <a:endParaRPr lang="en-US" sz="1250" dirty="0">
                        <a:latin typeface="Calibri" charset="0"/>
                        <a:ea typeface="Calibri" charset="0"/>
                        <a:cs typeface="Calibri"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1E2761"/>
                    </a:solidFill>
                  </a:tcPr>
                </a:tc>
              </a:tr>
              <a:tr h="566928">
                <a:tc>
                  <a:txBody>
                    <a:bodyPr/>
                    <a:lstStyle/>
                    <a:p>
                      <a:pPr indent="0" marL="0">
                        <a:buNone/>
                      </a:pPr>
                      <a:r>
                        <a:rPr lang="en-US" sz="1250" dirty="0">
                          <a:solidFill>
                            <a:srgbClr val="222639"/>
                          </a:solidFill>
                          <a:latin typeface="Courier New" pitchFamily="34" charset="0"/>
                          <a:ea typeface="Courier New" pitchFamily="34" charset="-122"/>
                          <a:cs typeface="Courier New" pitchFamily="34" charset="-120"/>
                        </a:rPr>
                        <a:t>conflict=invalid (default)</a:t>
                      </a:r>
                      <a:endParaRPr lang="en-US" sz="1250" dirty="0">
                        <a:latin typeface="Courier New" charset="0"/>
                        <a:ea typeface="Courier New" charset="0"/>
                        <a:cs typeface="Courier New"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FFFFFF"/>
                    </a:solidFill>
                  </a:tcPr>
                </a:tc>
                <a:tc>
                  <a:txBody>
                    <a:bodyPr/>
                    <a:lstStyle/>
                    <a:p>
                      <a:pPr indent="0" marL="0">
                        <a:buNone/>
                      </a:pPr>
                      <a:r>
                        <a:rPr lang="en-US" sz="1250" dirty="0">
                          <a:solidFill>
                            <a:srgbClr val="222639"/>
                          </a:solidFill>
                          <a:latin typeface="Calibri" pitchFamily="34" charset="0"/>
                          <a:ea typeface="Calibri" pitchFamily="34" charset="-122"/>
                          <a:cs typeface="Calibri" pitchFamily="34" charset="-120"/>
                        </a:rPr>
                        <a:t>Voids the entire merged policy set on any detected conflict</a:t>
                      </a:r>
                      <a:endParaRPr lang="en-US" sz="1250" dirty="0">
                        <a:latin typeface="Calibri" charset="0"/>
                        <a:ea typeface="Calibri" charset="0"/>
                        <a:cs typeface="Calibri"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FFFFFF"/>
                    </a:solidFill>
                  </a:tcPr>
                </a:tc>
                <a:tc>
                  <a:txBody>
                    <a:bodyPr/>
                    <a:lstStyle/>
                    <a:p>
                      <a:pPr indent="0" marL="0">
                        <a:buNone/>
                      </a:pPr>
                      <a:r>
                        <a:rPr lang="en-US" sz="1250" dirty="0">
                          <a:solidFill>
                            <a:srgbClr val="222639"/>
                          </a:solidFill>
                          <a:latin typeface="Calibri" pitchFamily="34" charset="0"/>
                          <a:ea typeface="Calibri" pitchFamily="34" charset="-122"/>
                          <a:cs typeface="Calibri" pitchFamily="34" charset="-120"/>
                        </a:rPr>
                        <a:t>Default-deny blocks perfectly legitimate, consented transfers</a:t>
                      </a:r>
                      <a:endParaRPr lang="en-US" sz="1250" dirty="0">
                        <a:latin typeface="Calibri" charset="0"/>
                        <a:ea typeface="Calibri" charset="0"/>
                        <a:cs typeface="Calibri"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222639"/>
                          </a:solidFill>
                          <a:latin typeface="Courier New" pitchFamily="34" charset="0"/>
                          <a:ea typeface="Courier New" pitchFamily="34" charset="-122"/>
                          <a:cs typeface="Courier New" pitchFamily="34" charset="-120"/>
                        </a:rPr>
                        <a:t>conflict=prohibit</a:t>
                      </a:r>
                      <a:endParaRPr lang="en-US" sz="1250" dirty="0">
                        <a:latin typeface="Courier New" charset="0"/>
                        <a:ea typeface="Courier New" charset="0"/>
                        <a:cs typeface="Courier New"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FFFFFF"/>
                    </a:solidFill>
                  </a:tcPr>
                </a:tc>
                <a:tc>
                  <a:txBody>
                    <a:bodyPr/>
                    <a:lstStyle/>
                    <a:p>
                      <a:pPr indent="0" marL="0">
                        <a:buNone/>
                      </a:pPr>
                      <a:r>
                        <a:rPr lang="en-US" sz="1250" dirty="0">
                          <a:solidFill>
                            <a:srgbClr val="222639"/>
                          </a:solidFill>
                          <a:latin typeface="Calibri" pitchFamily="34" charset="0"/>
                          <a:ea typeface="Calibri" pitchFamily="34" charset="-122"/>
                          <a:cs typeface="Calibri" pitchFamily="34" charset="-120"/>
                        </a:rPr>
                        <a:t>Prohibition (GDPR) always overrides all permissions</a:t>
                      </a:r>
                      <a:endParaRPr lang="en-US" sz="1250" dirty="0">
                        <a:latin typeface="Calibri" charset="0"/>
                        <a:ea typeface="Calibri" charset="0"/>
                        <a:cs typeface="Calibri"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FFFFFF"/>
                    </a:solidFill>
                  </a:tcPr>
                </a:tc>
                <a:tc>
                  <a:txBody>
                    <a:bodyPr/>
                    <a:lstStyle/>
                    <a:p>
                      <a:pPr indent="0" marL="0">
                        <a:buNone/>
                      </a:pPr>
                      <a:r>
                        <a:rPr lang="en-US" sz="1250" dirty="0">
                          <a:solidFill>
                            <a:srgbClr val="222639"/>
                          </a:solidFill>
                          <a:latin typeface="Calibri" pitchFamily="34" charset="0"/>
                          <a:ea typeface="Calibri" pitchFamily="34" charset="-122"/>
                          <a:cs typeface="Calibri" pitchFamily="34" charset="-120"/>
                        </a:rPr>
                        <a:t>Blocks consented transfers GDPR Art. 49 derogations intend to allow</a:t>
                      </a:r>
                      <a:endParaRPr lang="en-US" sz="1250" dirty="0">
                        <a:latin typeface="Calibri" charset="0"/>
                        <a:ea typeface="Calibri" charset="0"/>
                        <a:cs typeface="Calibri"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222639"/>
                          </a:solidFill>
                          <a:latin typeface="Courier New" pitchFamily="34" charset="0"/>
                          <a:ea typeface="Courier New" pitchFamily="34" charset="-122"/>
                          <a:cs typeface="Courier New" pitchFamily="34" charset="-120"/>
                        </a:rPr>
                        <a:t>conflict=perm</a:t>
                      </a:r>
                      <a:endParaRPr lang="en-US" sz="1250" dirty="0">
                        <a:latin typeface="Courier New" charset="0"/>
                        <a:ea typeface="Courier New" charset="0"/>
                        <a:cs typeface="Courier New"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FFFFFF"/>
                    </a:solidFill>
                  </a:tcPr>
                </a:tc>
                <a:tc>
                  <a:txBody>
                    <a:bodyPr/>
                    <a:lstStyle/>
                    <a:p>
                      <a:pPr indent="0" marL="0">
                        <a:buNone/>
                      </a:pPr>
                      <a:r>
                        <a:rPr lang="en-US" sz="1250" dirty="0">
                          <a:solidFill>
                            <a:srgbClr val="222639"/>
                          </a:solidFill>
                          <a:latin typeface="Calibri" pitchFamily="34" charset="0"/>
                          <a:ea typeface="Calibri" pitchFamily="34" charset="-122"/>
                          <a:cs typeface="Calibri" pitchFamily="34" charset="-120"/>
                        </a:rPr>
                        <a:t>Most permissive rule always wins</a:t>
                      </a:r>
                      <a:endParaRPr lang="en-US" sz="1250" dirty="0">
                        <a:latin typeface="Calibri" charset="0"/>
                        <a:ea typeface="Calibri" charset="0"/>
                        <a:cs typeface="Calibri"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FFFFFF"/>
                    </a:solidFill>
                  </a:tcPr>
                </a:tc>
                <a:tc>
                  <a:txBody>
                    <a:bodyPr/>
                    <a:lstStyle/>
                    <a:p>
                      <a:pPr indent="0" marL="0">
                        <a:buNone/>
                      </a:pPr>
                      <a:r>
                        <a:rPr lang="en-US" sz="1250" dirty="0">
                          <a:solidFill>
                            <a:srgbClr val="222639"/>
                          </a:solidFill>
                          <a:latin typeface="Calibri" pitchFamily="34" charset="0"/>
                          <a:ea typeface="Calibri" pitchFamily="34" charset="-122"/>
                          <a:cs typeface="Calibri" pitchFamily="34" charset="-120"/>
                        </a:rPr>
                        <a:t>Catastrophic for a regulated bank: contract overrides statute</a:t>
                      </a:r>
                      <a:endParaRPr lang="en-US" sz="1250" dirty="0">
                        <a:latin typeface="Calibri" charset="0"/>
                        <a:ea typeface="Calibri" charset="0"/>
                        <a:cs typeface="Calibri" charset="0"/>
                      </a:endParaRPr>
                    </a:p>
                  </a:txBody>
                  <a:tcPr marL="73152" marR="73152" marT="73152" marB="73152" anchor="ctr">
                    <a:lnL w="9525" cap="flat" cmpd="sng" algn="ctr">
                      <a:solidFill>
                        <a:srgbClr val="DDE4F2"/>
                      </a:solidFill>
                      <a:prstDash val="solid"/>
                      <a:round/>
                      <a:headEnd type="none" w="med" len="med"/>
                      <a:tailEnd type="none" w="med" len="med"/>
                    </a:lnL>
                    <a:lnR w="9525" cap="flat" cmpd="sng" algn="ctr">
                      <a:solidFill>
                        <a:srgbClr val="DDE4F2"/>
                      </a:solidFill>
                      <a:prstDash val="solid"/>
                      <a:round/>
                      <a:headEnd type="none" w="med" len="med"/>
                      <a:tailEnd type="none" w="med" len="med"/>
                    </a:lnR>
                    <a:lnT w="9525" cap="flat" cmpd="sng" algn="ctr">
                      <a:solidFill>
                        <a:srgbClr val="DDE4F2"/>
                      </a:solidFill>
                      <a:prstDash val="solid"/>
                      <a:round/>
                      <a:headEnd type="none" w="med" len="med"/>
                      <a:tailEnd type="none" w="med" len="med"/>
                    </a:lnT>
                    <a:lnB w="9525" cap="flat" cmpd="sng" algn="ctr">
                      <a:solidFill>
                        <a:srgbClr val="DDE4F2"/>
                      </a:solidFill>
                      <a:prstDash val="solid"/>
                      <a:round/>
                      <a:headEnd type="none" w="med" len="med"/>
                      <a:tailEnd type="none" w="med" len="med"/>
                    </a:lnB>
                    <a:solidFill>
                      <a:srgbClr val="FFFFFF"/>
                    </a:solidFill>
                  </a:tcPr>
                </a:tc>
              </a:tr>
            </a:tbl>
          </a:graphicData>
        </a:graphic>
      </p:graphicFrame>
      <p:sp>
        <p:nvSpPr>
          <p:cNvPr id="12" name="Text 9"/>
          <p:cNvSpPr/>
          <p:nvPr/>
        </p:nvSpPr>
        <p:spPr>
          <a:xfrm>
            <a:off x="502920" y="5897880"/>
            <a:ext cx="11155680" cy="365760"/>
          </a:xfrm>
          <a:prstGeom prst="rect">
            <a:avLst/>
          </a:prstGeom>
          <a:noFill/>
          <a:ln/>
        </p:spPr>
        <p:txBody>
          <a:bodyPr wrap="square" lIns="0" tIns="0" rIns="0" bIns="0" rtlCol="0" anchor="ctr"/>
          <a:lstStyle/>
          <a:p>
            <a:pPr indent="0" marL="0">
              <a:buNone/>
            </a:pPr>
            <a:r>
              <a:rPr lang="en-US" sz="1350" i="1" dirty="0">
                <a:solidFill>
                  <a:srgbClr val="B23A48"/>
                </a:solidFill>
                <a:latin typeface="Calibri" pitchFamily="34" charset="0"/>
                <a:ea typeface="Calibri" pitchFamily="34" charset="-122"/>
                <a:cs typeface="Calibri" pitchFamily="34" charset="-120"/>
              </a:rPr>
              <a:t>ODRL offers no normative vocabulary for anything better — so the reasoning is offloaded to unstandardised external engines.</a:t>
            </a:r>
            <a:endParaRPr lang="en-US" sz="1350" dirty="0"/>
          </a:p>
        </p:txBody>
      </p:sp>
      <p:sp>
        <p:nvSpPr>
          <p:cNvPr id="13" name="Text 10"/>
          <p:cNvSpPr/>
          <p:nvPr/>
        </p:nvSpPr>
        <p:spPr>
          <a:xfrm>
            <a:off x="502920" y="6473952"/>
            <a:ext cx="6400800" cy="274320"/>
          </a:xfrm>
          <a:prstGeom prst="rect">
            <a:avLst/>
          </a:prstGeom>
          <a:noFill/>
          <a:ln/>
        </p:spPr>
        <p:txBody>
          <a:bodyPr wrap="square" lIns="0" tIns="0" rIns="0" bIns="0" rtlCol="0" anchor="ctr"/>
          <a:lstStyle/>
          <a:p>
            <a:pPr indent="0" marL="0">
              <a:buNone/>
            </a:pPr>
            <a:r>
              <a:rPr lang="en-US" sz="900" dirty="0">
                <a:solidFill>
                  <a:srgbClr val="5A6178"/>
                </a:solidFill>
                <a:latin typeface="Calibri" pitchFamily="34" charset="0"/>
                <a:ea typeface="Calibri" pitchFamily="34" charset="-122"/>
                <a:cs typeface="Calibri" pitchFamily="34" charset="-120"/>
              </a:rPr>
              <a:t>Beyond Permit and Prohibit  ·  W3C ODRL Workshop 2026</a:t>
            </a:r>
            <a:endParaRPr lang="en-US" sz="900" dirty="0"/>
          </a:p>
        </p:txBody>
      </p:sp>
      <p:sp>
        <p:nvSpPr>
          <p:cNvPr id="14" name="Text 1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5A6178"/>
                </a:solidFill>
                <a:latin typeface="Calibri" pitchFamily="34" charset="0"/>
                <a:ea typeface="Calibri" pitchFamily="34" charset="-122"/>
                <a:cs typeface="Calibri" pitchFamily="34" charset="-120"/>
              </a:rPr>
              <a:t>STRUCTURAL GAP 2</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The provenance deficit</a:t>
            </a:r>
            <a:endParaRPr lang="en-US" sz="3300" dirty="0"/>
          </a:p>
        </p:txBody>
      </p:sp>
      <p:sp>
        <p:nvSpPr>
          <p:cNvPr id="4" name="Shape 2"/>
          <p:cNvSpPr/>
          <p:nvPr/>
        </p:nvSpPr>
        <p:spPr>
          <a:xfrm>
            <a:off x="502920" y="1645920"/>
            <a:ext cx="11155680" cy="1371600"/>
          </a:xfrm>
          <a:prstGeom prst="roundRect">
            <a:avLst>
              <a:gd name="adj" fmla="val 6667"/>
            </a:avLst>
          </a:prstGeom>
          <a:solidFill>
            <a:srgbClr val="1E2761"/>
          </a:solidFill>
          <a:ln/>
        </p:spPr>
      </p:sp>
      <p:sp>
        <p:nvSpPr>
          <p:cNvPr id="5" name="Text 3"/>
          <p:cNvSpPr/>
          <p:nvPr/>
        </p:nvSpPr>
        <p:spPr>
          <a:xfrm>
            <a:off x="914400" y="1828800"/>
            <a:ext cx="10332720" cy="685800"/>
          </a:xfrm>
          <a:prstGeom prst="rect">
            <a:avLst/>
          </a:prstGeom>
          <a:noFill/>
          <a:ln/>
        </p:spPr>
        <p:txBody>
          <a:bodyPr wrap="square" lIns="0" tIns="0" rIns="0" bIns="0" rtlCol="0" anchor="ctr"/>
          <a:lstStyle/>
          <a:p>
            <a:pPr indent="0" marL="0">
              <a:buNone/>
            </a:pPr>
            <a:r>
              <a:rPr lang="en-US" sz="1700" i="1" dirty="0">
                <a:solidFill>
                  <a:srgbClr val="FFFFFF"/>
                </a:solidFill>
                <a:latin typeface="Cambria" pitchFamily="34" charset="0"/>
                <a:ea typeface="Cambria" pitchFamily="34" charset="-122"/>
                <a:cs typeface="Cambria" pitchFamily="34" charset="-120"/>
              </a:rPr>
              <a:t>“Why was this transfer blocked at 14:07 GMT on 12 May 2026, under which clause of which regulation, and which engineer approved the derivation?”</a:t>
            </a:r>
            <a:endParaRPr lang="en-US" sz="1700" dirty="0"/>
          </a:p>
        </p:txBody>
      </p:sp>
      <p:sp>
        <p:nvSpPr>
          <p:cNvPr id="6" name="Text 4"/>
          <p:cNvSpPr/>
          <p:nvPr/>
        </p:nvSpPr>
        <p:spPr>
          <a:xfrm>
            <a:off x="914400" y="2578608"/>
            <a:ext cx="10332720" cy="32004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 the auditor's question ODRL 2.2 cannot answer natively</a:t>
            </a:r>
            <a:endParaRPr lang="en-US" sz="1250" dirty="0"/>
          </a:p>
        </p:txBody>
      </p:sp>
      <p:sp>
        <p:nvSpPr>
          <p:cNvPr id="7" name="Shape 5"/>
          <p:cNvSpPr/>
          <p:nvPr/>
        </p:nvSpPr>
        <p:spPr>
          <a:xfrm>
            <a:off x="502920" y="3337560"/>
            <a:ext cx="384048" cy="384048"/>
          </a:xfrm>
          <a:prstGeom prst="ellipse">
            <a:avLst/>
          </a:prstGeom>
          <a:solidFill>
            <a:srgbClr val="1E2761"/>
          </a:solidFill>
          <a:ln/>
        </p:spPr>
      </p:sp>
      <p:sp>
        <p:nvSpPr>
          <p:cNvPr id="8" name="Text 6"/>
          <p:cNvSpPr/>
          <p:nvPr/>
        </p:nvSpPr>
        <p:spPr>
          <a:xfrm>
            <a:off x="502920" y="33192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051560" y="3264408"/>
            <a:ext cx="10607040" cy="91440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No normative properties</a:t>
            </a:r>
            <a:endParaRPr lang="en-US" sz="1450" dirty="0"/>
          </a:p>
          <a:p>
            <a:pPr indent="0" marL="0">
              <a:buNone/>
            </a:pPr>
            <a:r>
              <a:rPr lang="en-US" sz="1250" dirty="0">
                <a:solidFill>
                  <a:srgbClr val="222639"/>
                </a:solidFill>
                <a:latin typeface="Calibri" pitchFamily="34" charset="0"/>
                <a:ea typeface="Calibri" pitchFamily="34" charset="-122"/>
                <a:cs typeface="Calibri" pitchFamily="34" charset="-120"/>
              </a:rPr>
              <a:t>The Information Model defines nothing for rule-derivation traceability — a hard barrier in regulated industries that must evidence compliance as rigorously as they enforce it.</a:t>
            </a:r>
            <a:endParaRPr lang="en-US" sz="1450" dirty="0"/>
          </a:p>
        </p:txBody>
      </p:sp>
      <p:sp>
        <p:nvSpPr>
          <p:cNvPr id="10" name="Shape 8"/>
          <p:cNvSpPr/>
          <p:nvPr/>
        </p:nvSpPr>
        <p:spPr>
          <a:xfrm>
            <a:off x="502920" y="4297680"/>
            <a:ext cx="384048" cy="384048"/>
          </a:xfrm>
          <a:prstGeom prst="ellipse">
            <a:avLst/>
          </a:prstGeom>
          <a:solidFill>
            <a:srgbClr val="1E2761"/>
          </a:solidFill>
          <a:ln/>
        </p:spPr>
      </p:sp>
      <p:sp>
        <p:nvSpPr>
          <p:cNvPr id="11" name="Text 9"/>
          <p:cNvSpPr/>
          <p:nvPr/>
        </p:nvSpPr>
        <p:spPr>
          <a:xfrm>
            <a:off x="502920" y="42793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051560" y="4224528"/>
            <a:ext cx="10607040" cy="91440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Retrofits fall short</a:t>
            </a:r>
            <a:endParaRPr lang="en-US" sz="1450" dirty="0"/>
          </a:p>
          <a:p>
            <a:pPr indent="0" marL="0">
              <a:buNone/>
            </a:pPr>
            <a:r>
              <a:rPr lang="en-US" sz="1250" dirty="0">
                <a:solidFill>
                  <a:srgbClr val="222639"/>
                </a:solidFill>
                <a:latin typeface="Calibri" pitchFamily="34" charset="0"/>
                <a:ea typeface="Calibri" pitchFamily="34" charset="-122"/>
                <a:cs typeface="Calibri" pitchFamily="34" charset="-120"/>
              </a:rPr>
              <a:t>dc:creator, dct:source, PAV tags are generic metadata: no relational expressivity for derivation chains, and no audit-trail provenance over runtime evaluation. The Temporal Model draft is unfinished and omits derivation chains.</a:t>
            </a:r>
            <a:endParaRPr lang="en-US" sz="1450" dirty="0"/>
          </a:p>
        </p:txBody>
      </p:sp>
      <p:sp>
        <p:nvSpPr>
          <p:cNvPr id="13" name="Shape 11"/>
          <p:cNvSpPr/>
          <p:nvPr/>
        </p:nvSpPr>
        <p:spPr>
          <a:xfrm>
            <a:off x="502920" y="5257800"/>
            <a:ext cx="384048" cy="384048"/>
          </a:xfrm>
          <a:prstGeom prst="ellipse">
            <a:avLst/>
          </a:prstGeom>
          <a:solidFill>
            <a:srgbClr val="1E2761"/>
          </a:solidFill>
          <a:ln/>
        </p:spPr>
      </p:sp>
      <p:sp>
        <p:nvSpPr>
          <p:cNvPr id="14" name="Text 12"/>
          <p:cNvSpPr/>
          <p:nvPr/>
        </p:nvSpPr>
        <p:spPr>
          <a:xfrm>
            <a:off x="502920" y="5239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051560" y="5184648"/>
            <a:ext cx="10607040" cy="91440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LegalRuleML shows the pattern</a:t>
            </a:r>
            <a:endParaRPr lang="en-US" sz="1450" dirty="0"/>
          </a:p>
          <a:p>
            <a:pPr indent="0" marL="0">
              <a:buNone/>
            </a:pPr>
            <a:r>
              <a:rPr lang="en-US" sz="1250" dirty="0">
                <a:solidFill>
                  <a:srgbClr val="222639"/>
                </a:solidFill>
                <a:latin typeface="Calibri" pitchFamily="34" charset="0"/>
                <a:ea typeface="Calibri" pitchFamily="34" charset="-122"/>
                <a:cs typeface="Calibri" pitchFamily="34" charset="-120"/>
              </a:rPr>
              <a:t>Dedicated blocks (LegalSources, Authorities, Context) link each rule to the exact textual provision, authoring agent, and temporal efficacy — the purpose-built model ODRL lacks.</a:t>
            </a:r>
            <a:endParaRPr lang="en-US" sz="1450" dirty="0"/>
          </a:p>
        </p:txBody>
      </p:sp>
      <p:sp>
        <p:nvSpPr>
          <p:cNvPr id="16" name="Text 14"/>
          <p:cNvSpPr/>
          <p:nvPr/>
        </p:nvSpPr>
        <p:spPr>
          <a:xfrm>
            <a:off x="502920" y="6473952"/>
            <a:ext cx="6400800" cy="274320"/>
          </a:xfrm>
          <a:prstGeom prst="rect">
            <a:avLst/>
          </a:prstGeom>
          <a:noFill/>
          <a:ln/>
        </p:spPr>
        <p:txBody>
          <a:bodyPr wrap="square" lIns="0" tIns="0" rIns="0" bIns="0" rtlCol="0" anchor="ctr"/>
          <a:lstStyle/>
          <a:p>
            <a:pPr indent="0" marL="0">
              <a:buNone/>
            </a:pPr>
            <a:r>
              <a:rPr lang="en-US" sz="900" dirty="0">
                <a:solidFill>
                  <a:srgbClr val="5A6178"/>
                </a:solidFill>
                <a:latin typeface="Calibri" pitchFamily="34" charset="0"/>
                <a:ea typeface="Calibri" pitchFamily="34" charset="-122"/>
                <a:cs typeface="Calibri" pitchFamily="34" charset="-120"/>
              </a:rPr>
              <a:t>Beyond Permit and Prohibit  ·  W3C ODRL Workshop 2026</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5A6178"/>
                </a:solidFill>
                <a:latin typeface="Calibri" pitchFamily="34" charset="0"/>
                <a:ea typeface="Calibri" pitchFamily="34" charset="-122"/>
                <a:cs typeface="Calibri" pitchFamily="34" charset="-120"/>
              </a:rPr>
              <a:t>PROPOSAL</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Two thin, backward-compatible extension profiles</a:t>
            </a:r>
            <a:endParaRPr lang="en-US" sz="3300" dirty="0"/>
          </a:p>
        </p:txBody>
      </p:sp>
      <p:sp>
        <p:nvSpPr>
          <p:cNvPr id="4" name="Text 2"/>
          <p:cNvSpPr/>
          <p:nvPr/>
        </p:nvSpPr>
        <p:spPr>
          <a:xfrm>
            <a:off x="502920" y="1600200"/>
            <a:ext cx="11155680" cy="594360"/>
          </a:xfrm>
          <a:prstGeom prst="rect">
            <a:avLst/>
          </a:prstGeom>
          <a:noFill/>
          <a:ln/>
        </p:spPr>
        <p:txBody>
          <a:bodyPr wrap="square" lIns="0" tIns="0" rIns="0" bIns="0" rtlCol="0" anchor="ctr"/>
          <a:lstStyle/>
          <a:p>
            <a:pPr indent="0" marL="0">
              <a:buNone/>
            </a:pPr>
            <a:r>
              <a:rPr lang="en-US" sz="1500" dirty="0">
                <a:solidFill>
                  <a:srgbClr val="222639"/>
                </a:solidFill>
                <a:latin typeface="Calibri" pitchFamily="34" charset="0"/>
                <a:ea typeface="Calibri" pitchFamily="34" charset="-122"/>
                <a:cs typeface="Calibri" pitchFamily="34" charset="-120"/>
              </a:rPr>
              <a:t>Following the DPV 2.0 pattern — layer domain extensions atop the core ontology. Simple DRM use cases stay simple; regulated environments get the capabilities they need.</a:t>
            </a:r>
            <a:endParaRPr lang="en-US" sz="1500" dirty="0"/>
          </a:p>
        </p:txBody>
      </p:sp>
      <p:sp>
        <p:nvSpPr>
          <p:cNvPr id="5" name="Shape 3"/>
          <p:cNvSpPr/>
          <p:nvPr/>
        </p:nvSpPr>
        <p:spPr>
          <a:xfrm>
            <a:off x="502920" y="2423160"/>
            <a:ext cx="5349240" cy="3246120"/>
          </a:xfrm>
          <a:prstGeom prst="roundRect">
            <a:avLst>
              <a:gd name="adj" fmla="val 2817"/>
            </a:avLst>
          </a:prstGeom>
          <a:solidFill>
            <a:srgbClr val="1E2761"/>
          </a:solidFill>
          <a:ln w="12700">
            <a:solidFill>
              <a:srgbClr val="1E2761"/>
            </a:solidFill>
            <a:prstDash val="solid"/>
          </a:ln>
        </p:spPr>
      </p:sp>
      <p:sp>
        <p:nvSpPr>
          <p:cNvPr id="6" name="Text 4"/>
          <p:cNvSpPr/>
          <p:nvPr/>
        </p:nvSpPr>
        <p:spPr>
          <a:xfrm>
            <a:off x="822960" y="2697480"/>
            <a:ext cx="4709160" cy="914400"/>
          </a:xfrm>
          <a:prstGeom prst="rect">
            <a:avLst/>
          </a:prstGeom>
          <a:noFill/>
          <a:ln/>
        </p:spPr>
        <p:txBody>
          <a:bodyPr wrap="square" lIns="0" tIns="0" rIns="0" bIns="0" rtlCol="0" anchor="ctr"/>
          <a:lstStyle/>
          <a:p>
            <a:pPr indent="0" marL="0">
              <a:spcAft>
                <a:spcPts val="400"/>
              </a:spcAft>
              <a:buNone/>
            </a:pPr>
            <a:r>
              <a:rPr lang="en-US" sz="2400" b="1" dirty="0">
                <a:solidFill>
                  <a:srgbClr val="CADCFC"/>
                </a:solidFill>
                <a:latin typeface="Courier New" pitchFamily="34" charset="0"/>
                <a:ea typeface="Courier New" pitchFamily="34" charset="-122"/>
                <a:cs typeface="Courier New" pitchFamily="34" charset="-120"/>
              </a:rPr>
              <a:t>odrl-prov</a:t>
            </a:r>
            <a:endParaRPr lang="en-US" sz="2400" dirty="0"/>
          </a:p>
          <a:p>
            <a:pPr indent="0" marL="0">
              <a:spcAft>
                <a:spcPts val="400"/>
              </a:spcAft>
              <a:buNone/>
            </a:pPr>
            <a:r>
              <a:rPr lang="en-US" sz="1150" b="1" spc="200" kern="0" dirty="0">
                <a:solidFill>
                  <a:srgbClr val="CADCFC"/>
                </a:solidFill>
                <a:latin typeface="Calibri" pitchFamily="34" charset="0"/>
                <a:ea typeface="Calibri" pitchFamily="34" charset="-122"/>
                <a:cs typeface="Calibri" pitchFamily="34" charset="-120"/>
              </a:rPr>
              <a:t>PROVENANCE</a:t>
            </a:r>
            <a:endParaRPr lang="en-US" sz="2400" dirty="0"/>
          </a:p>
        </p:txBody>
      </p:sp>
      <p:sp>
        <p:nvSpPr>
          <p:cNvPr id="7" name="Text 5"/>
          <p:cNvSpPr/>
          <p:nvPr/>
        </p:nvSpPr>
        <p:spPr>
          <a:xfrm>
            <a:off x="822960" y="3657600"/>
            <a:ext cx="4709160" cy="12344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Aligns ODRL with PROV-O and PAV: every rule carries its legal source, author, version, and derivation history — plus a record of every runtime decision.</a:t>
            </a:r>
            <a:endParaRPr lang="en-US" sz="1350" dirty="0"/>
          </a:p>
        </p:txBody>
      </p:sp>
      <p:sp>
        <p:nvSpPr>
          <p:cNvPr id="8" name="Text 6"/>
          <p:cNvSpPr/>
          <p:nvPr/>
        </p:nvSpPr>
        <p:spPr>
          <a:xfrm>
            <a:off x="822960" y="4983480"/>
            <a:ext cx="4709160" cy="548640"/>
          </a:xfrm>
          <a:prstGeom prst="rect">
            <a:avLst/>
          </a:prstGeom>
          <a:noFill/>
          <a:ln/>
        </p:spPr>
        <p:txBody>
          <a:bodyPr wrap="square" lIns="0" tIns="0" rIns="0" bIns="0"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Answers: where did this rule come from, and why did it fire?</a:t>
            </a:r>
            <a:endParaRPr lang="en-US" sz="1250" dirty="0"/>
          </a:p>
        </p:txBody>
      </p:sp>
      <p:sp>
        <p:nvSpPr>
          <p:cNvPr id="9" name="Shape 7"/>
          <p:cNvSpPr/>
          <p:nvPr/>
        </p:nvSpPr>
        <p:spPr>
          <a:xfrm>
            <a:off x="6309360" y="2423160"/>
            <a:ext cx="5349240" cy="3246120"/>
          </a:xfrm>
          <a:prstGeom prst="roundRect">
            <a:avLst>
              <a:gd name="adj" fmla="val 2817"/>
            </a:avLst>
          </a:prstGeom>
          <a:solidFill>
            <a:srgbClr val="F3F6FC"/>
          </a:solidFill>
          <a:ln w="12700">
            <a:solidFill>
              <a:srgbClr val="DDE4F2"/>
            </a:solidFill>
            <a:prstDash val="solid"/>
          </a:ln>
        </p:spPr>
      </p:sp>
      <p:sp>
        <p:nvSpPr>
          <p:cNvPr id="10" name="Text 8"/>
          <p:cNvSpPr/>
          <p:nvPr/>
        </p:nvSpPr>
        <p:spPr>
          <a:xfrm>
            <a:off x="6629400" y="2697480"/>
            <a:ext cx="4709160" cy="914400"/>
          </a:xfrm>
          <a:prstGeom prst="rect">
            <a:avLst/>
          </a:prstGeom>
          <a:noFill/>
          <a:ln/>
        </p:spPr>
        <p:txBody>
          <a:bodyPr wrap="square" lIns="0" tIns="0" rIns="0" bIns="0" rtlCol="0" anchor="ctr"/>
          <a:lstStyle/>
          <a:p>
            <a:pPr indent="0" marL="0">
              <a:spcAft>
                <a:spcPts val="400"/>
              </a:spcAft>
              <a:buNone/>
            </a:pPr>
            <a:r>
              <a:rPr lang="en-US" sz="2400" b="1" dirty="0">
                <a:solidFill>
                  <a:srgbClr val="1E2761"/>
                </a:solidFill>
                <a:latin typeface="Courier New" pitchFamily="34" charset="0"/>
                <a:ea typeface="Courier New" pitchFamily="34" charset="-122"/>
                <a:cs typeface="Courier New" pitchFamily="34" charset="-120"/>
              </a:rPr>
              <a:t>odrl-cr</a:t>
            </a:r>
            <a:endParaRPr lang="en-US" sz="2400" dirty="0"/>
          </a:p>
          <a:p>
            <a:pPr indent="0" marL="0">
              <a:spcAft>
                <a:spcPts val="400"/>
              </a:spcAft>
              <a:buNone/>
            </a:pPr>
            <a:r>
              <a:rPr lang="en-US" sz="1150" b="1" spc="200" kern="0" dirty="0">
                <a:solidFill>
                  <a:srgbClr val="1E2761"/>
                </a:solidFill>
                <a:latin typeface="Calibri" pitchFamily="34" charset="0"/>
                <a:ea typeface="Calibri" pitchFamily="34" charset="-122"/>
                <a:cs typeface="Calibri" pitchFamily="34" charset="-120"/>
              </a:rPr>
              <a:t>CONFLICT RESOLUTION</a:t>
            </a:r>
            <a:endParaRPr lang="en-US" sz="2400" dirty="0"/>
          </a:p>
        </p:txBody>
      </p:sp>
      <p:sp>
        <p:nvSpPr>
          <p:cNvPr id="11" name="Text 9"/>
          <p:cNvSpPr/>
          <p:nvPr/>
        </p:nvSpPr>
        <p:spPr>
          <a:xfrm>
            <a:off x="6629400" y="3657600"/>
            <a:ext cx="4709160" cy="1234440"/>
          </a:xfrm>
          <a:prstGeom prst="rect">
            <a:avLst/>
          </a:prstGeom>
          <a:noFill/>
          <a:ln/>
        </p:spPr>
        <p:txBody>
          <a:bodyPr wrap="square" lIns="0" tIns="0" rIns="0" bIns="0" rtlCol="0" anchor="ctr"/>
          <a:lstStyle/>
          <a:p>
            <a:pPr indent="0" marL="0">
              <a:buNone/>
            </a:pPr>
            <a:r>
              <a:rPr lang="en-US" sz="1350" dirty="0">
                <a:solidFill>
                  <a:srgbClr val="222639"/>
                </a:solidFill>
                <a:latin typeface="Calibri" pitchFamily="34" charset="0"/>
                <a:ea typeface="Calibri" pitchFamily="34" charset="-122"/>
                <a:cs typeface="Calibri" pitchFamily="34" charset="-120"/>
              </a:rPr>
              <a:t>Generalises ConflictTerm into an extensible class of strategies — XACML-parity combining algorithms plus weighted priorities — with a mandatory resolution report.</a:t>
            </a:r>
            <a:endParaRPr lang="en-US" sz="1350" dirty="0"/>
          </a:p>
        </p:txBody>
      </p:sp>
      <p:sp>
        <p:nvSpPr>
          <p:cNvPr id="12" name="Text 10"/>
          <p:cNvSpPr/>
          <p:nvPr/>
        </p:nvSpPr>
        <p:spPr>
          <a:xfrm>
            <a:off x="6629400" y="4983480"/>
            <a:ext cx="4709160" cy="548640"/>
          </a:xfrm>
          <a:prstGeom prst="rect">
            <a:avLst/>
          </a:prstGeom>
          <a:noFill/>
          <a:ln/>
        </p:spPr>
        <p:txBody>
          <a:bodyPr wrap="square" lIns="0" tIns="0" rIns="0" bIns="0" rtlCol="0" anchor="ctr"/>
          <a:lstStyle/>
          <a:p>
            <a:pPr indent="0" marL="0">
              <a:buNone/>
            </a:pPr>
            <a:r>
              <a:rPr lang="en-US" sz="1250" i="1" dirty="0">
                <a:solidFill>
                  <a:srgbClr val="1E2761"/>
                </a:solidFill>
                <a:latin typeface="Calibri" pitchFamily="34" charset="0"/>
                <a:ea typeface="Calibri" pitchFamily="34" charset="-122"/>
                <a:cs typeface="Calibri" pitchFamily="34" charset="-120"/>
              </a:rPr>
              <a:t>Answers: when rules collide, which wins — and can we prove it?</a:t>
            </a:r>
            <a:endParaRPr lang="en-US" sz="1250" dirty="0"/>
          </a:p>
        </p:txBody>
      </p:sp>
      <p:sp>
        <p:nvSpPr>
          <p:cNvPr id="13" name="Text 11"/>
          <p:cNvSpPr/>
          <p:nvPr/>
        </p:nvSpPr>
        <p:spPr>
          <a:xfrm>
            <a:off x="502920" y="5943600"/>
            <a:ext cx="11155680" cy="320040"/>
          </a:xfrm>
          <a:prstGeom prst="rect">
            <a:avLst/>
          </a:prstGeom>
          <a:noFill/>
          <a:ln/>
        </p:spPr>
        <p:txBody>
          <a:bodyPr wrap="square" lIns="0" tIns="0" rIns="0" bIns="0" rtlCol="0" anchor="ctr"/>
          <a:lstStyle/>
          <a:p>
            <a:pPr algn="ctr" indent="0" marL="0">
              <a:buNone/>
            </a:pPr>
            <a:r>
              <a:rPr lang="en-US" sz="1300" dirty="0">
                <a:solidFill>
                  <a:srgbClr val="5A6178"/>
                </a:solidFill>
                <a:latin typeface="Calibri" pitchFamily="34" charset="0"/>
                <a:ea typeface="Calibri" pitchFamily="34" charset="-122"/>
                <a:cs typeface="Calibri" pitchFamily="34" charset="-120"/>
              </a:rPr>
              <a:t>Both align with PROV-O and LegalRuleML  ·  no changes required to existing ODRL 2.2 policies</a:t>
            </a:r>
            <a:endParaRPr lang="en-US" sz="1300" dirty="0"/>
          </a:p>
        </p:txBody>
      </p:sp>
      <p:sp>
        <p:nvSpPr>
          <p:cNvPr id="14" name="Text 12"/>
          <p:cNvSpPr/>
          <p:nvPr/>
        </p:nvSpPr>
        <p:spPr>
          <a:xfrm>
            <a:off x="502920" y="6473952"/>
            <a:ext cx="6400800" cy="274320"/>
          </a:xfrm>
          <a:prstGeom prst="rect">
            <a:avLst/>
          </a:prstGeom>
          <a:noFill/>
          <a:ln/>
        </p:spPr>
        <p:txBody>
          <a:bodyPr wrap="square" lIns="0" tIns="0" rIns="0" bIns="0" rtlCol="0" anchor="ctr"/>
          <a:lstStyle/>
          <a:p>
            <a:pPr indent="0" marL="0">
              <a:buNone/>
            </a:pPr>
            <a:r>
              <a:rPr lang="en-US" sz="900" dirty="0">
                <a:solidFill>
                  <a:srgbClr val="5A6178"/>
                </a:solidFill>
                <a:latin typeface="Calibri" pitchFamily="34" charset="0"/>
                <a:ea typeface="Calibri" pitchFamily="34" charset="-122"/>
                <a:cs typeface="Calibri" pitchFamily="34" charset="-120"/>
              </a:rPr>
              <a:t>Beyond Permit and Prohibit  ·  W3C ODRL Workshop 2026</a:t>
            </a:r>
            <a:endParaRPr lang="en-US" sz="900" dirty="0"/>
          </a:p>
        </p:txBody>
      </p:sp>
      <p:sp>
        <p:nvSpPr>
          <p:cNvPr id="15"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5A6178"/>
                </a:solidFill>
                <a:latin typeface="Calibri" pitchFamily="34" charset="0"/>
                <a:ea typeface="Calibri" pitchFamily="34" charset="-122"/>
                <a:cs typeface="Calibri" pitchFamily="34" charset="-120"/>
              </a:rPr>
              <a:t>PROFILE 1</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odrl-prov — a first-class provenance layer</a:t>
            </a:r>
            <a:endParaRPr lang="en-US" sz="3300" dirty="0"/>
          </a:p>
        </p:txBody>
      </p:sp>
      <p:sp>
        <p:nvSpPr>
          <p:cNvPr id="4" name="Text 2"/>
          <p:cNvSpPr/>
          <p:nvPr/>
        </p:nvSpPr>
        <p:spPr>
          <a:xfrm>
            <a:off x="502920" y="1627632"/>
            <a:ext cx="11155680"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Foundation:  </a:t>
            </a:r>
            <a:pPr indent="0" marL="0">
              <a:buNone/>
            </a:pPr>
            <a:r>
              <a:rPr lang="en-US" sz="1450" dirty="0">
                <a:solidFill>
                  <a:srgbClr val="222639"/>
                </a:solidFill>
                <a:latin typeface="Courier New" pitchFamily="34" charset="0"/>
                <a:ea typeface="Courier New" pitchFamily="34" charset="-122"/>
                <a:cs typeface="Courier New" pitchFamily="34" charset="-120"/>
              </a:rPr>
              <a:t>odrl:Policy ⊑ prov:Entity    odrl:Rule ⊑ prov:Entity</a:t>
            </a:r>
            <a:endParaRPr lang="en-US" sz="1450" dirty="0"/>
          </a:p>
        </p:txBody>
      </p:sp>
      <p:sp>
        <p:nvSpPr>
          <p:cNvPr id="5" name="Shape 3"/>
          <p:cNvSpPr/>
          <p:nvPr/>
        </p:nvSpPr>
        <p:spPr>
          <a:xfrm>
            <a:off x="502920" y="2240280"/>
            <a:ext cx="6675120" cy="713232"/>
          </a:xfrm>
          <a:prstGeom prst="roundRect">
            <a:avLst>
              <a:gd name="adj" fmla="val 7692"/>
            </a:avLst>
          </a:prstGeom>
          <a:solidFill>
            <a:srgbClr val="F3F6FC"/>
          </a:solidFill>
          <a:ln w="9525">
            <a:solidFill>
              <a:srgbClr val="DDE4F2"/>
            </a:solidFill>
            <a:prstDash val="solid"/>
          </a:ln>
        </p:spPr>
      </p:sp>
      <p:sp>
        <p:nvSpPr>
          <p:cNvPr id="6" name="Text 4"/>
          <p:cNvSpPr/>
          <p:nvPr/>
        </p:nvSpPr>
        <p:spPr>
          <a:xfrm>
            <a:off x="685800" y="2313432"/>
            <a:ext cx="6355080" cy="59436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prov:wasDerivedFrom</a:t>
            </a:r>
            <a:endParaRPr lang="en-US" sz="1250" dirty="0"/>
          </a:p>
          <a:p>
            <a:pPr indent="0" marL="0">
              <a:buNone/>
            </a:pPr>
            <a:r>
              <a:rPr lang="en-US" sz="1150" dirty="0">
                <a:solidFill>
                  <a:srgbClr val="5A6178"/>
                </a:solidFill>
                <a:latin typeface="Calibri" pitchFamily="34" charset="0"/>
                <a:ea typeface="Calibri" pitchFamily="34" charset="-122"/>
                <a:cs typeface="Calibri" pitchFamily="34" charset="-120"/>
              </a:rPr>
              <a:t>Maps each rule to its legal or contractual source document</a:t>
            </a:r>
            <a:endParaRPr lang="en-US" sz="1250" dirty="0"/>
          </a:p>
        </p:txBody>
      </p:sp>
      <p:sp>
        <p:nvSpPr>
          <p:cNvPr id="7" name="Shape 5"/>
          <p:cNvSpPr/>
          <p:nvPr/>
        </p:nvSpPr>
        <p:spPr>
          <a:xfrm>
            <a:off x="502920" y="3081528"/>
            <a:ext cx="6675120" cy="713232"/>
          </a:xfrm>
          <a:prstGeom prst="roundRect">
            <a:avLst>
              <a:gd name="adj" fmla="val 7692"/>
            </a:avLst>
          </a:prstGeom>
          <a:solidFill>
            <a:srgbClr val="F3F6FC"/>
          </a:solidFill>
          <a:ln w="9525">
            <a:solidFill>
              <a:srgbClr val="DDE4F2"/>
            </a:solidFill>
            <a:prstDash val="solid"/>
          </a:ln>
        </p:spPr>
      </p:sp>
      <p:sp>
        <p:nvSpPr>
          <p:cNvPr id="8" name="Text 6"/>
          <p:cNvSpPr/>
          <p:nvPr/>
        </p:nvSpPr>
        <p:spPr>
          <a:xfrm>
            <a:off x="685800" y="3154680"/>
            <a:ext cx="6355080" cy="59436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prov:wasAttributedTo</a:t>
            </a:r>
            <a:endParaRPr lang="en-US" sz="1250" dirty="0"/>
          </a:p>
          <a:p>
            <a:pPr indent="0" marL="0">
              <a:buNone/>
            </a:pPr>
            <a:r>
              <a:rPr lang="en-US" sz="1150" dirty="0">
                <a:solidFill>
                  <a:srgbClr val="5A6178"/>
                </a:solidFill>
                <a:latin typeface="Calibri" pitchFamily="34" charset="0"/>
                <a:ea typeface="Calibri" pitchFamily="34" charset="-122"/>
                <a:cs typeface="Calibri" pitchFamily="34" charset="-120"/>
              </a:rPr>
              <a:t>Identifies the authoring agent, system, or knowledge engineer</a:t>
            </a:r>
            <a:endParaRPr lang="en-US" sz="1250" dirty="0"/>
          </a:p>
        </p:txBody>
      </p:sp>
      <p:sp>
        <p:nvSpPr>
          <p:cNvPr id="9" name="Shape 7"/>
          <p:cNvSpPr/>
          <p:nvPr/>
        </p:nvSpPr>
        <p:spPr>
          <a:xfrm>
            <a:off x="502920" y="3922776"/>
            <a:ext cx="6675120" cy="713232"/>
          </a:xfrm>
          <a:prstGeom prst="roundRect">
            <a:avLst>
              <a:gd name="adj" fmla="val 7692"/>
            </a:avLst>
          </a:prstGeom>
          <a:solidFill>
            <a:srgbClr val="F3F6FC"/>
          </a:solidFill>
          <a:ln w="9525">
            <a:solidFill>
              <a:srgbClr val="DDE4F2"/>
            </a:solidFill>
            <a:prstDash val="solid"/>
          </a:ln>
        </p:spPr>
      </p:sp>
      <p:sp>
        <p:nvSpPr>
          <p:cNvPr id="10" name="Text 8"/>
          <p:cNvSpPr/>
          <p:nvPr/>
        </p:nvSpPr>
        <p:spPr>
          <a:xfrm>
            <a:off x="685800" y="3995928"/>
            <a:ext cx="6355080" cy="59436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prov:hadPrimarySource</a:t>
            </a:r>
            <a:endParaRPr lang="en-US" sz="1250" dirty="0"/>
          </a:p>
          <a:p>
            <a:pPr indent="0" marL="0">
              <a:buNone/>
            </a:pPr>
            <a:r>
              <a:rPr lang="en-US" sz="1150" dirty="0">
                <a:solidFill>
                  <a:srgbClr val="5A6178"/>
                </a:solidFill>
                <a:latin typeface="Calibri" pitchFamily="34" charset="0"/>
                <a:ea typeface="Calibri" pitchFamily="34" charset="-122"/>
                <a:cs typeface="Calibri" pitchFamily="34" charset="-120"/>
              </a:rPr>
              <a:t>Original legal text URI — stable identifiers (ELI, Akoma Ntoso)</a:t>
            </a:r>
            <a:endParaRPr lang="en-US" sz="1250" dirty="0"/>
          </a:p>
        </p:txBody>
      </p:sp>
      <p:sp>
        <p:nvSpPr>
          <p:cNvPr id="11" name="Shape 9"/>
          <p:cNvSpPr/>
          <p:nvPr/>
        </p:nvSpPr>
        <p:spPr>
          <a:xfrm>
            <a:off x="502920" y="4764024"/>
            <a:ext cx="6675120" cy="713232"/>
          </a:xfrm>
          <a:prstGeom prst="roundRect">
            <a:avLst>
              <a:gd name="adj" fmla="val 7692"/>
            </a:avLst>
          </a:prstGeom>
          <a:solidFill>
            <a:srgbClr val="F3F6FC"/>
          </a:solidFill>
          <a:ln w="9525">
            <a:solidFill>
              <a:srgbClr val="DDE4F2"/>
            </a:solidFill>
            <a:prstDash val="solid"/>
          </a:ln>
        </p:spPr>
      </p:sp>
      <p:sp>
        <p:nvSpPr>
          <p:cNvPr id="12" name="Text 10"/>
          <p:cNvSpPr/>
          <p:nvPr/>
        </p:nvSpPr>
        <p:spPr>
          <a:xfrm>
            <a:off x="685800" y="4837176"/>
            <a:ext cx="6355080" cy="594360"/>
          </a:xfrm>
          <a:prstGeom prst="rect">
            <a:avLst/>
          </a:prstGeom>
          <a:noFill/>
          <a:ln/>
        </p:spPr>
        <p:txBody>
          <a:bodyPr wrap="square" lIns="0" tIns="0" rIns="0" bIns="0" rtlCol="0" anchor="ctr"/>
          <a:lstStyle/>
          <a:p>
            <a:pPr indent="0" marL="0">
              <a:buNone/>
            </a:pPr>
            <a:r>
              <a:rPr lang="en-US" sz="1250" b="1" dirty="0">
                <a:solidFill>
                  <a:srgbClr val="1E2761"/>
                </a:solidFill>
                <a:latin typeface="Courier New" pitchFamily="34" charset="0"/>
                <a:ea typeface="Courier New" pitchFamily="34" charset="-122"/>
                <a:cs typeface="Courier New" pitchFamily="34" charset="-120"/>
              </a:rPr>
              <a:t>pav:version / pav:previousVersion</a:t>
            </a:r>
            <a:endParaRPr lang="en-US" sz="1250" dirty="0"/>
          </a:p>
          <a:p>
            <a:pPr indent="0" marL="0">
              <a:buNone/>
            </a:pPr>
            <a:r>
              <a:rPr lang="en-US" sz="1150" dirty="0">
                <a:solidFill>
                  <a:srgbClr val="5A6178"/>
                </a:solidFill>
                <a:latin typeface="Calibri" pitchFamily="34" charset="0"/>
                <a:ea typeface="Calibri" pitchFamily="34" charset="-122"/>
                <a:cs typeface="Calibri" pitchFamily="34" charset="-120"/>
              </a:rPr>
              <a:t>Strict version control for policy change over time</a:t>
            </a:r>
            <a:endParaRPr lang="en-US" sz="1250" dirty="0"/>
          </a:p>
        </p:txBody>
      </p:sp>
      <p:sp>
        <p:nvSpPr>
          <p:cNvPr id="13" name="Shape 11"/>
          <p:cNvSpPr/>
          <p:nvPr/>
        </p:nvSpPr>
        <p:spPr>
          <a:xfrm>
            <a:off x="7452360" y="2240280"/>
            <a:ext cx="4206240" cy="3291840"/>
          </a:xfrm>
          <a:prstGeom prst="roundRect">
            <a:avLst>
              <a:gd name="adj" fmla="val 2778"/>
            </a:avLst>
          </a:prstGeom>
          <a:solidFill>
            <a:srgbClr val="1E2761"/>
          </a:solidFill>
          <a:ln/>
        </p:spPr>
      </p:sp>
      <p:sp>
        <p:nvSpPr>
          <p:cNvPr id="14" name="Text 12"/>
          <p:cNvSpPr/>
          <p:nvPr/>
        </p:nvSpPr>
        <p:spPr>
          <a:xfrm>
            <a:off x="7726680" y="2514600"/>
            <a:ext cx="3657600" cy="2834640"/>
          </a:xfrm>
          <a:prstGeom prst="rect">
            <a:avLst/>
          </a:prstGeom>
          <a:noFill/>
          <a:ln/>
        </p:spPr>
        <p:txBody>
          <a:bodyPr wrap="square" lIns="0" tIns="0" rIns="0" bIns="0" rtlCol="0" anchor="ctr"/>
          <a:lstStyle/>
          <a:p>
            <a:pPr indent="0" marL="0">
              <a:spcAft>
                <a:spcPts val="800"/>
              </a:spcAft>
              <a:buNone/>
            </a:pPr>
            <a:r>
              <a:rPr lang="en-US" sz="1300" b="1" spc="150" kern="0" dirty="0">
                <a:solidFill>
                  <a:srgbClr val="CADCFC"/>
                </a:solidFill>
                <a:latin typeface="Calibri" pitchFamily="34" charset="0"/>
                <a:ea typeface="Calibri" pitchFamily="34" charset="-122"/>
                <a:cs typeface="Calibri" pitchFamily="34" charset="-120"/>
              </a:rPr>
              <a:t>The vital addition</a:t>
            </a:r>
            <a:endParaRPr lang="en-US" sz="1300" dirty="0"/>
          </a:p>
          <a:p>
            <a:pPr indent="0" marL="0">
              <a:spcAft>
                <a:spcPts val="800"/>
              </a:spcAft>
              <a:buNone/>
            </a:pPr>
            <a:r>
              <a:rPr lang="en-US" sz="1600" b="1" dirty="0">
                <a:solidFill>
                  <a:srgbClr val="FFFFFF"/>
                </a:solidFill>
                <a:latin typeface="Courier New" pitchFamily="34" charset="0"/>
                <a:ea typeface="Courier New" pitchFamily="34" charset="-122"/>
                <a:cs typeface="Courier New" pitchFamily="34" charset="-120"/>
              </a:rPr>
              <a:t>odrl:EvaluationRecord</a:t>
            </a:r>
            <a:endParaRPr lang="en-US" sz="1300" dirty="0"/>
          </a:p>
          <a:p>
            <a:pPr indent="0" marL="0">
              <a:spcAft>
                <a:spcPts val="800"/>
              </a:spcAft>
              <a:buNone/>
            </a:pPr>
            <a:r>
              <a:rPr lang="en-US" sz="1300" dirty="0">
                <a:solidFill>
                  <a:srgbClr val="CADCFC"/>
                </a:solidFill>
                <a:latin typeface="Courier New" pitchFamily="34" charset="0"/>
                <a:ea typeface="Courier New" pitchFamily="34" charset="-122"/>
                <a:cs typeface="Courier New" pitchFamily="34" charset="-120"/>
              </a:rPr>
              <a:t>⊑ prov:Entity</a:t>
            </a:r>
            <a:endParaRPr lang="en-US" sz="1300" dirty="0"/>
          </a:p>
          <a:p>
            <a:pPr indent="0" marL="0">
              <a:spcAft>
                <a:spcPts val="800"/>
              </a:spcAft>
              <a:buNone/>
            </a:pPr>
            <a:r>
              <a:rPr lang="en-US" sz="1250" dirty="0">
                <a:solidFill>
                  <a:srgbClr val="FFFFFF"/>
                </a:solidFill>
                <a:latin typeface="Calibri" pitchFamily="34" charset="0"/>
                <a:ea typeface="Calibri" pitchFamily="34" charset="-122"/>
                <a:cs typeface="Calibri" pitchFamily="34" charset="-120"/>
              </a:rPr>
              <a:t>Records every Policy Decision Point execution — unifying design-time metadata (where the rule came from) with runtime decision provenance (when and why it was applied to a specific request).</a:t>
            </a:r>
            <a:endParaRPr lang="en-US" sz="1300" dirty="0"/>
          </a:p>
        </p:txBody>
      </p:sp>
      <p:sp>
        <p:nvSpPr>
          <p:cNvPr id="15" name="Text 13"/>
          <p:cNvSpPr/>
          <p:nvPr/>
        </p:nvSpPr>
        <p:spPr>
          <a:xfrm>
            <a:off x="502920" y="5806440"/>
            <a:ext cx="11155680" cy="365760"/>
          </a:xfrm>
          <a:prstGeom prst="rect">
            <a:avLst/>
          </a:prstGeom>
          <a:noFill/>
          <a:ln/>
        </p:spPr>
        <p:txBody>
          <a:bodyPr wrap="square" lIns="0" tIns="0" rIns="0" bIns="0" rtlCol="0" anchor="ctr"/>
          <a:lstStyle/>
          <a:p>
            <a:pPr indent="0" marL="0">
              <a:buNone/>
            </a:pPr>
            <a:r>
              <a:rPr lang="en-US" sz="1400" i="1" dirty="0">
                <a:solidFill>
                  <a:srgbClr val="1E2761"/>
                </a:solidFill>
                <a:latin typeface="Calibri" pitchFamily="34" charset="0"/>
                <a:ea typeface="Calibri" pitchFamily="34" charset="-122"/>
                <a:cs typeface="Calibri" pitchFamily="34" charset="-120"/>
              </a:rPr>
              <a:t>Result: an unbroken, machine-readable chain of evidence from statute to individual decision.</a:t>
            </a:r>
            <a:endParaRPr lang="en-US" sz="1400" dirty="0"/>
          </a:p>
        </p:txBody>
      </p:sp>
      <p:sp>
        <p:nvSpPr>
          <p:cNvPr id="16" name="Text 14"/>
          <p:cNvSpPr/>
          <p:nvPr/>
        </p:nvSpPr>
        <p:spPr>
          <a:xfrm>
            <a:off x="502920" y="6473952"/>
            <a:ext cx="6400800" cy="274320"/>
          </a:xfrm>
          <a:prstGeom prst="rect">
            <a:avLst/>
          </a:prstGeom>
          <a:noFill/>
          <a:ln/>
        </p:spPr>
        <p:txBody>
          <a:bodyPr wrap="square" lIns="0" tIns="0" rIns="0" bIns="0" rtlCol="0" anchor="ctr"/>
          <a:lstStyle/>
          <a:p>
            <a:pPr indent="0" marL="0">
              <a:buNone/>
            </a:pPr>
            <a:r>
              <a:rPr lang="en-US" sz="900" dirty="0">
                <a:solidFill>
                  <a:srgbClr val="5A6178"/>
                </a:solidFill>
                <a:latin typeface="Calibri" pitchFamily="34" charset="0"/>
                <a:ea typeface="Calibri" pitchFamily="34" charset="-122"/>
                <a:cs typeface="Calibri" pitchFamily="34" charset="-120"/>
              </a:rPr>
              <a:t>Beyond Permit and Prohibit  ·  W3C ODRL Workshop 2026</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ODRL-PROV IN PRACTICE</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Statute → rule → decision, in one traceable graph</a:t>
            </a:r>
            <a:endParaRPr lang="en-US" sz="3300" dirty="0"/>
          </a:p>
        </p:txBody>
      </p:sp>
      <p:sp>
        <p:nvSpPr>
          <p:cNvPr id="4" name="Shape 2"/>
          <p:cNvSpPr/>
          <p:nvPr/>
        </p:nvSpPr>
        <p:spPr>
          <a:xfrm>
            <a:off x="685800" y="1691640"/>
            <a:ext cx="7863840" cy="4572000"/>
          </a:xfrm>
          <a:prstGeom prst="roundRect">
            <a:avLst>
              <a:gd name="adj" fmla="val 2000"/>
            </a:avLst>
          </a:prstGeom>
          <a:solidFill>
            <a:srgbClr val="141A45"/>
          </a:solidFill>
          <a:ln w="12700">
            <a:solidFill>
              <a:srgbClr val="3D4B8F"/>
            </a:solidFill>
            <a:prstDash val="solid"/>
          </a:ln>
        </p:spPr>
      </p:sp>
      <p:sp>
        <p:nvSpPr>
          <p:cNvPr id="5" name="Text 3"/>
          <p:cNvSpPr/>
          <p:nvPr/>
        </p:nvSpPr>
        <p:spPr>
          <a:xfrm>
            <a:off x="960120" y="1920240"/>
            <a:ext cx="7315200" cy="4114800"/>
          </a:xfrm>
          <a:prstGeom prst="rect">
            <a:avLst/>
          </a:prstGeom>
          <a:noFill/>
          <a:ln/>
        </p:spPr>
        <p:txBody>
          <a:bodyPr wrap="square" lIns="0" tIns="0" rIns="0" bIns="0" rtlCol="0" anchor="ctr"/>
          <a:lstStyle/>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ex:RulePolicy123  a  odrl:Policy, prov:Entity ;</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prov:wasDerivedFrom   legis:GDPR-Art-44 ;</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prov:wasGeneratedBy   ex:DerivationActivity-789 ;</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prov:wasAttributedTo  ex:DataArchitectAlice ;</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prov:hadPrimarySource &lt;https://eur-lex.europa.eu/eli/reg/2016/679&gt; ;</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pav:version "1.2.0" ;  pav:previousVersion ex:RulePolicy122 .</a:t>
            </a:r>
            <a:endParaRPr lang="en-US" sz="1150" dirty="0"/>
          </a:p>
          <a:p>
            <a:pPr indent="0" marL="0">
              <a:lnSpc>
                <a:spcPct val="112000"/>
              </a:lnSpc>
              <a:buNone/>
            </a:pP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ex:DerivationActivity-789  a  prov:Activity ;</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prov:startedAtTime "2026-04-30T08:42:00Z"^^xsd:dateTime ;</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prov:wasAssociatedWith ex:LegislationConverter-v2.3 .</a:t>
            </a:r>
            <a:endParaRPr lang="en-US" sz="1150" dirty="0"/>
          </a:p>
          <a:p>
            <a:pPr indent="0" marL="0">
              <a:lnSpc>
                <a:spcPct val="112000"/>
              </a:lnSpc>
              <a:buNone/>
            </a:pP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Runtime evaluation provenance</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ex:Decision-2026-05-12-1407  a  prov:Entity, odrl:EvaluationRecord ;</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prov:wasGeneratedBy   ex:Evaluation-2026-05-12-1407 ;</a:t>
            </a:r>
            <a:endParaRPr lang="en-US" sz="1150" dirty="0"/>
          </a:p>
          <a:p>
            <a:pPr indent="0" marL="0">
              <a:lnSpc>
                <a:spcPct val="112000"/>
              </a:lnSpc>
              <a:buNone/>
            </a:pPr>
            <a:r>
              <a:rPr lang="en-US" sz="1150" dirty="0">
                <a:solidFill>
                  <a:srgbClr val="CADCFC"/>
                </a:solidFill>
                <a:latin typeface="Courier New" pitchFamily="34" charset="0"/>
                <a:ea typeface="Courier New" pitchFamily="34" charset="-122"/>
                <a:cs typeface="Courier New" pitchFamily="34" charset="-120"/>
              </a:rPr>
              <a:t>    prov:wasInfluencedBy  ex:RulePolicy123 .</a:t>
            </a:r>
            <a:endParaRPr lang="en-US" sz="1150" dirty="0"/>
          </a:p>
        </p:txBody>
      </p:sp>
      <p:sp>
        <p:nvSpPr>
          <p:cNvPr id="6" name="Text 4"/>
          <p:cNvSpPr/>
          <p:nvPr/>
        </p:nvSpPr>
        <p:spPr>
          <a:xfrm>
            <a:off x="8915400" y="1828800"/>
            <a:ext cx="2743200" cy="320040"/>
          </a:xfrm>
          <a:prstGeom prst="rect">
            <a:avLst/>
          </a:prstGeom>
          <a:noFill/>
          <a:ln/>
        </p:spPr>
        <p:txBody>
          <a:bodyPr wrap="square" lIns="0" tIns="0" rIns="0" bIns="0" rtlCol="0" anchor="ctr"/>
          <a:lstStyle/>
          <a:p>
            <a:pPr indent="0" marL="0">
              <a:buNone/>
            </a:pPr>
            <a:r>
              <a:rPr lang="en-US" sz="1350" b="1" dirty="0">
                <a:solidFill>
                  <a:srgbClr val="CADCFC"/>
                </a:solidFill>
                <a:latin typeface="Calibri" pitchFamily="34" charset="0"/>
                <a:ea typeface="Calibri" pitchFamily="34" charset="-122"/>
                <a:cs typeface="Calibri" pitchFamily="34" charset="-120"/>
              </a:rPr>
              <a:t>What this delivers</a:t>
            </a:r>
            <a:endParaRPr lang="en-US" sz="1350" dirty="0"/>
          </a:p>
        </p:txBody>
      </p:sp>
      <p:sp>
        <p:nvSpPr>
          <p:cNvPr id="7" name="Text 5"/>
          <p:cNvSpPr/>
          <p:nvPr/>
        </p:nvSpPr>
        <p:spPr>
          <a:xfrm>
            <a:off x="8915400" y="2240280"/>
            <a:ext cx="2788920" cy="2926080"/>
          </a:xfrm>
          <a:prstGeom prst="rect">
            <a:avLst/>
          </a:prstGeom>
          <a:noFill/>
          <a:ln/>
        </p:spPr>
        <p:txBody>
          <a:bodyPr wrap="square" lIns="0" tIns="0" rIns="0" bIns="0" rtlCol="0" anchor="ctr"/>
          <a:lstStyle/>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Rule-to-source traceability at article level</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Agent attribution &amp; derivation timestamps</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Strict versioning of policy change</a:t>
            </a:r>
            <a:endParaRPr lang="en-US" sz="1250" dirty="0"/>
          </a:p>
          <a:p>
            <a:pPr marL="342900" indent="-342900">
              <a:spcAft>
                <a:spcPts val="1000"/>
              </a:spcAft>
              <a:buSzPct val="100000"/>
              <a:buChar char="•"/>
            </a:pPr>
            <a:r>
              <a:rPr lang="en-US" sz="1250" dirty="0">
                <a:solidFill>
                  <a:srgbClr val="FFFFFF"/>
                </a:solidFill>
                <a:latin typeface="Calibri" pitchFamily="34" charset="0"/>
                <a:ea typeface="Calibri" pitchFamily="34" charset="-122"/>
                <a:cs typeface="Calibri" pitchFamily="34" charset="-120"/>
              </a:rPr>
              <a:t>Runtime decision provenance</a:t>
            </a:r>
            <a:endParaRPr lang="en-US" sz="1250" dirty="0"/>
          </a:p>
        </p:txBody>
      </p:sp>
      <p:sp>
        <p:nvSpPr>
          <p:cNvPr id="8" name="Text 6"/>
          <p:cNvSpPr/>
          <p:nvPr/>
        </p:nvSpPr>
        <p:spPr>
          <a:xfrm>
            <a:off x="8915400" y="5120640"/>
            <a:ext cx="2788920" cy="914400"/>
          </a:xfrm>
          <a:prstGeom prst="rect">
            <a:avLst/>
          </a:prstGeom>
          <a:noFill/>
          <a:ln/>
        </p:spPr>
        <p:txBody>
          <a:bodyPr wrap="square" lIns="0" tIns="0" rIns="0" bIns="0"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The unbroken chain of evidence legal auditors require.</a:t>
            </a:r>
            <a:endParaRPr lang="en-US" sz="12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indent="0" marL="0">
              <a:buNone/>
            </a:pPr>
            <a:r>
              <a:rPr lang="en-US" sz="900" dirty="0">
                <a:solidFill>
                  <a:srgbClr val="5A6178"/>
                </a:solidFill>
                <a:latin typeface="Calibri" pitchFamily="34" charset="0"/>
                <a:ea typeface="Calibri" pitchFamily="34" charset="-122"/>
                <a:cs typeface="Calibri" pitchFamily="34" charset="-120"/>
              </a:rPr>
              <a:t>Beyond Permit and Prohibit  ·  W3C ODRL Workshop 2026</a:t>
            </a:r>
            <a:endParaRPr lang="en-US" sz="900" dirty="0"/>
          </a:p>
        </p:txBody>
      </p:sp>
      <p:sp>
        <p:nvSpPr>
          <p:cNvPr id="10" name="Text 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5A6178"/>
                </a:solidFill>
                <a:latin typeface="Calibri" pitchFamily="34" charset="0"/>
                <a:ea typeface="Calibri" pitchFamily="34" charset="-122"/>
                <a:cs typeface="Calibri" pitchFamily="34" charset="-120"/>
              </a:rPr>
              <a:t>PROFILE 2</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odrl-cr — conflict resolution as an extensible class</a:t>
            </a:r>
            <a:endParaRPr lang="en-US" sz="3300" dirty="0"/>
          </a:p>
        </p:txBody>
      </p:sp>
      <p:sp>
        <p:nvSpPr>
          <p:cNvPr id="4" name="Text 2"/>
          <p:cNvSpPr/>
          <p:nvPr/>
        </p:nvSpPr>
        <p:spPr>
          <a:xfrm>
            <a:off x="502920" y="1627632"/>
            <a:ext cx="11155680" cy="41148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Core move:  </a:t>
            </a:r>
            <a:pPr indent="0" marL="0">
              <a:buNone/>
            </a:pPr>
            <a:r>
              <a:rPr lang="en-US" sz="1450" dirty="0">
                <a:solidFill>
                  <a:srgbClr val="222639"/>
                </a:solidFill>
                <a:latin typeface="Calibri" pitchFamily="34" charset="0"/>
                <a:ea typeface="Calibri" pitchFamily="34" charset="-122"/>
                <a:cs typeface="Calibri" pitchFamily="34" charset="-120"/>
              </a:rPr>
              <a:t>odrl:ConflictTerm generalised from a closed 3-value enumeration into an extensible class of strategies</a:t>
            </a:r>
            <a:endParaRPr lang="en-US" sz="1450" dirty="0"/>
          </a:p>
        </p:txBody>
      </p:sp>
      <p:sp>
        <p:nvSpPr>
          <p:cNvPr id="5" name="Shape 3"/>
          <p:cNvSpPr/>
          <p:nvPr/>
        </p:nvSpPr>
        <p:spPr>
          <a:xfrm>
            <a:off x="502920" y="2240280"/>
            <a:ext cx="5486400" cy="2103120"/>
          </a:xfrm>
          <a:prstGeom prst="roundRect">
            <a:avLst>
              <a:gd name="adj" fmla="val 3478"/>
            </a:avLst>
          </a:prstGeom>
          <a:solidFill>
            <a:srgbClr val="F3F6FC"/>
          </a:solidFill>
          <a:ln w="9525">
            <a:solidFill>
              <a:srgbClr val="DDE4F2"/>
            </a:solidFill>
            <a:prstDash val="solid"/>
          </a:ln>
        </p:spPr>
      </p:sp>
      <p:sp>
        <p:nvSpPr>
          <p:cNvPr id="6" name="Text 4"/>
          <p:cNvSpPr/>
          <p:nvPr/>
        </p:nvSpPr>
        <p:spPr>
          <a:xfrm>
            <a:off x="777240" y="2468880"/>
            <a:ext cx="4937760" cy="1737360"/>
          </a:xfrm>
          <a:prstGeom prst="rect">
            <a:avLst/>
          </a:prstGeom>
          <a:noFill/>
          <a:ln/>
        </p:spPr>
        <p:txBody>
          <a:bodyPr wrap="square" lIns="0" tIns="0" rIns="0" bIns="0" rtlCol="0" anchor="ctr"/>
          <a:lstStyle/>
          <a:p>
            <a:pPr indent="0" marL="0">
              <a:spcAft>
                <a:spcPts val="700"/>
              </a:spcAft>
              <a:buNone/>
            </a:pPr>
            <a:r>
              <a:rPr lang="en-US" sz="1350" b="1" dirty="0">
                <a:solidFill>
                  <a:srgbClr val="1E2761"/>
                </a:solidFill>
                <a:latin typeface="Calibri" pitchFamily="34" charset="0"/>
                <a:ea typeface="Calibri" pitchFamily="34" charset="-122"/>
                <a:cs typeface="Calibri" pitchFamily="34" charset="-120"/>
              </a:rPr>
              <a:t>XACML-parity combining algorithms</a:t>
            </a:r>
            <a:endParaRPr lang="en-US" sz="1350" dirty="0"/>
          </a:p>
          <a:p>
            <a:pPr indent="0" marL="0">
              <a:spcAft>
                <a:spcPts val="700"/>
              </a:spcAft>
              <a:buNone/>
            </a:pPr>
            <a:r>
              <a:rPr lang="en-US" sz="1250" dirty="0">
                <a:solidFill>
                  <a:srgbClr val="222639"/>
                </a:solidFill>
                <a:latin typeface="Courier New" pitchFamily="34" charset="0"/>
                <a:ea typeface="Courier New" pitchFamily="34" charset="-122"/>
                <a:cs typeface="Courier New" pitchFamily="34" charset="-120"/>
              </a:rPr>
              <a:t>cr:DenyOverrides   cr:PermitOverrides</a:t>
            </a:r>
            <a:endParaRPr lang="en-US" sz="1350" dirty="0"/>
          </a:p>
          <a:p>
            <a:pPr indent="0" marL="0">
              <a:spcAft>
                <a:spcPts val="700"/>
              </a:spcAft>
              <a:buNone/>
            </a:pPr>
            <a:r>
              <a:rPr lang="en-US" sz="1250" dirty="0">
                <a:solidFill>
                  <a:srgbClr val="222639"/>
                </a:solidFill>
                <a:latin typeface="Courier New" pitchFamily="34" charset="0"/>
                <a:ea typeface="Courier New" pitchFamily="34" charset="-122"/>
                <a:cs typeface="Courier New" pitchFamily="34" charset="-120"/>
              </a:rPr>
              <a:t>cr:FirstApplicable   cr:OnlyOneApplicable</a:t>
            </a:r>
            <a:endParaRPr lang="en-US" sz="1350" dirty="0"/>
          </a:p>
          <a:p>
            <a:pPr indent="0" marL="0">
              <a:spcAft>
                <a:spcPts val="700"/>
              </a:spcAft>
              <a:buNone/>
            </a:pPr>
            <a:r>
              <a:rPr lang="en-US" sz="1150" dirty="0">
                <a:solidFill>
                  <a:srgbClr val="5A6178"/>
                </a:solidFill>
                <a:latin typeface="Calibri" pitchFamily="34" charset="0"/>
                <a:ea typeface="Calibri" pitchFamily="34" charset="-122"/>
                <a:cs typeface="Calibri" pitchFamily="34" charset="-120"/>
              </a:rPr>
              <a:t>Mapped directly to the ODRL deontic vocabulary — parity with the industry-standard access-control language.</a:t>
            </a:r>
            <a:endParaRPr lang="en-US" sz="1350" dirty="0"/>
          </a:p>
        </p:txBody>
      </p:sp>
      <p:sp>
        <p:nvSpPr>
          <p:cNvPr id="7" name="Shape 5"/>
          <p:cNvSpPr/>
          <p:nvPr/>
        </p:nvSpPr>
        <p:spPr>
          <a:xfrm>
            <a:off x="6172200" y="2240280"/>
            <a:ext cx="5486400" cy="2103120"/>
          </a:xfrm>
          <a:prstGeom prst="roundRect">
            <a:avLst>
              <a:gd name="adj" fmla="val 3478"/>
            </a:avLst>
          </a:prstGeom>
          <a:solidFill>
            <a:srgbClr val="F3F6FC"/>
          </a:solidFill>
          <a:ln w="9525">
            <a:solidFill>
              <a:srgbClr val="DDE4F2"/>
            </a:solidFill>
            <a:prstDash val="solid"/>
          </a:ln>
        </p:spPr>
      </p:sp>
      <p:sp>
        <p:nvSpPr>
          <p:cNvPr id="8" name="Text 6"/>
          <p:cNvSpPr/>
          <p:nvPr/>
        </p:nvSpPr>
        <p:spPr>
          <a:xfrm>
            <a:off x="6446520" y="2468880"/>
            <a:ext cx="4937760" cy="1737360"/>
          </a:xfrm>
          <a:prstGeom prst="rect">
            <a:avLst/>
          </a:prstGeom>
          <a:noFill/>
          <a:ln/>
        </p:spPr>
        <p:txBody>
          <a:bodyPr wrap="square" lIns="0" tIns="0" rIns="0" bIns="0" rtlCol="0" anchor="ctr"/>
          <a:lstStyle/>
          <a:p>
            <a:pPr indent="0" marL="0">
              <a:spcAft>
                <a:spcPts val="700"/>
              </a:spcAft>
              <a:buNone/>
            </a:pPr>
            <a:r>
              <a:rPr lang="en-US" sz="1350" b="1" dirty="0">
                <a:solidFill>
                  <a:srgbClr val="1E2761"/>
                </a:solidFill>
                <a:latin typeface="Calibri" pitchFamily="34" charset="0"/>
                <a:ea typeface="Calibri" pitchFamily="34" charset="-122"/>
                <a:cs typeface="Calibri" pitchFamily="34" charset="-120"/>
              </a:rPr>
              <a:t>Weighted priorities</a:t>
            </a:r>
            <a:endParaRPr lang="en-US" sz="1350" dirty="0"/>
          </a:p>
          <a:p>
            <a:pPr indent="0" marL="0">
              <a:spcAft>
                <a:spcPts val="700"/>
              </a:spcAft>
              <a:buNone/>
            </a:pPr>
            <a:r>
              <a:rPr lang="en-US" sz="1250" dirty="0">
                <a:solidFill>
                  <a:srgbClr val="222639"/>
                </a:solidFill>
                <a:latin typeface="Courier New" pitchFamily="34" charset="0"/>
                <a:ea typeface="Courier New" pitchFamily="34" charset="-122"/>
                <a:cs typeface="Courier New" pitchFamily="34" charset="-120"/>
              </a:rPr>
              <a:t>cr:PriorityWeighted  +  cr:hasWeight (xsd:decimal)</a:t>
            </a:r>
            <a:endParaRPr lang="en-US" sz="1350" dirty="0"/>
          </a:p>
          <a:p>
            <a:pPr indent="0" marL="0">
              <a:spcAft>
                <a:spcPts val="700"/>
              </a:spcAft>
              <a:buNone/>
            </a:pPr>
            <a:r>
              <a:rPr lang="en-US" sz="1150" dirty="0">
                <a:solidFill>
                  <a:srgbClr val="5A6178"/>
                </a:solidFill>
                <a:latin typeface="Calibri" pitchFamily="34" charset="0"/>
                <a:ea typeface="Calibri" pitchFamily="34" charset="-122"/>
                <a:cs typeface="Calibri" pitchFamily="34" charset="-120"/>
              </a:rPr>
              <a:t>A numeric weight on each Rule gives clear, deterministic ordering — straightforward priority-based resolution for jurisdictional or specificity precedence.</a:t>
            </a:r>
            <a:endParaRPr lang="en-US" sz="1350" dirty="0"/>
          </a:p>
        </p:txBody>
      </p:sp>
      <p:sp>
        <p:nvSpPr>
          <p:cNvPr id="9" name="Shape 7"/>
          <p:cNvSpPr/>
          <p:nvPr/>
        </p:nvSpPr>
        <p:spPr>
          <a:xfrm>
            <a:off x="502920" y="4572000"/>
            <a:ext cx="11155680" cy="1417320"/>
          </a:xfrm>
          <a:prstGeom prst="roundRect">
            <a:avLst>
              <a:gd name="adj" fmla="val 6452"/>
            </a:avLst>
          </a:prstGeom>
          <a:solidFill>
            <a:srgbClr val="1E2761"/>
          </a:solidFill>
          <a:ln/>
        </p:spPr>
      </p:sp>
      <p:sp>
        <p:nvSpPr>
          <p:cNvPr id="10" name="Text 8"/>
          <p:cNvSpPr/>
          <p:nvPr/>
        </p:nvSpPr>
        <p:spPr>
          <a:xfrm>
            <a:off x="868680" y="4846320"/>
            <a:ext cx="10424160" cy="914400"/>
          </a:xfrm>
          <a:prstGeom prst="rect">
            <a:avLst/>
          </a:prstGeom>
          <a:noFill/>
          <a:ln/>
        </p:spPr>
        <p:txBody>
          <a:bodyPr wrap="square" lIns="0" tIns="0" rIns="0" bIns="0" rtlCol="0" anchor="ctr"/>
          <a:lstStyle/>
          <a:p>
            <a:pPr indent="0" marL="0">
              <a:spcAft>
                <a:spcPts val="600"/>
              </a:spcAft>
              <a:buNone/>
            </a:pPr>
            <a:r>
              <a:rPr lang="en-US" sz="1450" dirty="0">
                <a:solidFill>
                  <a:srgbClr val="FFFFFF"/>
                </a:solidFill>
                <a:latin typeface="Calibri" pitchFamily="34" charset="0"/>
                <a:ea typeface="Calibri" pitchFamily="34" charset="-122"/>
                <a:cs typeface="Calibri" pitchFamily="34" charset="-120"/>
              </a:rPr>
              <a:t>Auditability is mandatory:  every strategy MUST emit a  </a:t>
            </a:r>
            <a:pPr indent="0" marL="0">
              <a:spcAft>
                <a:spcPts val="600"/>
              </a:spcAft>
              <a:buNone/>
            </a:pPr>
            <a:r>
              <a:rPr lang="en-US" sz="1450" b="1" dirty="0">
                <a:solidFill>
                  <a:srgbClr val="CADCFC"/>
                </a:solidFill>
                <a:latin typeface="Courier New" pitchFamily="34" charset="0"/>
                <a:ea typeface="Courier New" pitchFamily="34" charset="-122"/>
                <a:cs typeface="Courier New" pitchFamily="34" charset="-120"/>
              </a:rPr>
              <a:t>cr:ResolutionReport</a:t>
            </a:r>
            <a:endParaRPr lang="en-US" sz="1450" dirty="0"/>
          </a:p>
          <a:p>
            <a:pPr indent="0" marL="0">
              <a:spcAft>
                <a:spcPts val="600"/>
              </a:spcAft>
              <a:buNone/>
            </a:pPr>
            <a:r>
              <a:rPr lang="en-US" sz="1300" dirty="0">
                <a:solidFill>
                  <a:srgbClr val="CADCFC"/>
                </a:solidFill>
                <a:latin typeface="Calibri" pitchFamily="34" charset="0"/>
                <a:ea typeface="Calibri" pitchFamily="34" charset="-122"/>
                <a:cs typeface="Calibri" pitchFamily="34" charset="-120"/>
              </a:rPr>
              <a:t>carrying  cr:winningRule · cr:overriddenRules · cr:strategyApplied  —  aligned with the ODRL Compliance Report Model.</a:t>
            </a:r>
            <a:endParaRPr lang="en-US" sz="1450" dirty="0"/>
          </a:p>
        </p:txBody>
      </p:sp>
      <p:sp>
        <p:nvSpPr>
          <p:cNvPr id="11" name="Text 9"/>
          <p:cNvSpPr/>
          <p:nvPr/>
        </p:nvSpPr>
        <p:spPr>
          <a:xfrm>
            <a:off x="502920" y="6473952"/>
            <a:ext cx="6400800" cy="274320"/>
          </a:xfrm>
          <a:prstGeom prst="rect">
            <a:avLst/>
          </a:prstGeom>
          <a:noFill/>
          <a:ln/>
        </p:spPr>
        <p:txBody>
          <a:bodyPr wrap="square" lIns="0" tIns="0" rIns="0" bIns="0" rtlCol="0" anchor="ctr"/>
          <a:lstStyle/>
          <a:p>
            <a:pPr indent="0" marL="0">
              <a:buNone/>
            </a:pPr>
            <a:r>
              <a:rPr lang="en-US" sz="900" dirty="0">
                <a:solidFill>
                  <a:srgbClr val="5A6178"/>
                </a:solidFill>
                <a:latin typeface="Calibri" pitchFamily="34" charset="0"/>
                <a:ea typeface="Calibri" pitchFamily="34" charset="-122"/>
                <a:cs typeface="Calibri" pitchFamily="34" charset="-120"/>
              </a:rPr>
              <a:t>Beyond Permit and Prohibit  ·  W3C ODRL Workshop 2026</a:t>
            </a:r>
            <a:endParaRPr lang="en-US" sz="900" dirty="0"/>
          </a:p>
        </p:txBody>
      </p:sp>
      <p:sp>
        <p:nvSpPr>
          <p:cNvPr id="12" name="Text 1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5A6178"/>
                </a:solidFill>
                <a:latin typeface="Calibri" pitchFamily="34" charset="0"/>
                <a:ea typeface="Calibri" pitchFamily="34" charset="-122"/>
                <a:cs typeface="Calibri" pitchFamily="34" charset="-120"/>
              </a:rPr>
              <a:t>WHY EXTEND, NOT REPLACE</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Lessons from Rei and KAoS</a:t>
            </a:r>
            <a:endParaRPr lang="en-US" sz="3300" dirty="0"/>
          </a:p>
        </p:txBody>
      </p:sp>
      <p:sp>
        <p:nvSpPr>
          <p:cNvPr id="4" name="Shape 2"/>
          <p:cNvSpPr/>
          <p:nvPr/>
        </p:nvSpPr>
        <p:spPr>
          <a:xfrm>
            <a:off x="502920" y="1645920"/>
            <a:ext cx="5349240" cy="3200400"/>
          </a:xfrm>
          <a:prstGeom prst="roundRect">
            <a:avLst>
              <a:gd name="adj" fmla="val 2857"/>
            </a:avLst>
          </a:prstGeom>
          <a:solidFill>
            <a:srgbClr val="F3F6FC"/>
          </a:solidFill>
          <a:ln w="9525">
            <a:solidFill>
              <a:srgbClr val="DDE4F2"/>
            </a:solidFill>
            <a:prstDash val="solid"/>
          </a:ln>
        </p:spPr>
      </p:sp>
      <p:sp>
        <p:nvSpPr>
          <p:cNvPr id="5" name="Text 3"/>
          <p:cNvSpPr/>
          <p:nvPr/>
        </p:nvSpPr>
        <p:spPr>
          <a:xfrm>
            <a:off x="777240" y="1828800"/>
            <a:ext cx="480060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Rei / KAoS (2003–08)</a:t>
            </a:r>
            <a:endParaRPr lang="en-US" sz="1600" dirty="0"/>
          </a:p>
        </p:txBody>
      </p:sp>
      <p:sp>
        <p:nvSpPr>
          <p:cNvPr id="6" name="Text 4"/>
          <p:cNvSpPr/>
          <p:nvPr/>
        </p:nvSpPr>
        <p:spPr>
          <a:xfrm>
            <a:off x="822960" y="2286000"/>
            <a:ext cx="4754880" cy="237744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2C6E49"/>
                </a:solidFill>
                <a:latin typeface="Calibri" pitchFamily="34" charset="0"/>
                <a:ea typeface="Calibri" pitchFamily="34" charset="-122"/>
                <a:cs typeface="Calibri" pitchFamily="34" charset="-120"/>
              </a:rPr>
              <a:t>Semantic-web native (RDF-S / OWL-DL)</a:t>
            </a:r>
            <a:endParaRPr lang="en-US" sz="1250" dirty="0"/>
          </a:p>
          <a:p>
            <a:pPr marL="342900" indent="-342900">
              <a:spcAft>
                <a:spcPts val="700"/>
              </a:spcAft>
              <a:buSzPct val="100000"/>
              <a:buChar char="✓"/>
            </a:pPr>
            <a:r>
              <a:rPr lang="en-US" sz="1250" dirty="0">
                <a:solidFill>
                  <a:srgbClr val="2C6E49"/>
                </a:solidFill>
                <a:latin typeface="Calibri" pitchFamily="34" charset="0"/>
                <a:ea typeface="Calibri" pitchFamily="34" charset="-122"/>
                <a:cs typeface="Calibri" pitchFamily="34" charset="-120"/>
              </a:rPr>
              <a:t>Significantly richer conflict handling than ODRL 2.2</a:t>
            </a:r>
            <a:endParaRPr lang="en-US" sz="1250" dirty="0"/>
          </a:p>
          <a:p>
            <a:pPr marL="342900" indent="-342900">
              <a:spcAft>
                <a:spcPts val="700"/>
              </a:spcAft>
              <a:buSzPct val="100000"/>
              <a:buChar char="✓"/>
            </a:pPr>
            <a:r>
              <a:rPr lang="en-US" sz="1250" dirty="0">
                <a:solidFill>
                  <a:srgbClr val="2C6E49"/>
                </a:solidFill>
                <a:latin typeface="Calibri" pitchFamily="34" charset="0"/>
                <a:ea typeface="Calibri" pitchFamily="34" charset="-122"/>
                <a:cs typeface="Calibri" pitchFamily="34" charset="-120"/>
              </a:rPr>
              <a:t>KAoS: automated “policy deconfliction” via a description-logic theorem prover</a:t>
            </a:r>
            <a:endParaRPr lang="en-US" sz="1250" dirty="0"/>
          </a:p>
          <a:p>
            <a:pPr marL="342900" indent="-342900">
              <a:spcAft>
                <a:spcPts val="700"/>
              </a:spcAft>
              <a:buSzPct val="100000"/>
              <a:buChar char="✗"/>
            </a:pPr>
            <a:r>
              <a:rPr lang="en-US" sz="1250" dirty="0">
                <a:solidFill>
                  <a:srgbClr val="B23A48"/>
                </a:solidFill>
                <a:latin typeface="Calibri" pitchFamily="34" charset="0"/>
                <a:ea typeface="Calibri" pitchFamily="34" charset="-122"/>
                <a:cs typeface="Calibri" pitchFamily="34" charset="-120"/>
              </a:rPr>
              <a:t>No native rule provenance</a:t>
            </a:r>
            <a:endParaRPr lang="en-US" sz="1250" dirty="0"/>
          </a:p>
          <a:p>
            <a:pPr marL="342900" indent="-342900">
              <a:spcAft>
                <a:spcPts val="700"/>
              </a:spcAft>
              <a:buSzPct val="100000"/>
              <a:buChar char="✗"/>
            </a:pPr>
            <a:r>
              <a:rPr lang="en-US" sz="1250" dirty="0">
                <a:solidFill>
                  <a:srgbClr val="B23A48"/>
                </a:solidFill>
                <a:latin typeface="Calibri" pitchFamily="34" charset="0"/>
                <a:ea typeface="Calibri" pitchFamily="34" charset="-122"/>
                <a:cs typeface="Calibri" pitchFamily="34" charset="-120"/>
              </a:rPr>
              <a:t>Never approached ODRL's industry adoption</a:t>
            </a:r>
            <a:endParaRPr lang="en-US" sz="1250" dirty="0"/>
          </a:p>
        </p:txBody>
      </p:sp>
      <p:sp>
        <p:nvSpPr>
          <p:cNvPr id="7" name="Shape 5"/>
          <p:cNvSpPr/>
          <p:nvPr/>
        </p:nvSpPr>
        <p:spPr>
          <a:xfrm>
            <a:off x="6309360" y="1645920"/>
            <a:ext cx="5349240" cy="3200400"/>
          </a:xfrm>
          <a:prstGeom prst="roundRect">
            <a:avLst>
              <a:gd name="adj" fmla="val 2857"/>
            </a:avLst>
          </a:prstGeom>
          <a:solidFill>
            <a:srgbClr val="F3F6FC"/>
          </a:solidFill>
          <a:ln w="9525">
            <a:solidFill>
              <a:srgbClr val="DDE4F2"/>
            </a:solidFill>
            <a:prstDash val="solid"/>
          </a:ln>
        </p:spPr>
      </p:sp>
      <p:sp>
        <p:nvSpPr>
          <p:cNvPr id="8" name="Text 6"/>
          <p:cNvSpPr/>
          <p:nvPr/>
        </p:nvSpPr>
        <p:spPr>
          <a:xfrm>
            <a:off x="6583680" y="1828800"/>
            <a:ext cx="480060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ODRL 2.2 (today)</a:t>
            </a:r>
            <a:endParaRPr lang="en-US" sz="1600" dirty="0"/>
          </a:p>
        </p:txBody>
      </p:sp>
      <p:sp>
        <p:nvSpPr>
          <p:cNvPr id="9" name="Text 7"/>
          <p:cNvSpPr/>
          <p:nvPr/>
        </p:nvSpPr>
        <p:spPr>
          <a:xfrm>
            <a:off x="6629400" y="2286000"/>
            <a:ext cx="4754880" cy="237744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2C6E49"/>
                </a:solidFill>
                <a:latin typeface="Calibri" pitchFamily="34" charset="0"/>
                <a:ea typeface="Calibri" pitchFamily="34" charset="-122"/>
                <a:cs typeface="Calibri" pitchFamily="34" charset="-120"/>
              </a:rPr>
              <a:t>Massive, growing industry adoption</a:t>
            </a:r>
            <a:endParaRPr lang="en-US" sz="1250" dirty="0"/>
          </a:p>
          <a:p>
            <a:pPr marL="342900" indent="-342900">
              <a:spcAft>
                <a:spcPts val="700"/>
              </a:spcAft>
              <a:buSzPct val="100000"/>
              <a:buChar char="✓"/>
            </a:pPr>
            <a:r>
              <a:rPr lang="en-US" sz="1250" dirty="0">
                <a:solidFill>
                  <a:srgbClr val="2C6E49"/>
                </a:solidFill>
                <a:latin typeface="Calibri" pitchFamily="34" charset="0"/>
                <a:ea typeface="Calibri" pitchFamily="34" charset="-122"/>
                <a:cs typeface="Calibri" pitchFamily="34" charset="-120"/>
              </a:rPr>
              <a:t>Simple core; easy JSON-LD / Turtle serialisation</a:t>
            </a:r>
            <a:endParaRPr lang="en-US" sz="1250" dirty="0"/>
          </a:p>
          <a:p>
            <a:pPr marL="342900" indent="-342900">
              <a:spcAft>
                <a:spcPts val="700"/>
              </a:spcAft>
              <a:buSzPct val="100000"/>
              <a:buChar char="✓"/>
            </a:pPr>
            <a:r>
              <a:rPr lang="en-US" sz="1250" dirty="0">
                <a:solidFill>
                  <a:srgbClr val="2C6E49"/>
                </a:solidFill>
                <a:latin typeface="Calibri" pitchFamily="34" charset="0"/>
                <a:ea typeface="Calibri" pitchFamily="34" charset="-122"/>
                <a:cs typeface="Calibri" pitchFamily="34" charset="-120"/>
              </a:rPr>
              <a:t>Rich tooling ecosystem</a:t>
            </a:r>
            <a:endParaRPr lang="en-US" sz="1250" dirty="0"/>
          </a:p>
          <a:p>
            <a:pPr marL="342900" indent="-342900">
              <a:spcAft>
                <a:spcPts val="700"/>
              </a:spcAft>
              <a:buSzPct val="100000"/>
              <a:buChar char="✗"/>
            </a:pPr>
            <a:r>
              <a:rPr lang="en-US" sz="1250" dirty="0">
                <a:solidFill>
                  <a:srgbClr val="B23A48"/>
                </a:solidFill>
                <a:latin typeface="Calibri" pitchFamily="34" charset="0"/>
                <a:ea typeface="Calibri" pitchFamily="34" charset="-122"/>
                <a:cs typeface="Calibri" pitchFamily="34" charset="-120"/>
              </a:rPr>
              <a:t>Three-value conflict handling</a:t>
            </a:r>
            <a:endParaRPr lang="en-US" sz="1250" dirty="0"/>
          </a:p>
          <a:p>
            <a:pPr marL="342900" indent="-342900">
              <a:spcAft>
                <a:spcPts val="700"/>
              </a:spcAft>
              <a:buSzPct val="100000"/>
              <a:buChar char="✗"/>
            </a:pPr>
            <a:r>
              <a:rPr lang="en-US" sz="1250" dirty="0">
                <a:solidFill>
                  <a:srgbClr val="B23A48"/>
                </a:solidFill>
                <a:latin typeface="Calibri" pitchFamily="34" charset="0"/>
                <a:ea typeface="Calibri" pitchFamily="34" charset="-122"/>
                <a:cs typeface="Calibri" pitchFamily="34" charset="-120"/>
              </a:rPr>
              <a:t>No provenance model</a:t>
            </a:r>
            <a:endParaRPr lang="en-US" sz="1250" dirty="0"/>
          </a:p>
        </p:txBody>
      </p:sp>
      <p:sp>
        <p:nvSpPr>
          <p:cNvPr id="10" name="Text 8"/>
          <p:cNvSpPr/>
          <p:nvPr/>
        </p:nvSpPr>
        <p:spPr>
          <a:xfrm>
            <a:off x="502920" y="5120640"/>
            <a:ext cx="11155680" cy="77724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The optimal path: fold the defeasible-logic strengths of Rei and KAoS, and the metadata model of LegalRuleML, into ODRL via profiles — keeping the ecosystem, upgrading the inferential capacity.</a:t>
            </a:r>
            <a:endParaRPr lang="en-US" sz="1500" dirty="0"/>
          </a:p>
        </p:txBody>
      </p:sp>
      <p:sp>
        <p:nvSpPr>
          <p:cNvPr id="11" name="Text 9"/>
          <p:cNvSpPr/>
          <p:nvPr/>
        </p:nvSpPr>
        <p:spPr>
          <a:xfrm>
            <a:off x="502920" y="6473952"/>
            <a:ext cx="6400800" cy="274320"/>
          </a:xfrm>
          <a:prstGeom prst="rect">
            <a:avLst/>
          </a:prstGeom>
          <a:noFill/>
          <a:ln/>
        </p:spPr>
        <p:txBody>
          <a:bodyPr wrap="square" lIns="0" tIns="0" rIns="0" bIns="0" rtlCol="0" anchor="ctr"/>
          <a:lstStyle/>
          <a:p>
            <a:pPr indent="0" marL="0">
              <a:buNone/>
            </a:pPr>
            <a:r>
              <a:rPr lang="en-US" sz="900" dirty="0">
                <a:solidFill>
                  <a:srgbClr val="5A6178"/>
                </a:solidFill>
                <a:latin typeface="Calibri" pitchFamily="34" charset="0"/>
                <a:ea typeface="Calibri" pitchFamily="34" charset="-122"/>
                <a:cs typeface="Calibri" pitchFamily="34" charset="-120"/>
              </a:rPr>
              <a:t>Beyond Permit and Prohibit  ·  W3C ODRL Workshop 2026</a:t>
            </a:r>
            <a:endParaRPr lang="en-US" sz="900" dirty="0"/>
          </a:p>
        </p:txBody>
      </p:sp>
      <p:sp>
        <p:nvSpPr>
          <p:cNvPr id="12" name="Text 1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5A61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384048"/>
            <a:ext cx="11155680" cy="292608"/>
          </a:xfrm>
          <a:prstGeom prst="rect">
            <a:avLst/>
          </a:prstGeom>
          <a:noFill/>
          <a:ln/>
        </p:spPr>
        <p:txBody>
          <a:bodyPr wrap="square" lIns="0" tIns="0" rIns="0" bIns="0" rtlCol="0" anchor="ctr"/>
          <a:lstStyle/>
          <a:p>
            <a:pPr indent="0" marL="0">
              <a:buNone/>
            </a:pPr>
            <a:r>
              <a:rPr lang="en-US" sz="1200" b="1" spc="200" kern="0" dirty="0">
                <a:solidFill>
                  <a:srgbClr val="CADCFC"/>
                </a:solidFill>
                <a:latin typeface="Calibri" pitchFamily="34" charset="0"/>
                <a:ea typeface="Calibri" pitchFamily="34" charset="-122"/>
                <a:cs typeface="Calibri" pitchFamily="34" charset="-120"/>
              </a:rPr>
              <a:t>CONCLUSION &amp; STANDARDISATION</a:t>
            </a:r>
            <a:endParaRPr lang="en-US" sz="1200" dirty="0"/>
          </a:p>
        </p:txBody>
      </p:sp>
      <p:sp>
        <p:nvSpPr>
          <p:cNvPr id="3" name="Text 1"/>
          <p:cNvSpPr/>
          <p:nvPr/>
        </p:nvSpPr>
        <p:spPr>
          <a:xfrm>
            <a:off x="502920" y="658368"/>
            <a:ext cx="11155680" cy="77724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A roadmap for ODRL 3.0</a:t>
            </a:r>
            <a:endParaRPr lang="en-US" sz="3300" dirty="0"/>
          </a:p>
        </p:txBody>
      </p:sp>
      <p:sp>
        <p:nvSpPr>
          <p:cNvPr id="4" name="Text 2"/>
          <p:cNvSpPr/>
          <p:nvPr/>
        </p:nvSpPr>
        <p:spPr>
          <a:xfrm>
            <a:off x="685800" y="1691640"/>
            <a:ext cx="10789920" cy="10058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ODRL has transcended its DRM origins — but its normative semantics haven't scaled with its new, highly regulated domains. Without standard conflict resolution and provenance, essential regulatory logic gets hardcoded into external engines, destroying the interoperability the language was designed to provide.</a:t>
            </a:r>
            <a:endParaRPr lang="en-US" sz="1600" dirty="0"/>
          </a:p>
        </p:txBody>
      </p:sp>
      <p:sp>
        <p:nvSpPr>
          <p:cNvPr id="5" name="Shape 3"/>
          <p:cNvSpPr/>
          <p:nvPr/>
        </p:nvSpPr>
        <p:spPr>
          <a:xfrm>
            <a:off x="685800" y="3063240"/>
            <a:ext cx="3429000" cy="1920240"/>
          </a:xfrm>
          <a:prstGeom prst="roundRect">
            <a:avLst>
              <a:gd name="adj" fmla="val 4762"/>
            </a:avLst>
          </a:prstGeom>
          <a:solidFill>
            <a:srgbClr val="141A45"/>
          </a:solidFill>
          <a:ln w="12700">
            <a:solidFill>
              <a:srgbClr val="3D4B8F"/>
            </a:solidFill>
            <a:prstDash val="solid"/>
          </a:ln>
        </p:spPr>
      </p:sp>
      <p:sp>
        <p:nvSpPr>
          <p:cNvPr id="6" name="Text 4"/>
          <p:cNvSpPr/>
          <p:nvPr/>
        </p:nvSpPr>
        <p:spPr>
          <a:xfrm>
            <a:off x="941832" y="3337560"/>
            <a:ext cx="2926080" cy="1463040"/>
          </a:xfrm>
          <a:prstGeom prst="rect">
            <a:avLst/>
          </a:prstGeom>
          <a:noFill/>
          <a:ln/>
        </p:spPr>
        <p:txBody>
          <a:bodyPr wrap="square" lIns="0" tIns="0" rIns="0" bIns="0" rtlCol="0" anchor="ctr"/>
          <a:lstStyle/>
          <a:p>
            <a:pPr indent="0" marL="0">
              <a:spcAft>
                <a:spcPts val="800"/>
              </a:spcAft>
              <a:buNone/>
            </a:pPr>
            <a:r>
              <a:rPr lang="en-US" sz="1800" b="1" dirty="0">
                <a:solidFill>
                  <a:srgbClr val="FFFFFF"/>
                </a:solidFill>
                <a:latin typeface="Calibri" pitchFamily="34" charset="0"/>
                <a:ea typeface="Calibri" pitchFamily="34" charset="-122"/>
                <a:cs typeface="Calibri" pitchFamily="34" charset="-120"/>
              </a:rPr>
              <a:t>Adopt</a:t>
            </a:r>
            <a:endParaRPr lang="en-US" sz="1800" dirty="0"/>
          </a:p>
          <a:p>
            <a:pPr indent="0" marL="0">
              <a:spcAft>
                <a:spcPts val="800"/>
              </a:spcAft>
              <a:buNone/>
            </a:pPr>
            <a:r>
              <a:rPr lang="en-US" sz="1250" dirty="0">
                <a:solidFill>
                  <a:srgbClr val="CADCFC"/>
                </a:solidFill>
                <a:latin typeface="Calibri" pitchFamily="34" charset="0"/>
                <a:ea typeface="Calibri" pitchFamily="34" charset="-122"/>
                <a:cs typeface="Calibri" pitchFamily="34" charset="-120"/>
              </a:rPr>
              <a:t>odrl-prov and odrl-cr as W3C profiles — thin, modular, backward-compatible</a:t>
            </a:r>
            <a:endParaRPr lang="en-US" sz="1800" dirty="0"/>
          </a:p>
        </p:txBody>
      </p:sp>
      <p:sp>
        <p:nvSpPr>
          <p:cNvPr id="7" name="Shape 5"/>
          <p:cNvSpPr/>
          <p:nvPr/>
        </p:nvSpPr>
        <p:spPr>
          <a:xfrm>
            <a:off x="4389120" y="3063240"/>
            <a:ext cx="3429000" cy="1920240"/>
          </a:xfrm>
          <a:prstGeom prst="roundRect">
            <a:avLst>
              <a:gd name="adj" fmla="val 4762"/>
            </a:avLst>
          </a:prstGeom>
          <a:solidFill>
            <a:srgbClr val="141A45"/>
          </a:solidFill>
          <a:ln w="12700">
            <a:solidFill>
              <a:srgbClr val="3D4B8F"/>
            </a:solidFill>
            <a:prstDash val="solid"/>
          </a:ln>
        </p:spPr>
      </p:sp>
      <p:sp>
        <p:nvSpPr>
          <p:cNvPr id="8" name="Text 6"/>
          <p:cNvSpPr/>
          <p:nvPr/>
        </p:nvSpPr>
        <p:spPr>
          <a:xfrm>
            <a:off x="4645152" y="3337560"/>
            <a:ext cx="2926080" cy="1463040"/>
          </a:xfrm>
          <a:prstGeom prst="rect">
            <a:avLst/>
          </a:prstGeom>
          <a:noFill/>
          <a:ln/>
        </p:spPr>
        <p:txBody>
          <a:bodyPr wrap="square" lIns="0" tIns="0" rIns="0" bIns="0" rtlCol="0" anchor="ctr"/>
          <a:lstStyle/>
          <a:p>
            <a:pPr indent="0" marL="0">
              <a:spcAft>
                <a:spcPts val="800"/>
              </a:spcAft>
              <a:buNone/>
            </a:pPr>
            <a:r>
              <a:rPr lang="en-US" sz="1800" b="1" dirty="0">
                <a:solidFill>
                  <a:srgbClr val="FFFFFF"/>
                </a:solidFill>
                <a:latin typeface="Calibri" pitchFamily="34" charset="0"/>
                <a:ea typeface="Calibri" pitchFamily="34" charset="-122"/>
                <a:cs typeface="Calibri" pitchFamily="34" charset="-120"/>
              </a:rPr>
              <a:t>Align</a:t>
            </a:r>
            <a:endParaRPr lang="en-US" sz="1800" dirty="0"/>
          </a:p>
          <a:p>
            <a:pPr indent="0" marL="0">
              <a:spcAft>
                <a:spcPts val="800"/>
              </a:spcAft>
              <a:buNone/>
            </a:pPr>
            <a:r>
              <a:rPr lang="en-US" sz="1250" dirty="0">
                <a:solidFill>
                  <a:srgbClr val="CADCFC"/>
                </a:solidFill>
                <a:latin typeface="Calibri" pitchFamily="34" charset="0"/>
                <a:ea typeface="Calibri" pitchFamily="34" charset="-122"/>
                <a:cs typeface="Calibri" pitchFamily="34" charset="-120"/>
              </a:rPr>
              <a:t>with PROV-O, PAV, LegalRuleML, and XACML patterns — reuse, don't reinvent</a:t>
            </a:r>
            <a:endParaRPr lang="en-US" sz="1800" dirty="0"/>
          </a:p>
        </p:txBody>
      </p:sp>
      <p:sp>
        <p:nvSpPr>
          <p:cNvPr id="9" name="Shape 7"/>
          <p:cNvSpPr/>
          <p:nvPr/>
        </p:nvSpPr>
        <p:spPr>
          <a:xfrm>
            <a:off x="8092440" y="3063240"/>
            <a:ext cx="3429000" cy="1920240"/>
          </a:xfrm>
          <a:prstGeom prst="roundRect">
            <a:avLst>
              <a:gd name="adj" fmla="val 4762"/>
            </a:avLst>
          </a:prstGeom>
          <a:solidFill>
            <a:srgbClr val="141A45"/>
          </a:solidFill>
          <a:ln w="12700">
            <a:solidFill>
              <a:srgbClr val="3D4B8F"/>
            </a:solidFill>
            <a:prstDash val="solid"/>
          </a:ln>
        </p:spPr>
      </p:sp>
      <p:sp>
        <p:nvSpPr>
          <p:cNvPr id="10" name="Text 8"/>
          <p:cNvSpPr/>
          <p:nvPr/>
        </p:nvSpPr>
        <p:spPr>
          <a:xfrm>
            <a:off x="8348472" y="3337560"/>
            <a:ext cx="2926080" cy="1463040"/>
          </a:xfrm>
          <a:prstGeom prst="rect">
            <a:avLst/>
          </a:prstGeom>
          <a:noFill/>
          <a:ln/>
        </p:spPr>
        <p:txBody>
          <a:bodyPr wrap="square" lIns="0" tIns="0" rIns="0" bIns="0" rtlCol="0" anchor="ctr"/>
          <a:lstStyle/>
          <a:p>
            <a:pPr indent="0" marL="0">
              <a:spcAft>
                <a:spcPts val="800"/>
              </a:spcAft>
              <a:buNone/>
            </a:pPr>
            <a:r>
              <a:rPr lang="en-US" sz="1800" b="1" dirty="0">
                <a:solidFill>
                  <a:srgbClr val="FFFFFF"/>
                </a:solidFill>
                <a:latin typeface="Calibri" pitchFamily="34" charset="0"/>
                <a:ea typeface="Calibri" pitchFamily="34" charset="-122"/>
                <a:cs typeface="Calibri" pitchFamily="34" charset="-120"/>
              </a:rPr>
              <a:t>Incorporate</a:t>
            </a:r>
            <a:endParaRPr lang="en-US" sz="1800" dirty="0"/>
          </a:p>
          <a:p>
            <a:pPr indent="0" marL="0">
              <a:spcAft>
                <a:spcPts val="800"/>
              </a:spcAft>
              <a:buNone/>
            </a:pPr>
            <a:r>
              <a:rPr lang="en-US" sz="1250" dirty="0">
                <a:solidFill>
                  <a:srgbClr val="CADCFC"/>
                </a:solidFill>
                <a:latin typeface="Calibri" pitchFamily="34" charset="0"/>
                <a:ea typeface="Calibri" pitchFamily="34" charset="-122"/>
                <a:cs typeface="Calibri" pitchFamily="34" charset="-120"/>
              </a:rPr>
              <a:t>into ODRL 3.0 — standard auditability and defeasible reasoning for modern policy engines</a:t>
            </a:r>
            <a:endParaRPr lang="en-US" sz="1800" dirty="0"/>
          </a:p>
        </p:txBody>
      </p:sp>
      <p:sp>
        <p:nvSpPr>
          <p:cNvPr id="11" name="Text 9"/>
          <p:cNvSpPr/>
          <p:nvPr/>
        </p:nvSpPr>
        <p:spPr>
          <a:xfrm>
            <a:off x="685800" y="5349240"/>
            <a:ext cx="10789920" cy="457200"/>
          </a:xfrm>
          <a:prstGeom prst="rect">
            <a:avLst/>
          </a:prstGeom>
          <a:noFill/>
          <a:ln/>
        </p:spPr>
        <p:txBody>
          <a:bodyPr wrap="square" lIns="0" tIns="0" rIns="0" bIns="0" rtlCol="0" anchor="ctr"/>
          <a:lstStyle/>
          <a:p>
            <a:pPr algn="ctr" indent="0" marL="0">
              <a:buNone/>
            </a:pPr>
            <a:r>
              <a:rPr lang="en-US" sz="1700" i="1" dirty="0">
                <a:solidFill>
                  <a:srgbClr val="FFFFFF"/>
                </a:solidFill>
                <a:latin typeface="Cambria" pitchFamily="34" charset="0"/>
                <a:ea typeface="Cambria" pitchFamily="34" charset="-122"/>
                <a:cs typeface="Cambria" pitchFamily="34" charset="-120"/>
              </a:rPr>
              <a:t>Let's make ODRL not just a descriptive format, but a robust foundation for automated, legally sound policy enforcement.</a:t>
            </a:r>
            <a:endParaRPr lang="en-US" sz="1700" dirty="0"/>
          </a:p>
        </p:txBody>
      </p:sp>
      <p:sp>
        <p:nvSpPr>
          <p:cNvPr id="12" name="Text 10"/>
          <p:cNvSpPr/>
          <p:nvPr/>
        </p:nvSpPr>
        <p:spPr>
          <a:xfrm>
            <a:off x="685800" y="6035040"/>
            <a:ext cx="10789920" cy="32004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Joseph K Iype · HSBC   |   Paper: w3.org/2026/ODRLWS/PP/02-BeyondPermit-HSBC.pdf</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2026-07-18T17:43:18Z</dcterms:created>
  <dcterms:modified xsi:type="dcterms:W3CDTF">2026-07-18T17:43:18Z</dcterms:modified>
</cp:coreProperties>
</file>