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1A2B6D"/>
          </a:solidFill>
          <a:ln w="12700">
            <a:solidFill>
              <a:srgbClr val="1A2B6D"/>
            </a:solidFill>
            <a:prstDash val="solid"/>
          </a:ln>
        </p:spPr>
      </p:sp>
      <p:sp>
        <p:nvSpPr>
          <p:cNvPr id="3" name="Shape 1"/>
          <p:cNvSpPr/>
          <p:nvPr/>
        </p:nvSpPr>
        <p:spPr>
          <a:xfrm>
            <a:off x="8686800" y="0"/>
            <a:ext cx="320040" cy="5143500"/>
          </a:xfrm>
          <a:prstGeom prst="rect">
            <a:avLst/>
          </a:prstGeom>
          <a:solidFill>
            <a:srgbClr val="00B4D8">
              <a:alpha val="80000"/>
            </a:srgbClr>
          </a:solidFill>
          <a:ln w="12700">
            <a:solidFill>
              <a:srgbClr val="00B4D8">
                <a:alpha val="80000"/>
              </a:srgbClr>
            </a:solidFill>
            <a:prstDash val="solid"/>
          </a:ln>
        </p:spPr>
      </p:sp>
      <p:sp>
        <p:nvSpPr>
          <p:cNvPr id="4" name="Shape 2"/>
          <p:cNvSpPr/>
          <p:nvPr/>
        </p:nvSpPr>
        <p:spPr>
          <a:xfrm>
            <a:off x="9006840" y="0"/>
            <a:ext cx="137160" cy="5143500"/>
          </a:xfrm>
          <a:prstGeom prst="rect">
            <a:avLst/>
          </a:prstGeom>
          <a:solidFill>
            <a:srgbClr val="06D6A0">
              <a:alpha val="80000"/>
            </a:srgbClr>
          </a:solidFill>
          <a:ln w="12700">
            <a:solidFill>
              <a:srgbClr val="06D6A0">
                <a:alpha val="80000"/>
              </a:srgbClr>
            </a:solidFill>
            <a:prstDash val="solid"/>
          </a:ln>
        </p:spPr>
      </p:sp>
      <p:sp>
        <p:nvSpPr>
          <p:cNvPr id="5" name="Shape 3"/>
          <p:cNvSpPr/>
          <p:nvPr/>
        </p:nvSpPr>
        <p:spPr>
          <a:xfrm>
            <a:off x="457200" y="1371600"/>
            <a:ext cx="54864" cy="1828800"/>
          </a:xfrm>
          <a:prstGeom prst="rect">
            <a:avLst/>
          </a:prstGeom>
          <a:solidFill>
            <a:srgbClr val="00B4D8"/>
          </a:solidFill>
          <a:ln w="12700">
            <a:solidFill>
              <a:srgbClr val="00B4D8"/>
            </a:solidFill>
            <a:prstDash val="solid"/>
          </a:ln>
        </p:spPr>
      </p:sp>
      <p:sp>
        <p:nvSpPr>
          <p:cNvPr id="6" name="Text 4"/>
          <p:cNvSpPr/>
          <p:nvPr/>
        </p:nvSpPr>
        <p:spPr>
          <a:xfrm>
            <a:off x="594360" y="1325880"/>
            <a:ext cx="6035040" cy="274320"/>
          </a:xfrm>
          <a:prstGeom prst="rect">
            <a:avLst/>
          </a:prstGeom>
          <a:noFill/>
          <a:ln/>
        </p:spPr>
        <p:txBody>
          <a:bodyPr wrap="square" lIns="0" tIns="0" rIns="0" bIns="0" rtlCol="0" anchor="ctr"/>
          <a:lstStyle/>
          <a:p>
            <a:pPr indent="0" marL="0">
              <a:buNone/>
            </a:pPr>
            <a:r>
              <a:rPr lang="en-US" sz="900" b="1" spc="400" kern="0" dirty="0">
                <a:solidFill>
                  <a:srgbClr val="00B4D8"/>
                </a:solidFill>
              </a:rPr>
              <a:t>ENTERPRISE ARCHITECTURE</a:t>
            </a:r>
            <a:endParaRPr lang="en-US" sz="900" dirty="0"/>
          </a:p>
        </p:txBody>
      </p:sp>
      <p:sp>
        <p:nvSpPr>
          <p:cNvPr id="7" name="Text 5"/>
          <p:cNvSpPr/>
          <p:nvPr/>
        </p:nvSpPr>
        <p:spPr>
          <a:xfrm>
            <a:off x="594360" y="1627632"/>
            <a:ext cx="5943600" cy="146304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rPr>
              <a:t>From documentation</a:t>
            </a:r>
            <a:endParaRPr lang="en-US" sz="3800" dirty="0"/>
          </a:p>
          <a:p>
            <a:pPr indent="0" marL="0">
              <a:lnSpc>
                <a:spcPct val="115000"/>
              </a:lnSpc>
              <a:buNone/>
            </a:pPr>
            <a:r>
              <a:rPr lang="en-US" sz="3800" b="1" dirty="0">
                <a:solidFill>
                  <a:srgbClr val="FFFFFF"/>
                </a:solidFill>
              </a:rPr>
              <a:t>to design asset</a:t>
            </a:r>
            <a:endParaRPr lang="en-US" sz="3800" dirty="0"/>
          </a:p>
        </p:txBody>
      </p:sp>
      <p:sp>
        <p:nvSpPr>
          <p:cNvPr id="8" name="Text 6"/>
          <p:cNvSpPr/>
          <p:nvPr/>
        </p:nvSpPr>
        <p:spPr>
          <a:xfrm>
            <a:off x="594360" y="3200400"/>
            <a:ext cx="5943600" cy="1005840"/>
          </a:xfrm>
          <a:prstGeom prst="rect">
            <a:avLst/>
          </a:prstGeom>
          <a:noFill/>
          <a:ln/>
        </p:spPr>
        <p:txBody>
          <a:bodyPr wrap="square" lIns="0" tIns="0" rIns="0" bIns="0" rtlCol="0" anchor="ctr"/>
          <a:lstStyle/>
          <a:p>
            <a:pPr indent="0" marL="0">
              <a:lnSpc>
                <a:spcPct val="150000"/>
              </a:lnSpc>
              <a:buNone/>
            </a:pPr>
            <a:r>
              <a:rPr lang="en-US" sz="1250" dirty="0">
                <a:solidFill>
                  <a:srgbClr val="C8D4F0"/>
                </a:solidFill>
              </a:rPr>
              <a:t>A programme to transform static architecture pages into a shared,</a:t>
            </a:r>
            <a:endParaRPr lang="en-US" sz="1250" dirty="0"/>
          </a:p>
          <a:p>
            <a:pPr indent="0" marL="0">
              <a:lnSpc>
                <a:spcPct val="150000"/>
              </a:lnSpc>
              <a:buNone/>
            </a:pPr>
            <a:r>
              <a:rPr lang="en-US" sz="1250" dirty="0">
                <a:solidFill>
                  <a:srgbClr val="C8D4F0"/>
                </a:solidFill>
              </a:rPr>
              <a:t>reusable enterprise capability that helps the firm design faster,</a:t>
            </a:r>
            <a:endParaRPr lang="en-US" sz="1250" dirty="0"/>
          </a:p>
          <a:p>
            <a:pPr indent="0" marL="0">
              <a:lnSpc>
                <a:spcPct val="150000"/>
              </a:lnSpc>
              <a:buNone/>
            </a:pPr>
            <a:r>
              <a:rPr lang="en-US" sz="1250" dirty="0">
                <a:solidFill>
                  <a:srgbClr val="C8D4F0"/>
                </a:solidFill>
              </a:rPr>
              <a:t>govern consistently, and operate safely in the age of AI.</a:t>
            </a:r>
            <a:endParaRPr lang="en-US" sz="1250" dirty="0"/>
          </a:p>
        </p:txBody>
      </p:sp>
      <p:sp>
        <p:nvSpPr>
          <p:cNvPr id="9" name="Shape 7"/>
          <p:cNvSpPr/>
          <p:nvPr/>
        </p:nvSpPr>
        <p:spPr>
          <a:xfrm>
            <a:off x="594360" y="4370832"/>
            <a:ext cx="1188720" cy="274320"/>
          </a:xfrm>
          <a:prstGeom prst="rect">
            <a:avLst/>
          </a:prstGeom>
          <a:solidFill>
            <a:srgbClr val="2351C8"/>
          </a:solidFill>
          <a:ln w="12700">
            <a:solidFill>
              <a:srgbClr val="2351C8"/>
            </a:solidFill>
            <a:prstDash val="solid"/>
          </a:ln>
        </p:spPr>
      </p:sp>
      <p:sp>
        <p:nvSpPr>
          <p:cNvPr id="10" name="Text 8"/>
          <p:cNvSpPr/>
          <p:nvPr/>
        </p:nvSpPr>
        <p:spPr>
          <a:xfrm>
            <a:off x="594360" y="4370832"/>
            <a:ext cx="1188720" cy="274320"/>
          </a:xfrm>
          <a:prstGeom prst="rect">
            <a:avLst/>
          </a:prstGeom>
          <a:noFill/>
          <a:ln/>
        </p:spPr>
        <p:txBody>
          <a:bodyPr wrap="square" lIns="0" tIns="0" rIns="0" bIns="0" rtlCol="0" anchor="ctr"/>
          <a:lstStyle/>
          <a:p>
            <a:pPr algn="ctr" indent="0" marL="0">
              <a:buNone/>
            </a:pPr>
            <a:r>
              <a:rPr lang="en-US" sz="1000" dirty="0">
                <a:solidFill>
                  <a:srgbClr val="FFFFFF"/>
                </a:solidFill>
              </a:rPr>
              <a:t>April 2026</a:t>
            </a:r>
            <a:endParaRPr lang="en-US" sz="1000" dirty="0"/>
          </a:p>
        </p:txBody>
      </p:sp>
      <p:sp>
        <p:nvSpPr>
          <p:cNvPr id="11" name="Text 9"/>
          <p:cNvSpPr/>
          <p:nvPr/>
        </p:nvSpPr>
        <p:spPr>
          <a:xfrm>
            <a:off x="6995160" y="914400"/>
            <a:ext cx="1554480" cy="685800"/>
          </a:xfrm>
          <a:prstGeom prst="rect">
            <a:avLst/>
          </a:prstGeom>
          <a:noFill/>
          <a:ln/>
        </p:spPr>
        <p:txBody>
          <a:bodyPr wrap="square" lIns="0" tIns="0" rIns="0" bIns="0" rtlCol="0" anchor="ctr"/>
          <a:lstStyle/>
          <a:p>
            <a:pPr algn="ctr" indent="0" marL="0">
              <a:lnSpc>
                <a:spcPct val="120000"/>
              </a:lnSpc>
              <a:buNone/>
            </a:pPr>
            <a:r>
              <a:rPr lang="en-US" sz="1500" b="1" dirty="0">
                <a:solidFill>
                  <a:srgbClr val="00B4D8"/>
                </a:solidFill>
              </a:rPr>
              <a:t>7 phases</a:t>
            </a:r>
            <a:endParaRPr lang="en-US" sz="1500" dirty="0"/>
          </a:p>
        </p:txBody>
      </p:sp>
      <p:sp>
        <p:nvSpPr>
          <p:cNvPr id="12" name="Text 10"/>
          <p:cNvSpPr/>
          <p:nvPr/>
        </p:nvSpPr>
        <p:spPr>
          <a:xfrm>
            <a:off x="6995160" y="1600200"/>
            <a:ext cx="1554480" cy="274320"/>
          </a:xfrm>
          <a:prstGeom prst="rect">
            <a:avLst/>
          </a:prstGeom>
          <a:noFill/>
          <a:ln/>
        </p:spPr>
        <p:txBody>
          <a:bodyPr wrap="square" lIns="0" tIns="0" rIns="0" bIns="0" rtlCol="0" anchor="ctr"/>
          <a:lstStyle/>
          <a:p>
            <a:pPr algn="ctr" indent="0" marL="0">
              <a:buNone/>
            </a:pPr>
            <a:r>
              <a:rPr lang="en-US" sz="950" dirty="0">
                <a:solidFill>
                  <a:srgbClr val="C8D4F0"/>
                </a:solidFill>
              </a:rPr>
              <a:t>of delivery</a:t>
            </a:r>
            <a:endParaRPr lang="en-US" sz="950" dirty="0"/>
          </a:p>
        </p:txBody>
      </p:sp>
      <p:sp>
        <p:nvSpPr>
          <p:cNvPr id="13" name="Text 11"/>
          <p:cNvSpPr/>
          <p:nvPr/>
        </p:nvSpPr>
        <p:spPr>
          <a:xfrm>
            <a:off x="6995160" y="2286000"/>
            <a:ext cx="1554480" cy="685800"/>
          </a:xfrm>
          <a:prstGeom prst="rect">
            <a:avLst/>
          </a:prstGeom>
          <a:noFill/>
          <a:ln/>
        </p:spPr>
        <p:txBody>
          <a:bodyPr wrap="square" lIns="0" tIns="0" rIns="0" bIns="0" rtlCol="0" anchor="ctr"/>
          <a:lstStyle/>
          <a:p>
            <a:pPr algn="ctr" indent="0" marL="0">
              <a:lnSpc>
                <a:spcPct val="120000"/>
              </a:lnSpc>
              <a:buNone/>
            </a:pPr>
            <a:r>
              <a:rPr lang="en-US" sz="1500" b="1" dirty="0">
                <a:solidFill>
                  <a:srgbClr val="FFB703"/>
                </a:solidFill>
              </a:rPr>
              <a:t>6 work-</a:t>
            </a:r>
            <a:endParaRPr lang="en-US" sz="1500" dirty="0"/>
          </a:p>
          <a:p>
            <a:pPr algn="ctr" indent="0" marL="0">
              <a:lnSpc>
                <a:spcPct val="120000"/>
              </a:lnSpc>
              <a:buNone/>
            </a:pPr>
            <a:r>
              <a:rPr lang="en-US" sz="1500" b="1" dirty="0">
                <a:solidFill>
                  <a:srgbClr val="FFB703"/>
                </a:solidFill>
              </a:rPr>
              <a:t>streams</a:t>
            </a:r>
            <a:endParaRPr lang="en-US" sz="1500" dirty="0"/>
          </a:p>
        </p:txBody>
      </p:sp>
      <p:sp>
        <p:nvSpPr>
          <p:cNvPr id="14" name="Text 12"/>
          <p:cNvSpPr/>
          <p:nvPr/>
        </p:nvSpPr>
        <p:spPr>
          <a:xfrm>
            <a:off x="6995160" y="2971800"/>
            <a:ext cx="1554480" cy="274320"/>
          </a:xfrm>
          <a:prstGeom prst="rect">
            <a:avLst/>
          </a:prstGeom>
          <a:noFill/>
          <a:ln/>
        </p:spPr>
        <p:txBody>
          <a:bodyPr wrap="square" lIns="0" tIns="0" rIns="0" bIns="0" rtlCol="0" anchor="ctr"/>
          <a:lstStyle/>
          <a:p>
            <a:pPr algn="ctr" indent="0" marL="0">
              <a:buNone/>
            </a:pPr>
            <a:r>
              <a:rPr lang="en-US" sz="950" dirty="0">
                <a:solidFill>
                  <a:srgbClr val="C8D4F0"/>
                </a:solidFill>
              </a:rPr>
              <a:t>of content</a:t>
            </a:r>
            <a:endParaRPr lang="en-US" sz="950" dirty="0"/>
          </a:p>
        </p:txBody>
      </p:sp>
      <p:sp>
        <p:nvSpPr>
          <p:cNvPr id="15" name="Text 13"/>
          <p:cNvSpPr/>
          <p:nvPr/>
        </p:nvSpPr>
        <p:spPr>
          <a:xfrm>
            <a:off x="6995160" y="3657600"/>
            <a:ext cx="1554480" cy="685800"/>
          </a:xfrm>
          <a:prstGeom prst="rect">
            <a:avLst/>
          </a:prstGeom>
          <a:noFill/>
          <a:ln/>
        </p:spPr>
        <p:txBody>
          <a:bodyPr wrap="square" lIns="0" tIns="0" rIns="0" bIns="0" rtlCol="0" anchor="ctr"/>
          <a:lstStyle/>
          <a:p>
            <a:pPr algn="ctr" indent="0" marL="0">
              <a:lnSpc>
                <a:spcPct val="120000"/>
              </a:lnSpc>
              <a:buNone/>
            </a:pPr>
            <a:r>
              <a:rPr lang="en-US" sz="1500" b="1" dirty="0">
                <a:solidFill>
                  <a:srgbClr val="06D6A0"/>
                </a:solidFill>
              </a:rPr>
              <a:t>5 agent</a:t>
            </a:r>
            <a:endParaRPr lang="en-US" sz="1500" dirty="0"/>
          </a:p>
          <a:p>
            <a:pPr algn="ctr" indent="0" marL="0">
              <a:lnSpc>
                <a:spcPct val="120000"/>
              </a:lnSpc>
              <a:buNone/>
            </a:pPr>
            <a:r>
              <a:rPr lang="en-US" sz="1500" b="1" dirty="0">
                <a:solidFill>
                  <a:srgbClr val="06D6A0"/>
                </a:solidFill>
              </a:rPr>
              <a:t>capabilities</a:t>
            </a:r>
            <a:endParaRPr lang="en-US" sz="1500" dirty="0"/>
          </a:p>
        </p:txBody>
      </p:sp>
      <p:sp>
        <p:nvSpPr>
          <p:cNvPr id="16" name="Text 14"/>
          <p:cNvSpPr/>
          <p:nvPr/>
        </p:nvSpPr>
        <p:spPr>
          <a:xfrm>
            <a:off x="6995160" y="4343400"/>
            <a:ext cx="1554480" cy="274320"/>
          </a:xfrm>
          <a:prstGeom prst="rect">
            <a:avLst/>
          </a:prstGeom>
          <a:noFill/>
          <a:ln/>
        </p:spPr>
        <p:txBody>
          <a:bodyPr wrap="square" lIns="0" tIns="0" rIns="0" bIns="0" rtlCol="0" anchor="ctr"/>
          <a:lstStyle/>
          <a:p>
            <a:pPr algn="ctr" indent="0" marL="0">
              <a:buNone/>
            </a:pPr>
            <a:r>
              <a:rPr lang="en-US" sz="950" dirty="0">
                <a:solidFill>
                  <a:srgbClr val="C8D4F0"/>
                </a:solidFill>
              </a:rPr>
              <a:t>in the agentic era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2000" b="1" dirty="0">
                <a:solidFill>
                  <a:srgbClr val="FFFFFF"/>
                </a:solidFill>
              </a:rPr>
              <a:t>What changes — and why it matters</a:t>
            </a:r>
            <a:endParaRPr lang="en-US" sz="2000" dirty="0"/>
          </a:p>
        </p:txBody>
      </p:sp>
      <p:sp>
        <p:nvSpPr>
          <p:cNvPr id="4" name="Shape 2"/>
          <p:cNvSpPr/>
          <p:nvPr/>
        </p:nvSpPr>
        <p:spPr>
          <a:xfrm>
            <a:off x="274320" y="914400"/>
            <a:ext cx="4023360" cy="402336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5" name="Shape 3"/>
          <p:cNvSpPr/>
          <p:nvPr/>
        </p:nvSpPr>
        <p:spPr>
          <a:xfrm>
            <a:off x="274320" y="914400"/>
            <a:ext cx="4023360" cy="411480"/>
          </a:xfrm>
          <a:prstGeom prst="rect">
            <a:avLst/>
          </a:prstGeom>
          <a:solidFill>
            <a:srgbClr val="D0D8EF"/>
          </a:solidFill>
          <a:ln w="12700">
            <a:solidFill>
              <a:srgbClr val="D0D8EF"/>
            </a:solidFill>
            <a:prstDash val="solid"/>
          </a:ln>
        </p:spPr>
      </p:sp>
      <p:sp>
        <p:nvSpPr>
          <p:cNvPr id="6" name="Text 4"/>
          <p:cNvSpPr/>
          <p:nvPr/>
        </p:nvSpPr>
        <p:spPr>
          <a:xfrm>
            <a:off x="365760" y="914400"/>
            <a:ext cx="3840480" cy="411480"/>
          </a:xfrm>
          <a:prstGeom prst="rect">
            <a:avLst/>
          </a:prstGeom>
          <a:noFill/>
          <a:ln/>
        </p:spPr>
        <p:txBody>
          <a:bodyPr wrap="square" lIns="0" tIns="0" rIns="0" bIns="0" rtlCol="0" anchor="ctr"/>
          <a:lstStyle/>
          <a:p>
            <a:pPr indent="0" marL="0">
              <a:buNone/>
            </a:pPr>
            <a:r>
              <a:rPr lang="en-US" sz="1100" b="1" spc="200" kern="0" dirty="0">
                <a:solidFill>
                  <a:srgbClr val="0D1B4B"/>
                </a:solidFill>
              </a:rPr>
              <a:t>TODAY</a:t>
            </a:r>
            <a:endParaRPr lang="en-US" sz="1100" dirty="0"/>
          </a:p>
        </p:txBody>
      </p:sp>
      <p:sp>
        <p:nvSpPr>
          <p:cNvPr id="7" name="Shape 5"/>
          <p:cNvSpPr/>
          <p:nvPr/>
        </p:nvSpPr>
        <p:spPr>
          <a:xfrm>
            <a:off x="457200" y="1463040"/>
            <a:ext cx="164592" cy="164592"/>
          </a:xfrm>
          <a:prstGeom prst="ellipse">
            <a:avLst/>
          </a:prstGeom>
          <a:solidFill>
            <a:srgbClr val="C0C8E0"/>
          </a:solidFill>
          <a:ln w="12700">
            <a:solidFill>
              <a:srgbClr val="C0C8E0"/>
            </a:solidFill>
            <a:prstDash val="solid"/>
          </a:ln>
        </p:spPr>
      </p:sp>
      <p:sp>
        <p:nvSpPr>
          <p:cNvPr id="8" name="Text 6"/>
          <p:cNvSpPr/>
          <p:nvPr/>
        </p:nvSpPr>
        <p:spPr>
          <a:xfrm>
            <a:off x="685800" y="1426464"/>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4A5568"/>
                </a:solidFill>
              </a:rPr>
              <a:t>Architecture split into separate pages for data, infrastructure, security, and logical design</a:t>
            </a:r>
            <a:endParaRPr lang="en-US" sz="1000" dirty="0"/>
          </a:p>
        </p:txBody>
      </p:sp>
      <p:sp>
        <p:nvSpPr>
          <p:cNvPr id="9" name="Shape 7"/>
          <p:cNvSpPr/>
          <p:nvPr/>
        </p:nvSpPr>
        <p:spPr>
          <a:xfrm>
            <a:off x="457200" y="1892808"/>
            <a:ext cx="164592" cy="164592"/>
          </a:xfrm>
          <a:prstGeom prst="ellipse">
            <a:avLst/>
          </a:prstGeom>
          <a:solidFill>
            <a:srgbClr val="C0C8E0"/>
          </a:solidFill>
          <a:ln w="12700">
            <a:solidFill>
              <a:srgbClr val="C0C8E0"/>
            </a:solidFill>
            <a:prstDash val="solid"/>
          </a:ln>
        </p:spPr>
      </p:sp>
      <p:sp>
        <p:nvSpPr>
          <p:cNvPr id="10" name="Text 8"/>
          <p:cNvSpPr/>
          <p:nvPr/>
        </p:nvSpPr>
        <p:spPr>
          <a:xfrm>
            <a:off x="685800" y="1856232"/>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4A5568"/>
                </a:solidFill>
              </a:rPr>
              <a:t>Each project team starts from scratch — no shared components to draw from</a:t>
            </a:r>
            <a:endParaRPr lang="en-US" sz="1000" dirty="0"/>
          </a:p>
        </p:txBody>
      </p:sp>
      <p:sp>
        <p:nvSpPr>
          <p:cNvPr id="11" name="Shape 9"/>
          <p:cNvSpPr/>
          <p:nvPr/>
        </p:nvSpPr>
        <p:spPr>
          <a:xfrm>
            <a:off x="457200" y="2322576"/>
            <a:ext cx="164592" cy="164592"/>
          </a:xfrm>
          <a:prstGeom prst="ellipse">
            <a:avLst/>
          </a:prstGeom>
          <a:solidFill>
            <a:srgbClr val="C0C8E0"/>
          </a:solidFill>
          <a:ln w="12700">
            <a:solidFill>
              <a:srgbClr val="C0C8E0"/>
            </a:solidFill>
            <a:prstDash val="solid"/>
          </a:ln>
        </p:spPr>
      </p:sp>
      <p:sp>
        <p:nvSpPr>
          <p:cNvPr id="12" name="Text 10"/>
          <p:cNvSpPr/>
          <p:nvPr/>
        </p:nvSpPr>
        <p:spPr>
          <a:xfrm>
            <a:off x="685800" y="2286000"/>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4A5568"/>
                </a:solidFill>
              </a:rPr>
              <a:t>Standards live in documents that quickly go out of date</a:t>
            </a:r>
            <a:endParaRPr lang="en-US" sz="1000" dirty="0"/>
          </a:p>
        </p:txBody>
      </p:sp>
      <p:sp>
        <p:nvSpPr>
          <p:cNvPr id="13" name="Shape 11"/>
          <p:cNvSpPr/>
          <p:nvPr/>
        </p:nvSpPr>
        <p:spPr>
          <a:xfrm>
            <a:off x="457200" y="2752344"/>
            <a:ext cx="164592" cy="164592"/>
          </a:xfrm>
          <a:prstGeom prst="ellipse">
            <a:avLst/>
          </a:prstGeom>
          <a:solidFill>
            <a:srgbClr val="C0C8E0"/>
          </a:solidFill>
          <a:ln w="12700">
            <a:solidFill>
              <a:srgbClr val="C0C8E0"/>
            </a:solidFill>
            <a:prstDash val="solid"/>
          </a:ln>
        </p:spPr>
      </p:sp>
      <p:sp>
        <p:nvSpPr>
          <p:cNvPr id="14" name="Text 12"/>
          <p:cNvSpPr/>
          <p:nvPr/>
        </p:nvSpPr>
        <p:spPr>
          <a:xfrm>
            <a:off x="685800" y="2715768"/>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4A5568"/>
                </a:solidFill>
              </a:rPr>
              <a:t>No connection between business need and technical design</a:t>
            </a:r>
            <a:endParaRPr lang="en-US" sz="1000" dirty="0"/>
          </a:p>
        </p:txBody>
      </p:sp>
      <p:sp>
        <p:nvSpPr>
          <p:cNvPr id="15" name="Shape 13"/>
          <p:cNvSpPr/>
          <p:nvPr/>
        </p:nvSpPr>
        <p:spPr>
          <a:xfrm>
            <a:off x="457200" y="3182112"/>
            <a:ext cx="164592" cy="164592"/>
          </a:xfrm>
          <a:prstGeom prst="ellipse">
            <a:avLst/>
          </a:prstGeom>
          <a:solidFill>
            <a:srgbClr val="C0C8E0"/>
          </a:solidFill>
          <a:ln w="12700">
            <a:solidFill>
              <a:srgbClr val="C0C8E0"/>
            </a:solidFill>
            <a:prstDash val="solid"/>
          </a:ln>
        </p:spPr>
      </p:sp>
      <p:sp>
        <p:nvSpPr>
          <p:cNvPr id="16" name="Text 14"/>
          <p:cNvSpPr/>
          <p:nvPr/>
        </p:nvSpPr>
        <p:spPr>
          <a:xfrm>
            <a:off x="685800" y="3145536"/>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4A5568"/>
                </a:solidFill>
              </a:rPr>
              <a:t>Governance is manual, slow, and inconsistent across teams</a:t>
            </a:r>
            <a:endParaRPr lang="en-US" sz="1000" dirty="0"/>
          </a:p>
        </p:txBody>
      </p:sp>
      <p:sp>
        <p:nvSpPr>
          <p:cNvPr id="17" name="Shape 15"/>
          <p:cNvSpPr/>
          <p:nvPr/>
        </p:nvSpPr>
        <p:spPr>
          <a:xfrm>
            <a:off x="457200" y="3611880"/>
            <a:ext cx="164592" cy="164592"/>
          </a:xfrm>
          <a:prstGeom prst="ellipse">
            <a:avLst/>
          </a:prstGeom>
          <a:solidFill>
            <a:srgbClr val="C0C8E0"/>
          </a:solidFill>
          <a:ln w="12700">
            <a:solidFill>
              <a:srgbClr val="C0C8E0"/>
            </a:solidFill>
            <a:prstDash val="solid"/>
          </a:ln>
        </p:spPr>
      </p:sp>
      <p:sp>
        <p:nvSpPr>
          <p:cNvPr id="18" name="Text 16"/>
          <p:cNvSpPr/>
          <p:nvPr/>
        </p:nvSpPr>
        <p:spPr>
          <a:xfrm>
            <a:off x="685800" y="3575304"/>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4A5568"/>
                </a:solidFill>
              </a:rPr>
              <a:t>AI cannot read or reason over unstructured pages</a:t>
            </a:r>
            <a:endParaRPr lang="en-US" sz="1000" dirty="0"/>
          </a:p>
        </p:txBody>
      </p:sp>
      <p:sp>
        <p:nvSpPr>
          <p:cNvPr id="19" name="Shape 17"/>
          <p:cNvSpPr/>
          <p:nvPr/>
        </p:nvSpPr>
        <p:spPr>
          <a:xfrm>
            <a:off x="4389120" y="2971800"/>
            <a:ext cx="365760" cy="0"/>
          </a:xfrm>
          <a:prstGeom prst="line">
            <a:avLst/>
          </a:prstGeom>
          <a:noFill/>
          <a:ln w="25400">
            <a:solidFill>
              <a:srgbClr val="00B4D8"/>
            </a:solidFill>
            <a:prstDash val="solid"/>
            <a:tailEnd type="open"/>
          </a:ln>
        </p:spPr>
      </p:sp>
      <p:sp>
        <p:nvSpPr>
          <p:cNvPr id="20" name="Shape 18"/>
          <p:cNvSpPr/>
          <p:nvPr/>
        </p:nvSpPr>
        <p:spPr>
          <a:xfrm>
            <a:off x="4846320" y="914400"/>
            <a:ext cx="4023360" cy="4023360"/>
          </a:xfrm>
          <a:prstGeom prst="rect">
            <a:avLst/>
          </a:prstGeom>
          <a:solidFill>
            <a:srgbClr val="152060"/>
          </a:solidFill>
          <a:ln w="9525">
            <a:solidFill>
              <a:srgbClr val="00B4D8"/>
            </a:solidFill>
            <a:prstDash val="solid"/>
          </a:ln>
          <a:effectLst>
            <a:outerShdw sx="100000" sy="100000" kx="0" ky="0" algn="bl" rotWithShape="0" blurRad="101600" dist="38100" dir="8100000">
              <a:srgbClr val="000033">
                <a:alpha val="10000"/>
              </a:srgbClr>
            </a:outerShdw>
          </a:effectLst>
        </p:spPr>
      </p:sp>
      <p:sp>
        <p:nvSpPr>
          <p:cNvPr id="21" name="Shape 19"/>
          <p:cNvSpPr/>
          <p:nvPr/>
        </p:nvSpPr>
        <p:spPr>
          <a:xfrm>
            <a:off x="4846320" y="914400"/>
            <a:ext cx="4023360" cy="411480"/>
          </a:xfrm>
          <a:prstGeom prst="rect">
            <a:avLst/>
          </a:prstGeom>
          <a:solidFill>
            <a:srgbClr val="2351C8"/>
          </a:solidFill>
          <a:ln w="12700">
            <a:solidFill>
              <a:srgbClr val="2351C8"/>
            </a:solidFill>
            <a:prstDash val="solid"/>
          </a:ln>
        </p:spPr>
      </p:sp>
      <p:sp>
        <p:nvSpPr>
          <p:cNvPr id="22" name="Text 20"/>
          <p:cNvSpPr/>
          <p:nvPr/>
        </p:nvSpPr>
        <p:spPr>
          <a:xfrm>
            <a:off x="4937760" y="914400"/>
            <a:ext cx="3840480" cy="411480"/>
          </a:xfrm>
          <a:prstGeom prst="rect">
            <a:avLst/>
          </a:prstGeom>
          <a:noFill/>
          <a:ln/>
        </p:spPr>
        <p:txBody>
          <a:bodyPr wrap="square" lIns="0" tIns="0" rIns="0" bIns="0" rtlCol="0" anchor="ctr"/>
          <a:lstStyle/>
          <a:p>
            <a:pPr indent="0" marL="0">
              <a:buNone/>
            </a:pPr>
            <a:r>
              <a:rPr lang="en-US" sz="1100" b="1" spc="200" kern="0" dirty="0">
                <a:solidFill>
                  <a:srgbClr val="FFFFFF"/>
                </a:solidFill>
              </a:rPr>
              <a:t>TARGET STATE</a:t>
            </a:r>
            <a:endParaRPr lang="en-US" sz="1100" dirty="0"/>
          </a:p>
        </p:txBody>
      </p:sp>
      <p:sp>
        <p:nvSpPr>
          <p:cNvPr id="23" name="Shape 21"/>
          <p:cNvSpPr/>
          <p:nvPr/>
        </p:nvSpPr>
        <p:spPr>
          <a:xfrm>
            <a:off x="5029200" y="1463040"/>
            <a:ext cx="164592" cy="164592"/>
          </a:xfrm>
          <a:prstGeom prst="ellipse">
            <a:avLst/>
          </a:prstGeom>
          <a:solidFill>
            <a:srgbClr val="00B4D8"/>
          </a:solidFill>
          <a:ln w="12700">
            <a:solidFill>
              <a:srgbClr val="00B4D8"/>
            </a:solidFill>
            <a:prstDash val="solid"/>
          </a:ln>
        </p:spPr>
      </p:sp>
      <p:sp>
        <p:nvSpPr>
          <p:cNvPr id="24" name="Text 22"/>
          <p:cNvSpPr/>
          <p:nvPr/>
        </p:nvSpPr>
        <p:spPr>
          <a:xfrm>
            <a:off x="5257800" y="1426464"/>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One shared asset base — reusable across every project and business line</a:t>
            </a:r>
            <a:endParaRPr lang="en-US" sz="1000" dirty="0"/>
          </a:p>
        </p:txBody>
      </p:sp>
      <p:sp>
        <p:nvSpPr>
          <p:cNvPr id="25" name="Shape 23"/>
          <p:cNvSpPr/>
          <p:nvPr/>
        </p:nvSpPr>
        <p:spPr>
          <a:xfrm>
            <a:off x="5029200" y="1892808"/>
            <a:ext cx="164592" cy="164592"/>
          </a:xfrm>
          <a:prstGeom prst="ellipse">
            <a:avLst/>
          </a:prstGeom>
          <a:solidFill>
            <a:srgbClr val="00B4D8"/>
          </a:solidFill>
          <a:ln w="12700">
            <a:solidFill>
              <a:srgbClr val="00B4D8"/>
            </a:solidFill>
            <a:prstDash val="solid"/>
          </a:ln>
        </p:spPr>
      </p:sp>
      <p:sp>
        <p:nvSpPr>
          <p:cNvPr id="26" name="Text 24"/>
          <p:cNvSpPr/>
          <p:nvPr/>
        </p:nvSpPr>
        <p:spPr>
          <a:xfrm>
            <a:off x="5257800" y="1856232"/>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Standard building blocks, patterns, and reference models ready to use</a:t>
            </a:r>
            <a:endParaRPr lang="en-US" sz="1000" dirty="0"/>
          </a:p>
        </p:txBody>
      </p:sp>
      <p:sp>
        <p:nvSpPr>
          <p:cNvPr id="27" name="Shape 25"/>
          <p:cNvSpPr/>
          <p:nvPr/>
        </p:nvSpPr>
        <p:spPr>
          <a:xfrm>
            <a:off x="5029200" y="2322576"/>
            <a:ext cx="164592" cy="164592"/>
          </a:xfrm>
          <a:prstGeom prst="ellipse">
            <a:avLst/>
          </a:prstGeom>
          <a:solidFill>
            <a:srgbClr val="00B4D8"/>
          </a:solidFill>
          <a:ln w="12700">
            <a:solidFill>
              <a:srgbClr val="00B4D8"/>
            </a:solidFill>
            <a:prstDash val="solid"/>
          </a:ln>
        </p:spPr>
      </p:sp>
      <p:sp>
        <p:nvSpPr>
          <p:cNvPr id="28" name="Text 26"/>
          <p:cNvSpPr/>
          <p:nvPr/>
        </p:nvSpPr>
        <p:spPr>
          <a:xfrm>
            <a:off x="5257800" y="2286000"/>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Architecture governed from a single, always-current source of truth</a:t>
            </a:r>
            <a:endParaRPr lang="en-US" sz="1000" dirty="0"/>
          </a:p>
        </p:txBody>
      </p:sp>
      <p:sp>
        <p:nvSpPr>
          <p:cNvPr id="29" name="Shape 27"/>
          <p:cNvSpPr/>
          <p:nvPr/>
        </p:nvSpPr>
        <p:spPr>
          <a:xfrm>
            <a:off x="5029200" y="2752344"/>
            <a:ext cx="164592" cy="164592"/>
          </a:xfrm>
          <a:prstGeom prst="ellipse">
            <a:avLst/>
          </a:prstGeom>
          <a:solidFill>
            <a:srgbClr val="00B4D8"/>
          </a:solidFill>
          <a:ln w="12700">
            <a:solidFill>
              <a:srgbClr val="00B4D8"/>
            </a:solidFill>
            <a:prstDash val="solid"/>
          </a:ln>
        </p:spPr>
      </p:sp>
      <p:sp>
        <p:nvSpPr>
          <p:cNvPr id="30" name="Text 28"/>
          <p:cNvSpPr/>
          <p:nvPr/>
        </p:nvSpPr>
        <p:spPr>
          <a:xfrm>
            <a:off x="5257800" y="2715768"/>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Full traceability from business capability to technical design</a:t>
            </a:r>
            <a:endParaRPr lang="en-US" sz="1000" dirty="0"/>
          </a:p>
        </p:txBody>
      </p:sp>
      <p:sp>
        <p:nvSpPr>
          <p:cNvPr id="31" name="Shape 29"/>
          <p:cNvSpPr/>
          <p:nvPr/>
        </p:nvSpPr>
        <p:spPr>
          <a:xfrm>
            <a:off x="5029200" y="3182112"/>
            <a:ext cx="164592" cy="164592"/>
          </a:xfrm>
          <a:prstGeom prst="ellipse">
            <a:avLst/>
          </a:prstGeom>
          <a:solidFill>
            <a:srgbClr val="00B4D8"/>
          </a:solidFill>
          <a:ln w="12700">
            <a:solidFill>
              <a:srgbClr val="00B4D8"/>
            </a:solidFill>
            <a:prstDash val="solid"/>
          </a:ln>
        </p:spPr>
      </p:sp>
      <p:sp>
        <p:nvSpPr>
          <p:cNvPr id="32" name="Text 30"/>
          <p:cNvSpPr/>
          <p:nvPr/>
        </p:nvSpPr>
        <p:spPr>
          <a:xfrm>
            <a:off x="5257800" y="3145536"/>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Governance is embedded into the design process, not bolted on after</a:t>
            </a:r>
            <a:endParaRPr lang="en-US" sz="1000" dirty="0"/>
          </a:p>
        </p:txBody>
      </p:sp>
      <p:sp>
        <p:nvSpPr>
          <p:cNvPr id="33" name="Shape 31"/>
          <p:cNvSpPr/>
          <p:nvPr/>
        </p:nvSpPr>
        <p:spPr>
          <a:xfrm>
            <a:off x="5029200" y="3611880"/>
            <a:ext cx="164592" cy="164592"/>
          </a:xfrm>
          <a:prstGeom prst="ellipse">
            <a:avLst/>
          </a:prstGeom>
          <a:solidFill>
            <a:srgbClr val="00B4D8"/>
          </a:solidFill>
          <a:ln w="12700">
            <a:solidFill>
              <a:srgbClr val="00B4D8"/>
            </a:solidFill>
            <a:prstDash val="solid"/>
          </a:ln>
        </p:spPr>
      </p:sp>
      <p:sp>
        <p:nvSpPr>
          <p:cNvPr id="34" name="Text 32"/>
          <p:cNvSpPr/>
          <p:nvPr/>
        </p:nvSpPr>
        <p:spPr>
          <a:xfrm>
            <a:off x="5257800" y="3575304"/>
            <a:ext cx="3474720" cy="347472"/>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Structured content that AI agents can search, reason over, and act 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4B"/>
        </a:solidFill>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600" b="1" dirty="0">
                <a:solidFill>
                  <a:srgbClr val="FFFFFF"/>
                </a:solidFill>
              </a:rPr>
              <a:t>What the programme delivers</a:t>
            </a:r>
            <a:endParaRPr lang="en-US" sz="2600" dirty="0"/>
          </a:p>
        </p:txBody>
      </p:sp>
      <p:sp>
        <p:nvSpPr>
          <p:cNvPr id="3" name="Text 1"/>
          <p:cNvSpPr/>
          <p:nvPr/>
        </p:nvSpPr>
        <p:spPr>
          <a:xfrm>
            <a:off x="457200" y="749808"/>
            <a:ext cx="8229600" cy="292608"/>
          </a:xfrm>
          <a:prstGeom prst="rect">
            <a:avLst/>
          </a:prstGeom>
          <a:noFill/>
          <a:ln/>
        </p:spPr>
        <p:txBody>
          <a:bodyPr wrap="square" lIns="0" tIns="0" rIns="0" bIns="0" rtlCol="0" anchor="ctr"/>
          <a:lstStyle/>
          <a:p>
            <a:pPr indent="0" marL="0">
              <a:buNone/>
            </a:pPr>
            <a:r>
              <a:rPr lang="en-US" sz="1300" dirty="0">
                <a:solidFill>
                  <a:srgbClr val="C8D4F0"/>
                </a:solidFill>
              </a:rPr>
              <a:t>Six business outcomes — measurable, not aspirational.</a:t>
            </a:r>
            <a:endParaRPr lang="en-US" sz="1300" dirty="0"/>
          </a:p>
        </p:txBody>
      </p:sp>
      <p:sp>
        <p:nvSpPr>
          <p:cNvPr id="4" name="Shape 2"/>
          <p:cNvSpPr/>
          <p:nvPr/>
        </p:nvSpPr>
        <p:spPr>
          <a:xfrm>
            <a:off x="274320" y="1234440"/>
            <a:ext cx="2743200" cy="1691640"/>
          </a:xfrm>
          <a:prstGeom prst="rect">
            <a:avLst/>
          </a:prstGeom>
          <a:solidFill>
            <a:srgbClr val="152060"/>
          </a:solidFill>
          <a:ln w="6350">
            <a:solidFill>
              <a:srgbClr val="00B4D8"/>
            </a:solidFill>
            <a:prstDash val="solid"/>
          </a:ln>
        </p:spPr>
      </p:sp>
      <p:sp>
        <p:nvSpPr>
          <p:cNvPr id="5" name="Shape 3"/>
          <p:cNvSpPr/>
          <p:nvPr/>
        </p:nvSpPr>
        <p:spPr>
          <a:xfrm>
            <a:off x="274320" y="1234440"/>
            <a:ext cx="2743200" cy="64008"/>
          </a:xfrm>
          <a:prstGeom prst="rect">
            <a:avLst/>
          </a:prstGeom>
          <a:solidFill>
            <a:srgbClr val="00B4D8"/>
          </a:solidFill>
          <a:ln w="12700">
            <a:solidFill>
              <a:srgbClr val="00B4D8"/>
            </a:solidFill>
            <a:prstDash val="solid"/>
          </a:ln>
        </p:spPr>
      </p:sp>
      <p:sp>
        <p:nvSpPr>
          <p:cNvPr id="6" name="Text 4"/>
          <p:cNvSpPr/>
          <p:nvPr/>
        </p:nvSpPr>
        <p:spPr>
          <a:xfrm>
            <a:off x="411480" y="1353312"/>
            <a:ext cx="411480" cy="347472"/>
          </a:xfrm>
          <a:prstGeom prst="rect">
            <a:avLst/>
          </a:prstGeom>
          <a:noFill/>
          <a:ln/>
        </p:spPr>
        <p:txBody>
          <a:bodyPr wrap="square" lIns="0" tIns="0" rIns="0" bIns="0" rtlCol="0" anchor="ctr"/>
          <a:lstStyle/>
          <a:p>
            <a:pPr indent="0" marL="0">
              <a:buNone/>
            </a:pPr>
            <a:r>
              <a:rPr lang="en-US" sz="1100" b="1" dirty="0">
                <a:solidFill>
                  <a:srgbClr val="00B4D8"/>
                </a:solidFill>
              </a:rPr>
              <a:t>01</a:t>
            </a:r>
            <a:endParaRPr lang="en-US" sz="1100" dirty="0"/>
          </a:p>
        </p:txBody>
      </p:sp>
      <p:sp>
        <p:nvSpPr>
          <p:cNvPr id="7" name="Text 5"/>
          <p:cNvSpPr/>
          <p:nvPr/>
        </p:nvSpPr>
        <p:spPr>
          <a:xfrm>
            <a:off x="411480" y="1709928"/>
            <a:ext cx="2468880" cy="347472"/>
          </a:xfrm>
          <a:prstGeom prst="rect">
            <a:avLst/>
          </a:prstGeom>
          <a:noFill/>
          <a:ln/>
        </p:spPr>
        <p:txBody>
          <a:bodyPr wrap="square" lIns="0" tIns="0" rIns="0" bIns="0" rtlCol="0" anchor="ctr"/>
          <a:lstStyle/>
          <a:p>
            <a:pPr indent="0" marL="0">
              <a:buNone/>
            </a:pPr>
            <a:r>
              <a:rPr lang="en-US" sz="1250" b="1" dirty="0">
                <a:solidFill>
                  <a:srgbClr val="FFFFFF"/>
                </a:solidFill>
              </a:rPr>
              <a:t>Faster solution design</a:t>
            </a:r>
            <a:endParaRPr lang="en-US" sz="1250" dirty="0"/>
          </a:p>
        </p:txBody>
      </p:sp>
      <p:sp>
        <p:nvSpPr>
          <p:cNvPr id="8" name="Text 6"/>
          <p:cNvSpPr/>
          <p:nvPr/>
        </p:nvSpPr>
        <p:spPr>
          <a:xfrm>
            <a:off x="411480" y="2093976"/>
            <a:ext cx="2468880" cy="749808"/>
          </a:xfrm>
          <a:prstGeom prst="rect">
            <a:avLst/>
          </a:prstGeom>
          <a:noFill/>
          <a:ln/>
        </p:spPr>
        <p:txBody>
          <a:bodyPr wrap="square" lIns="0" tIns="0" rIns="0" bIns="0" rtlCol="0" anchor="ctr"/>
          <a:lstStyle/>
          <a:p>
            <a:pPr indent="0" marL="0">
              <a:lnSpc>
                <a:spcPct val="140000"/>
              </a:lnSpc>
              <a:buNone/>
            </a:pPr>
            <a:r>
              <a:rPr lang="en-US" sz="950" dirty="0">
                <a:solidFill>
                  <a:srgbClr val="C8D4F0"/>
                </a:solidFill>
              </a:rPr>
              <a:t>Teams assemble solutions from approved components instead of designing everything from scratch. Architecture reviews move from weeks to days for standard patterns.</a:t>
            </a:r>
            <a:endParaRPr lang="en-US" sz="950" dirty="0"/>
          </a:p>
        </p:txBody>
      </p:sp>
      <p:sp>
        <p:nvSpPr>
          <p:cNvPr id="9" name="Shape 7"/>
          <p:cNvSpPr/>
          <p:nvPr/>
        </p:nvSpPr>
        <p:spPr>
          <a:xfrm>
            <a:off x="3154680" y="1234440"/>
            <a:ext cx="2743200" cy="1691640"/>
          </a:xfrm>
          <a:prstGeom prst="rect">
            <a:avLst/>
          </a:prstGeom>
          <a:solidFill>
            <a:srgbClr val="152060"/>
          </a:solidFill>
          <a:ln w="6350">
            <a:solidFill>
              <a:srgbClr val="2351C8"/>
            </a:solidFill>
            <a:prstDash val="solid"/>
          </a:ln>
        </p:spPr>
      </p:sp>
      <p:sp>
        <p:nvSpPr>
          <p:cNvPr id="10" name="Shape 8"/>
          <p:cNvSpPr/>
          <p:nvPr/>
        </p:nvSpPr>
        <p:spPr>
          <a:xfrm>
            <a:off x="3154680" y="1234440"/>
            <a:ext cx="2743200" cy="64008"/>
          </a:xfrm>
          <a:prstGeom prst="rect">
            <a:avLst/>
          </a:prstGeom>
          <a:solidFill>
            <a:srgbClr val="2351C8"/>
          </a:solidFill>
          <a:ln w="12700">
            <a:solidFill>
              <a:srgbClr val="2351C8"/>
            </a:solidFill>
            <a:prstDash val="solid"/>
          </a:ln>
        </p:spPr>
      </p:sp>
      <p:sp>
        <p:nvSpPr>
          <p:cNvPr id="11" name="Text 9"/>
          <p:cNvSpPr/>
          <p:nvPr/>
        </p:nvSpPr>
        <p:spPr>
          <a:xfrm>
            <a:off x="3291840" y="1353312"/>
            <a:ext cx="411480" cy="347472"/>
          </a:xfrm>
          <a:prstGeom prst="rect">
            <a:avLst/>
          </a:prstGeom>
          <a:noFill/>
          <a:ln/>
        </p:spPr>
        <p:txBody>
          <a:bodyPr wrap="square" lIns="0" tIns="0" rIns="0" bIns="0" rtlCol="0" anchor="ctr"/>
          <a:lstStyle/>
          <a:p>
            <a:pPr indent="0" marL="0">
              <a:buNone/>
            </a:pPr>
            <a:r>
              <a:rPr lang="en-US" sz="1100" b="1" dirty="0">
                <a:solidFill>
                  <a:srgbClr val="2351C8"/>
                </a:solidFill>
              </a:rPr>
              <a:t>02</a:t>
            </a:r>
            <a:endParaRPr lang="en-US" sz="1100" dirty="0"/>
          </a:p>
        </p:txBody>
      </p:sp>
      <p:sp>
        <p:nvSpPr>
          <p:cNvPr id="12" name="Text 10"/>
          <p:cNvSpPr/>
          <p:nvPr/>
        </p:nvSpPr>
        <p:spPr>
          <a:xfrm>
            <a:off x="3291840" y="1709928"/>
            <a:ext cx="2468880" cy="347472"/>
          </a:xfrm>
          <a:prstGeom prst="rect">
            <a:avLst/>
          </a:prstGeom>
          <a:noFill/>
          <a:ln/>
        </p:spPr>
        <p:txBody>
          <a:bodyPr wrap="square" lIns="0" tIns="0" rIns="0" bIns="0" rtlCol="0" anchor="ctr"/>
          <a:lstStyle/>
          <a:p>
            <a:pPr indent="0" marL="0">
              <a:buNone/>
            </a:pPr>
            <a:r>
              <a:rPr lang="en-US" sz="1250" b="1" dirty="0">
                <a:solidFill>
                  <a:srgbClr val="FFFFFF"/>
                </a:solidFill>
              </a:rPr>
              <a:t>Higher reuse across the firm</a:t>
            </a:r>
            <a:endParaRPr lang="en-US" sz="1250" dirty="0"/>
          </a:p>
        </p:txBody>
      </p:sp>
      <p:sp>
        <p:nvSpPr>
          <p:cNvPr id="13" name="Text 11"/>
          <p:cNvSpPr/>
          <p:nvPr/>
        </p:nvSpPr>
        <p:spPr>
          <a:xfrm>
            <a:off x="3291840" y="2093976"/>
            <a:ext cx="2468880" cy="749808"/>
          </a:xfrm>
          <a:prstGeom prst="rect">
            <a:avLst/>
          </a:prstGeom>
          <a:noFill/>
          <a:ln/>
        </p:spPr>
        <p:txBody>
          <a:bodyPr wrap="square" lIns="0" tIns="0" rIns="0" bIns="0" rtlCol="0" anchor="ctr"/>
          <a:lstStyle/>
          <a:p>
            <a:pPr indent="0" marL="0">
              <a:lnSpc>
                <a:spcPct val="140000"/>
              </a:lnSpc>
              <a:buNone/>
            </a:pPr>
            <a:r>
              <a:rPr lang="en-US" sz="950" dirty="0">
                <a:solidFill>
                  <a:srgbClr val="C8D4F0"/>
                </a:solidFill>
              </a:rPr>
              <a:t>Every approved pattern and component is available to every team. GBM, CMB, and WPB stop rebuilding the same solutions independently.</a:t>
            </a:r>
            <a:endParaRPr lang="en-US" sz="950" dirty="0"/>
          </a:p>
        </p:txBody>
      </p:sp>
      <p:sp>
        <p:nvSpPr>
          <p:cNvPr id="14" name="Shape 12"/>
          <p:cNvSpPr/>
          <p:nvPr/>
        </p:nvSpPr>
        <p:spPr>
          <a:xfrm>
            <a:off x="6035040" y="1234440"/>
            <a:ext cx="2743200" cy="1691640"/>
          </a:xfrm>
          <a:prstGeom prst="rect">
            <a:avLst/>
          </a:prstGeom>
          <a:solidFill>
            <a:srgbClr val="152060"/>
          </a:solidFill>
          <a:ln w="6350">
            <a:solidFill>
              <a:srgbClr val="06D6A0"/>
            </a:solidFill>
            <a:prstDash val="solid"/>
          </a:ln>
        </p:spPr>
      </p:sp>
      <p:sp>
        <p:nvSpPr>
          <p:cNvPr id="15" name="Shape 13"/>
          <p:cNvSpPr/>
          <p:nvPr/>
        </p:nvSpPr>
        <p:spPr>
          <a:xfrm>
            <a:off x="6035040" y="1234440"/>
            <a:ext cx="2743200" cy="64008"/>
          </a:xfrm>
          <a:prstGeom prst="rect">
            <a:avLst/>
          </a:prstGeom>
          <a:solidFill>
            <a:srgbClr val="06D6A0"/>
          </a:solidFill>
          <a:ln w="12700">
            <a:solidFill>
              <a:srgbClr val="06D6A0"/>
            </a:solidFill>
            <a:prstDash val="solid"/>
          </a:ln>
        </p:spPr>
      </p:sp>
      <p:sp>
        <p:nvSpPr>
          <p:cNvPr id="16" name="Text 14"/>
          <p:cNvSpPr/>
          <p:nvPr/>
        </p:nvSpPr>
        <p:spPr>
          <a:xfrm>
            <a:off x="6172200" y="1353312"/>
            <a:ext cx="411480" cy="347472"/>
          </a:xfrm>
          <a:prstGeom prst="rect">
            <a:avLst/>
          </a:prstGeom>
          <a:noFill/>
          <a:ln/>
        </p:spPr>
        <p:txBody>
          <a:bodyPr wrap="square" lIns="0" tIns="0" rIns="0" bIns="0" rtlCol="0" anchor="ctr"/>
          <a:lstStyle/>
          <a:p>
            <a:pPr indent="0" marL="0">
              <a:buNone/>
            </a:pPr>
            <a:r>
              <a:rPr lang="en-US" sz="1100" b="1" dirty="0">
                <a:solidFill>
                  <a:srgbClr val="06D6A0"/>
                </a:solidFill>
              </a:rPr>
              <a:t>03</a:t>
            </a:r>
            <a:endParaRPr lang="en-US" sz="1100" dirty="0"/>
          </a:p>
        </p:txBody>
      </p:sp>
      <p:sp>
        <p:nvSpPr>
          <p:cNvPr id="17" name="Text 15"/>
          <p:cNvSpPr/>
          <p:nvPr/>
        </p:nvSpPr>
        <p:spPr>
          <a:xfrm>
            <a:off x="6172200" y="1709928"/>
            <a:ext cx="2468880" cy="347472"/>
          </a:xfrm>
          <a:prstGeom prst="rect">
            <a:avLst/>
          </a:prstGeom>
          <a:noFill/>
          <a:ln/>
        </p:spPr>
        <p:txBody>
          <a:bodyPr wrap="square" lIns="0" tIns="0" rIns="0" bIns="0" rtlCol="0" anchor="ctr"/>
          <a:lstStyle/>
          <a:p>
            <a:pPr indent="0" marL="0">
              <a:buNone/>
            </a:pPr>
            <a:r>
              <a:rPr lang="en-US" sz="1250" b="1" dirty="0">
                <a:solidFill>
                  <a:srgbClr val="FFFFFF"/>
                </a:solidFill>
              </a:rPr>
              <a:t>Consistent standards everywhere</a:t>
            </a:r>
            <a:endParaRPr lang="en-US" sz="1250" dirty="0"/>
          </a:p>
        </p:txBody>
      </p:sp>
      <p:sp>
        <p:nvSpPr>
          <p:cNvPr id="18" name="Text 16"/>
          <p:cNvSpPr/>
          <p:nvPr/>
        </p:nvSpPr>
        <p:spPr>
          <a:xfrm>
            <a:off x="6172200" y="2093976"/>
            <a:ext cx="2468880" cy="749808"/>
          </a:xfrm>
          <a:prstGeom prst="rect">
            <a:avLst/>
          </a:prstGeom>
          <a:noFill/>
          <a:ln/>
        </p:spPr>
        <p:txBody>
          <a:bodyPr wrap="square" lIns="0" tIns="0" rIns="0" bIns="0" rtlCol="0" anchor="ctr"/>
          <a:lstStyle/>
          <a:p>
            <a:pPr indent="0" marL="0">
              <a:lnSpc>
                <a:spcPct val="140000"/>
              </a:lnSpc>
              <a:buNone/>
            </a:pPr>
            <a:r>
              <a:rPr lang="en-US" sz="950" dirty="0">
                <a:solidFill>
                  <a:srgbClr val="C8D4F0"/>
                </a:solidFill>
              </a:rPr>
              <a:t>The same vocabulary, the same design principles, the same baseline controls — applied uniformly across all projects and business lines.</a:t>
            </a:r>
            <a:endParaRPr lang="en-US" sz="950" dirty="0"/>
          </a:p>
        </p:txBody>
      </p:sp>
      <p:sp>
        <p:nvSpPr>
          <p:cNvPr id="19" name="Shape 17"/>
          <p:cNvSpPr/>
          <p:nvPr/>
        </p:nvSpPr>
        <p:spPr>
          <a:xfrm>
            <a:off x="274320" y="3108960"/>
            <a:ext cx="2743200" cy="1691640"/>
          </a:xfrm>
          <a:prstGeom prst="rect">
            <a:avLst/>
          </a:prstGeom>
          <a:solidFill>
            <a:srgbClr val="152060"/>
          </a:solidFill>
          <a:ln w="6350">
            <a:solidFill>
              <a:srgbClr val="FFB703"/>
            </a:solidFill>
            <a:prstDash val="solid"/>
          </a:ln>
        </p:spPr>
      </p:sp>
      <p:sp>
        <p:nvSpPr>
          <p:cNvPr id="20" name="Shape 18"/>
          <p:cNvSpPr/>
          <p:nvPr/>
        </p:nvSpPr>
        <p:spPr>
          <a:xfrm>
            <a:off x="274320" y="3108960"/>
            <a:ext cx="2743200" cy="64008"/>
          </a:xfrm>
          <a:prstGeom prst="rect">
            <a:avLst/>
          </a:prstGeom>
          <a:solidFill>
            <a:srgbClr val="FFB703"/>
          </a:solidFill>
          <a:ln w="12700">
            <a:solidFill>
              <a:srgbClr val="FFB703"/>
            </a:solidFill>
            <a:prstDash val="solid"/>
          </a:ln>
        </p:spPr>
      </p:sp>
      <p:sp>
        <p:nvSpPr>
          <p:cNvPr id="21" name="Text 19"/>
          <p:cNvSpPr/>
          <p:nvPr/>
        </p:nvSpPr>
        <p:spPr>
          <a:xfrm>
            <a:off x="411480" y="3227832"/>
            <a:ext cx="411480" cy="347472"/>
          </a:xfrm>
          <a:prstGeom prst="rect">
            <a:avLst/>
          </a:prstGeom>
          <a:noFill/>
          <a:ln/>
        </p:spPr>
        <p:txBody>
          <a:bodyPr wrap="square" lIns="0" tIns="0" rIns="0" bIns="0" rtlCol="0" anchor="ctr"/>
          <a:lstStyle/>
          <a:p>
            <a:pPr indent="0" marL="0">
              <a:buNone/>
            </a:pPr>
            <a:r>
              <a:rPr lang="en-US" sz="1100" b="1" dirty="0">
                <a:solidFill>
                  <a:srgbClr val="FFB703"/>
                </a:solidFill>
              </a:rPr>
              <a:t>04</a:t>
            </a:r>
            <a:endParaRPr lang="en-US" sz="1100" dirty="0"/>
          </a:p>
        </p:txBody>
      </p:sp>
      <p:sp>
        <p:nvSpPr>
          <p:cNvPr id="22" name="Text 20"/>
          <p:cNvSpPr/>
          <p:nvPr/>
        </p:nvSpPr>
        <p:spPr>
          <a:xfrm>
            <a:off x="411480" y="3584448"/>
            <a:ext cx="2468880" cy="347472"/>
          </a:xfrm>
          <a:prstGeom prst="rect">
            <a:avLst/>
          </a:prstGeom>
          <a:noFill/>
          <a:ln/>
        </p:spPr>
        <p:txBody>
          <a:bodyPr wrap="square" lIns="0" tIns="0" rIns="0" bIns="0" rtlCol="0" anchor="ctr"/>
          <a:lstStyle/>
          <a:p>
            <a:pPr indent="0" marL="0">
              <a:buNone/>
            </a:pPr>
            <a:r>
              <a:rPr lang="en-US" sz="1250" b="1" dirty="0">
                <a:solidFill>
                  <a:srgbClr val="FFFFFF"/>
                </a:solidFill>
              </a:rPr>
              <a:t>Traceable from need to design</a:t>
            </a:r>
            <a:endParaRPr lang="en-US" sz="1250" dirty="0"/>
          </a:p>
        </p:txBody>
      </p:sp>
      <p:sp>
        <p:nvSpPr>
          <p:cNvPr id="23" name="Text 21"/>
          <p:cNvSpPr/>
          <p:nvPr/>
        </p:nvSpPr>
        <p:spPr>
          <a:xfrm>
            <a:off x="411480" y="3968496"/>
            <a:ext cx="2468880" cy="749808"/>
          </a:xfrm>
          <a:prstGeom prst="rect">
            <a:avLst/>
          </a:prstGeom>
          <a:noFill/>
          <a:ln/>
        </p:spPr>
        <p:txBody>
          <a:bodyPr wrap="square" lIns="0" tIns="0" rIns="0" bIns="0" rtlCol="0" anchor="ctr"/>
          <a:lstStyle/>
          <a:p>
            <a:pPr indent="0" marL="0">
              <a:lnSpc>
                <a:spcPct val="140000"/>
              </a:lnSpc>
              <a:buNone/>
            </a:pPr>
            <a:r>
              <a:rPr lang="en-US" sz="950" dirty="0">
                <a:solidFill>
                  <a:srgbClr val="C8D4F0"/>
                </a:solidFill>
              </a:rPr>
              <a:t>Every technical decision traces back to a business capability or requirement. Regulators and auditors can follow the reasoning end to end.</a:t>
            </a:r>
            <a:endParaRPr lang="en-US" sz="950" dirty="0"/>
          </a:p>
        </p:txBody>
      </p:sp>
      <p:sp>
        <p:nvSpPr>
          <p:cNvPr id="24" name="Shape 22"/>
          <p:cNvSpPr/>
          <p:nvPr/>
        </p:nvSpPr>
        <p:spPr>
          <a:xfrm>
            <a:off x="3154680" y="3108960"/>
            <a:ext cx="2743200" cy="1691640"/>
          </a:xfrm>
          <a:prstGeom prst="rect">
            <a:avLst/>
          </a:prstGeom>
          <a:solidFill>
            <a:srgbClr val="152060"/>
          </a:solidFill>
          <a:ln w="6350">
            <a:solidFill>
              <a:srgbClr val="EF476F"/>
            </a:solidFill>
            <a:prstDash val="solid"/>
          </a:ln>
        </p:spPr>
      </p:sp>
      <p:sp>
        <p:nvSpPr>
          <p:cNvPr id="25" name="Shape 23"/>
          <p:cNvSpPr/>
          <p:nvPr/>
        </p:nvSpPr>
        <p:spPr>
          <a:xfrm>
            <a:off x="3154680" y="3108960"/>
            <a:ext cx="2743200" cy="64008"/>
          </a:xfrm>
          <a:prstGeom prst="rect">
            <a:avLst/>
          </a:prstGeom>
          <a:solidFill>
            <a:srgbClr val="EF476F"/>
          </a:solidFill>
          <a:ln w="12700">
            <a:solidFill>
              <a:srgbClr val="EF476F"/>
            </a:solidFill>
            <a:prstDash val="solid"/>
          </a:ln>
        </p:spPr>
      </p:sp>
      <p:sp>
        <p:nvSpPr>
          <p:cNvPr id="26" name="Text 24"/>
          <p:cNvSpPr/>
          <p:nvPr/>
        </p:nvSpPr>
        <p:spPr>
          <a:xfrm>
            <a:off x="3291840" y="3227832"/>
            <a:ext cx="411480" cy="347472"/>
          </a:xfrm>
          <a:prstGeom prst="rect">
            <a:avLst/>
          </a:prstGeom>
          <a:noFill/>
          <a:ln/>
        </p:spPr>
        <p:txBody>
          <a:bodyPr wrap="square" lIns="0" tIns="0" rIns="0" bIns="0" rtlCol="0" anchor="ctr"/>
          <a:lstStyle/>
          <a:p>
            <a:pPr indent="0" marL="0">
              <a:buNone/>
            </a:pPr>
            <a:r>
              <a:rPr lang="en-US" sz="1100" b="1" dirty="0">
                <a:solidFill>
                  <a:srgbClr val="EF476F"/>
                </a:solidFill>
              </a:rPr>
              <a:t>05</a:t>
            </a:r>
            <a:endParaRPr lang="en-US" sz="1100" dirty="0"/>
          </a:p>
        </p:txBody>
      </p:sp>
      <p:sp>
        <p:nvSpPr>
          <p:cNvPr id="27" name="Text 25"/>
          <p:cNvSpPr/>
          <p:nvPr/>
        </p:nvSpPr>
        <p:spPr>
          <a:xfrm>
            <a:off x="3291840" y="3584448"/>
            <a:ext cx="2468880" cy="347472"/>
          </a:xfrm>
          <a:prstGeom prst="rect">
            <a:avLst/>
          </a:prstGeom>
          <a:noFill/>
          <a:ln/>
        </p:spPr>
        <p:txBody>
          <a:bodyPr wrap="square" lIns="0" tIns="0" rIns="0" bIns="0" rtlCol="0" anchor="ctr"/>
          <a:lstStyle/>
          <a:p>
            <a:pPr indent="0" marL="0">
              <a:buNone/>
            </a:pPr>
            <a:r>
              <a:rPr lang="en-US" sz="1250" b="1" dirty="0">
                <a:solidFill>
                  <a:srgbClr val="FFFFFF"/>
                </a:solidFill>
              </a:rPr>
              <a:t>Stronger governance by default</a:t>
            </a:r>
            <a:endParaRPr lang="en-US" sz="1250" dirty="0"/>
          </a:p>
        </p:txBody>
      </p:sp>
      <p:sp>
        <p:nvSpPr>
          <p:cNvPr id="28" name="Text 26"/>
          <p:cNvSpPr/>
          <p:nvPr/>
        </p:nvSpPr>
        <p:spPr>
          <a:xfrm>
            <a:off x="3291840" y="3968496"/>
            <a:ext cx="2468880" cy="749808"/>
          </a:xfrm>
          <a:prstGeom prst="rect">
            <a:avLst/>
          </a:prstGeom>
          <a:noFill/>
          <a:ln/>
        </p:spPr>
        <p:txBody>
          <a:bodyPr wrap="square" lIns="0" tIns="0" rIns="0" bIns="0" rtlCol="0" anchor="ctr"/>
          <a:lstStyle/>
          <a:p>
            <a:pPr indent="0" marL="0">
              <a:lnSpc>
                <a:spcPct val="140000"/>
              </a:lnSpc>
              <a:buNone/>
            </a:pPr>
            <a:r>
              <a:rPr lang="en-US" sz="950" dirty="0">
                <a:solidFill>
                  <a:srgbClr val="C8D4F0"/>
                </a:solidFill>
              </a:rPr>
              <a:t>Security and control standards are embedded in the patterns teams use — not a separate sign-off step that slows delivery down.</a:t>
            </a:r>
            <a:endParaRPr lang="en-US" sz="950" dirty="0"/>
          </a:p>
        </p:txBody>
      </p:sp>
      <p:sp>
        <p:nvSpPr>
          <p:cNvPr id="29" name="Shape 27"/>
          <p:cNvSpPr/>
          <p:nvPr/>
        </p:nvSpPr>
        <p:spPr>
          <a:xfrm>
            <a:off x="6035040" y="3108960"/>
            <a:ext cx="2743200" cy="1691640"/>
          </a:xfrm>
          <a:prstGeom prst="rect">
            <a:avLst/>
          </a:prstGeom>
          <a:solidFill>
            <a:srgbClr val="152060"/>
          </a:solidFill>
          <a:ln w="6350">
            <a:solidFill>
              <a:srgbClr val="7B5EA7"/>
            </a:solidFill>
            <a:prstDash val="solid"/>
          </a:ln>
        </p:spPr>
      </p:sp>
      <p:sp>
        <p:nvSpPr>
          <p:cNvPr id="30" name="Shape 28"/>
          <p:cNvSpPr/>
          <p:nvPr/>
        </p:nvSpPr>
        <p:spPr>
          <a:xfrm>
            <a:off x="6035040" y="3108960"/>
            <a:ext cx="2743200" cy="64008"/>
          </a:xfrm>
          <a:prstGeom prst="rect">
            <a:avLst/>
          </a:prstGeom>
          <a:solidFill>
            <a:srgbClr val="7B5EA7"/>
          </a:solidFill>
          <a:ln w="12700">
            <a:solidFill>
              <a:srgbClr val="7B5EA7"/>
            </a:solidFill>
            <a:prstDash val="solid"/>
          </a:ln>
        </p:spPr>
      </p:sp>
      <p:sp>
        <p:nvSpPr>
          <p:cNvPr id="31" name="Text 29"/>
          <p:cNvSpPr/>
          <p:nvPr/>
        </p:nvSpPr>
        <p:spPr>
          <a:xfrm>
            <a:off x="6172200" y="3227832"/>
            <a:ext cx="411480" cy="347472"/>
          </a:xfrm>
          <a:prstGeom prst="rect">
            <a:avLst/>
          </a:prstGeom>
          <a:noFill/>
          <a:ln/>
        </p:spPr>
        <p:txBody>
          <a:bodyPr wrap="square" lIns="0" tIns="0" rIns="0" bIns="0" rtlCol="0" anchor="ctr"/>
          <a:lstStyle/>
          <a:p>
            <a:pPr indent="0" marL="0">
              <a:buNone/>
            </a:pPr>
            <a:r>
              <a:rPr lang="en-US" sz="1100" b="1" dirty="0">
                <a:solidFill>
                  <a:srgbClr val="7B5EA7"/>
                </a:solidFill>
              </a:rPr>
              <a:t>06</a:t>
            </a:r>
            <a:endParaRPr lang="en-US" sz="1100" dirty="0"/>
          </a:p>
        </p:txBody>
      </p:sp>
      <p:sp>
        <p:nvSpPr>
          <p:cNvPr id="32" name="Text 30"/>
          <p:cNvSpPr/>
          <p:nvPr/>
        </p:nvSpPr>
        <p:spPr>
          <a:xfrm>
            <a:off x="6172200" y="3584448"/>
            <a:ext cx="2468880" cy="347472"/>
          </a:xfrm>
          <a:prstGeom prst="rect">
            <a:avLst/>
          </a:prstGeom>
          <a:noFill/>
          <a:ln/>
        </p:spPr>
        <p:txBody>
          <a:bodyPr wrap="square" lIns="0" tIns="0" rIns="0" bIns="0" rtlCol="0" anchor="ctr"/>
          <a:lstStyle/>
          <a:p>
            <a:pPr indent="0" marL="0">
              <a:buNone/>
            </a:pPr>
            <a:r>
              <a:rPr lang="en-US" sz="1250" b="1" dirty="0">
                <a:solidFill>
                  <a:srgbClr val="FFFFFF"/>
                </a:solidFill>
              </a:rPr>
              <a:t>Ready for AI-assisted architecture</a:t>
            </a:r>
            <a:endParaRPr lang="en-US" sz="1250" dirty="0"/>
          </a:p>
        </p:txBody>
      </p:sp>
      <p:sp>
        <p:nvSpPr>
          <p:cNvPr id="33" name="Text 31"/>
          <p:cNvSpPr/>
          <p:nvPr/>
        </p:nvSpPr>
        <p:spPr>
          <a:xfrm>
            <a:off x="6172200" y="3968496"/>
            <a:ext cx="2468880" cy="749808"/>
          </a:xfrm>
          <a:prstGeom prst="rect">
            <a:avLst/>
          </a:prstGeom>
          <a:noFill/>
          <a:ln/>
        </p:spPr>
        <p:txBody>
          <a:bodyPr wrap="square" lIns="0" tIns="0" rIns="0" bIns="0" rtlCol="0" anchor="ctr"/>
          <a:lstStyle/>
          <a:p>
            <a:pPr indent="0" marL="0">
              <a:lnSpc>
                <a:spcPct val="140000"/>
              </a:lnSpc>
              <a:buNone/>
            </a:pPr>
            <a:r>
              <a:rPr lang="en-US" sz="950" dirty="0">
                <a:solidFill>
                  <a:srgbClr val="C8D4F0"/>
                </a:solidFill>
              </a:rPr>
              <a:t>Structured content means AI can help search, recommend, and analyse. Architecture knowledge scales without scaling the number of architects.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1800" b="1" dirty="0">
                <a:solidFill>
                  <a:srgbClr val="FFFFFF"/>
                </a:solidFill>
              </a:rPr>
              <a:t>The enterprise architecture asset base — six workstreams</a:t>
            </a:r>
            <a:endParaRPr lang="en-US" sz="1800" dirty="0"/>
          </a:p>
        </p:txBody>
      </p:sp>
      <p:sp>
        <p:nvSpPr>
          <p:cNvPr id="4" name="Text 2"/>
          <p:cNvSpPr/>
          <p:nvPr/>
        </p:nvSpPr>
        <p:spPr>
          <a:xfrm>
            <a:off x="274320" y="868680"/>
            <a:ext cx="8595360" cy="274320"/>
          </a:xfrm>
          <a:prstGeom prst="rect">
            <a:avLst/>
          </a:prstGeom>
          <a:noFill/>
          <a:ln/>
        </p:spPr>
        <p:txBody>
          <a:bodyPr wrap="square" lIns="0" tIns="0" rIns="0" bIns="0" rtlCol="0" anchor="ctr"/>
          <a:lstStyle/>
          <a:p>
            <a:pPr indent="0" marL="0">
              <a:buNone/>
            </a:pPr>
            <a:r>
              <a:rPr lang="en-US" sz="1150" i="1" dirty="0">
                <a:solidFill>
                  <a:srgbClr val="4A5568"/>
                </a:solidFill>
              </a:rPr>
              <a:t>These are not separate documentation areas. They are connected layers of a single shared asset base.</a:t>
            </a:r>
            <a:endParaRPr lang="en-US" sz="1150" dirty="0"/>
          </a:p>
        </p:txBody>
      </p:sp>
      <p:sp>
        <p:nvSpPr>
          <p:cNvPr id="5" name="Shape 3"/>
          <p:cNvSpPr/>
          <p:nvPr/>
        </p:nvSpPr>
        <p:spPr>
          <a:xfrm>
            <a:off x="274320" y="1298448"/>
            <a:ext cx="2743200" cy="169164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6" name="Shape 4"/>
          <p:cNvSpPr/>
          <p:nvPr/>
        </p:nvSpPr>
        <p:spPr>
          <a:xfrm>
            <a:off x="274320" y="1298448"/>
            <a:ext cx="2743200" cy="384048"/>
          </a:xfrm>
          <a:prstGeom prst="rect">
            <a:avLst/>
          </a:prstGeom>
          <a:solidFill>
            <a:srgbClr val="2351C8"/>
          </a:solidFill>
          <a:ln w="12700">
            <a:solidFill>
              <a:srgbClr val="2351C8"/>
            </a:solidFill>
            <a:prstDash val="solid"/>
          </a:ln>
        </p:spPr>
      </p:sp>
      <p:sp>
        <p:nvSpPr>
          <p:cNvPr id="7" name="Text 5"/>
          <p:cNvSpPr/>
          <p:nvPr/>
        </p:nvSpPr>
        <p:spPr>
          <a:xfrm>
            <a:off x="384048" y="1298448"/>
            <a:ext cx="2514600" cy="384048"/>
          </a:xfrm>
          <a:prstGeom prst="rect">
            <a:avLst/>
          </a:prstGeom>
          <a:noFill/>
          <a:ln/>
        </p:spPr>
        <p:txBody>
          <a:bodyPr wrap="square" lIns="0" tIns="0" rIns="0" bIns="0" rtlCol="0" anchor="ctr"/>
          <a:lstStyle/>
          <a:p>
            <a:pPr indent="0" marL="0">
              <a:buNone/>
            </a:pPr>
            <a:r>
              <a:rPr lang="en-US" sz="1100" b="1" dirty="0">
                <a:solidFill>
                  <a:srgbClr val="FFFFFF"/>
                </a:solidFill>
              </a:rPr>
              <a:t>Business architecture</a:t>
            </a:r>
            <a:endParaRPr lang="en-US" sz="1100" dirty="0"/>
          </a:p>
        </p:txBody>
      </p:sp>
      <p:sp>
        <p:nvSpPr>
          <p:cNvPr id="8" name="Text 6"/>
          <p:cNvSpPr/>
          <p:nvPr/>
        </p:nvSpPr>
        <p:spPr>
          <a:xfrm>
            <a:off x="384048" y="1773936"/>
            <a:ext cx="2542032" cy="256032"/>
          </a:xfrm>
          <a:prstGeom prst="rect">
            <a:avLst/>
          </a:prstGeom>
          <a:noFill/>
          <a:ln/>
        </p:spPr>
        <p:txBody>
          <a:bodyPr wrap="square" lIns="0" tIns="0" rIns="0" bIns="0" rtlCol="0" anchor="ctr"/>
          <a:lstStyle/>
          <a:p>
            <a:pPr indent="0" marL="0">
              <a:buNone/>
            </a:pPr>
            <a:r>
              <a:rPr lang="en-US" sz="950" dirty="0">
                <a:solidFill>
                  <a:srgbClr val="4A5568"/>
                </a:solidFill>
              </a:rPr>
              <a:t>– Capability map</a:t>
            </a:r>
            <a:endParaRPr lang="en-US" sz="950" dirty="0"/>
          </a:p>
        </p:txBody>
      </p:sp>
      <p:sp>
        <p:nvSpPr>
          <p:cNvPr id="9" name="Text 7"/>
          <p:cNvSpPr/>
          <p:nvPr/>
        </p:nvSpPr>
        <p:spPr>
          <a:xfrm>
            <a:off x="384048" y="2066544"/>
            <a:ext cx="2542032" cy="256032"/>
          </a:xfrm>
          <a:prstGeom prst="rect">
            <a:avLst/>
          </a:prstGeom>
          <a:noFill/>
          <a:ln/>
        </p:spPr>
        <p:txBody>
          <a:bodyPr wrap="square" lIns="0" tIns="0" rIns="0" bIns="0" rtlCol="0" anchor="ctr"/>
          <a:lstStyle/>
          <a:p>
            <a:pPr indent="0" marL="0">
              <a:buNone/>
            </a:pPr>
            <a:r>
              <a:rPr lang="en-US" sz="950" dirty="0">
                <a:solidFill>
                  <a:srgbClr val="4A5568"/>
                </a:solidFill>
              </a:rPr>
              <a:t>– Value streams</a:t>
            </a:r>
            <a:endParaRPr lang="en-US" sz="950" dirty="0"/>
          </a:p>
        </p:txBody>
      </p:sp>
      <p:sp>
        <p:nvSpPr>
          <p:cNvPr id="10" name="Text 8"/>
          <p:cNvSpPr/>
          <p:nvPr/>
        </p:nvSpPr>
        <p:spPr>
          <a:xfrm>
            <a:off x="384048" y="2359152"/>
            <a:ext cx="2542032" cy="256032"/>
          </a:xfrm>
          <a:prstGeom prst="rect">
            <a:avLst/>
          </a:prstGeom>
          <a:noFill/>
          <a:ln/>
        </p:spPr>
        <p:txBody>
          <a:bodyPr wrap="square" lIns="0" tIns="0" rIns="0" bIns="0" rtlCol="0" anchor="ctr"/>
          <a:lstStyle/>
          <a:p>
            <a:pPr indent="0" marL="0">
              <a:buNone/>
            </a:pPr>
            <a:r>
              <a:rPr lang="en-US" sz="950" dirty="0">
                <a:solidFill>
                  <a:srgbClr val="4A5568"/>
                </a:solidFill>
              </a:rPr>
              <a:t>– Business service catalog</a:t>
            </a:r>
            <a:endParaRPr lang="en-US" sz="950" dirty="0"/>
          </a:p>
        </p:txBody>
      </p:sp>
      <p:sp>
        <p:nvSpPr>
          <p:cNvPr id="11" name="Text 9"/>
          <p:cNvSpPr/>
          <p:nvPr/>
        </p:nvSpPr>
        <p:spPr>
          <a:xfrm>
            <a:off x="384048" y="2651760"/>
            <a:ext cx="2542032" cy="256032"/>
          </a:xfrm>
          <a:prstGeom prst="rect">
            <a:avLst/>
          </a:prstGeom>
          <a:noFill/>
          <a:ln/>
        </p:spPr>
        <p:txBody>
          <a:bodyPr wrap="square" lIns="0" tIns="0" rIns="0" bIns="0" rtlCol="0" anchor="ctr"/>
          <a:lstStyle/>
          <a:p>
            <a:pPr indent="0" marL="0">
              <a:buNone/>
            </a:pPr>
            <a:r>
              <a:rPr lang="en-US" sz="950" dirty="0">
                <a:solidFill>
                  <a:srgbClr val="4A5568"/>
                </a:solidFill>
              </a:rPr>
              <a:t>– Business process patterns</a:t>
            </a:r>
            <a:endParaRPr lang="en-US" sz="950" dirty="0"/>
          </a:p>
        </p:txBody>
      </p:sp>
      <p:sp>
        <p:nvSpPr>
          <p:cNvPr id="12" name="Shape 10"/>
          <p:cNvSpPr/>
          <p:nvPr/>
        </p:nvSpPr>
        <p:spPr>
          <a:xfrm>
            <a:off x="3182112" y="1298448"/>
            <a:ext cx="2743200" cy="169164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3" name="Shape 11"/>
          <p:cNvSpPr/>
          <p:nvPr/>
        </p:nvSpPr>
        <p:spPr>
          <a:xfrm>
            <a:off x="3182112" y="1298448"/>
            <a:ext cx="2743200" cy="384048"/>
          </a:xfrm>
          <a:prstGeom prst="rect">
            <a:avLst/>
          </a:prstGeom>
          <a:solidFill>
            <a:srgbClr val="00838F"/>
          </a:solidFill>
          <a:ln w="12700">
            <a:solidFill>
              <a:srgbClr val="00838F"/>
            </a:solidFill>
            <a:prstDash val="solid"/>
          </a:ln>
        </p:spPr>
      </p:sp>
      <p:sp>
        <p:nvSpPr>
          <p:cNvPr id="14" name="Text 12"/>
          <p:cNvSpPr/>
          <p:nvPr/>
        </p:nvSpPr>
        <p:spPr>
          <a:xfrm>
            <a:off x="3291840" y="1298448"/>
            <a:ext cx="2514600" cy="384048"/>
          </a:xfrm>
          <a:prstGeom prst="rect">
            <a:avLst/>
          </a:prstGeom>
          <a:noFill/>
          <a:ln/>
        </p:spPr>
        <p:txBody>
          <a:bodyPr wrap="square" lIns="0" tIns="0" rIns="0" bIns="0" rtlCol="0" anchor="ctr"/>
          <a:lstStyle/>
          <a:p>
            <a:pPr indent="0" marL="0">
              <a:buNone/>
            </a:pPr>
            <a:r>
              <a:rPr lang="en-US" sz="1100" b="1" dirty="0">
                <a:solidFill>
                  <a:srgbClr val="FFFFFF"/>
                </a:solidFill>
              </a:rPr>
              <a:t>Application &amp; logical</a:t>
            </a:r>
            <a:endParaRPr lang="en-US" sz="1100" dirty="0"/>
          </a:p>
        </p:txBody>
      </p:sp>
      <p:sp>
        <p:nvSpPr>
          <p:cNvPr id="15" name="Text 13"/>
          <p:cNvSpPr/>
          <p:nvPr/>
        </p:nvSpPr>
        <p:spPr>
          <a:xfrm>
            <a:off x="3291840" y="1773936"/>
            <a:ext cx="2542032" cy="256032"/>
          </a:xfrm>
          <a:prstGeom prst="rect">
            <a:avLst/>
          </a:prstGeom>
          <a:noFill/>
          <a:ln/>
        </p:spPr>
        <p:txBody>
          <a:bodyPr wrap="square" lIns="0" tIns="0" rIns="0" bIns="0" rtlCol="0" anchor="ctr"/>
          <a:lstStyle/>
          <a:p>
            <a:pPr indent="0" marL="0">
              <a:buNone/>
            </a:pPr>
            <a:r>
              <a:rPr lang="en-US" sz="950" dirty="0">
                <a:solidFill>
                  <a:srgbClr val="4A5568"/>
                </a:solidFill>
              </a:rPr>
              <a:t>– Application catalog</a:t>
            </a:r>
            <a:endParaRPr lang="en-US" sz="950" dirty="0"/>
          </a:p>
        </p:txBody>
      </p:sp>
      <p:sp>
        <p:nvSpPr>
          <p:cNvPr id="16" name="Text 14"/>
          <p:cNvSpPr/>
          <p:nvPr/>
        </p:nvSpPr>
        <p:spPr>
          <a:xfrm>
            <a:off x="3291840" y="2066544"/>
            <a:ext cx="2542032" cy="256032"/>
          </a:xfrm>
          <a:prstGeom prst="rect">
            <a:avLst/>
          </a:prstGeom>
          <a:noFill/>
          <a:ln/>
        </p:spPr>
        <p:txBody>
          <a:bodyPr wrap="square" lIns="0" tIns="0" rIns="0" bIns="0" rtlCol="0" anchor="ctr"/>
          <a:lstStyle/>
          <a:p>
            <a:pPr indent="0" marL="0">
              <a:buNone/>
            </a:pPr>
            <a:r>
              <a:rPr lang="en-US" sz="950" dirty="0">
                <a:solidFill>
                  <a:srgbClr val="4A5568"/>
                </a:solidFill>
              </a:rPr>
              <a:t>– Integration patterns</a:t>
            </a:r>
            <a:endParaRPr lang="en-US" sz="950" dirty="0"/>
          </a:p>
        </p:txBody>
      </p:sp>
      <p:sp>
        <p:nvSpPr>
          <p:cNvPr id="17" name="Text 15"/>
          <p:cNvSpPr/>
          <p:nvPr/>
        </p:nvSpPr>
        <p:spPr>
          <a:xfrm>
            <a:off x="3291840" y="2359152"/>
            <a:ext cx="2542032" cy="256032"/>
          </a:xfrm>
          <a:prstGeom prst="rect">
            <a:avLst/>
          </a:prstGeom>
          <a:noFill/>
          <a:ln/>
        </p:spPr>
        <p:txBody>
          <a:bodyPr wrap="square" lIns="0" tIns="0" rIns="0" bIns="0" rtlCol="0" anchor="ctr"/>
          <a:lstStyle/>
          <a:p>
            <a:pPr indent="0" marL="0">
              <a:buNone/>
            </a:pPr>
            <a:r>
              <a:rPr lang="en-US" sz="950" dirty="0">
                <a:solidFill>
                  <a:srgbClr val="4A5568"/>
                </a:solidFill>
              </a:rPr>
              <a:t>– Logical solution patterns</a:t>
            </a:r>
            <a:endParaRPr lang="en-US" sz="950" dirty="0"/>
          </a:p>
        </p:txBody>
      </p:sp>
      <p:sp>
        <p:nvSpPr>
          <p:cNvPr id="18" name="Text 16"/>
          <p:cNvSpPr/>
          <p:nvPr/>
        </p:nvSpPr>
        <p:spPr>
          <a:xfrm>
            <a:off x="3291840" y="2651760"/>
            <a:ext cx="2542032" cy="256032"/>
          </a:xfrm>
          <a:prstGeom prst="rect">
            <a:avLst/>
          </a:prstGeom>
          <a:noFill/>
          <a:ln/>
        </p:spPr>
        <p:txBody>
          <a:bodyPr wrap="square" lIns="0" tIns="0" rIns="0" bIns="0" rtlCol="0" anchor="ctr"/>
          <a:lstStyle/>
          <a:p>
            <a:pPr indent="0" marL="0">
              <a:buNone/>
            </a:pPr>
            <a:r>
              <a:rPr lang="en-US" sz="950" dirty="0">
                <a:solidFill>
                  <a:srgbClr val="4A5568"/>
                </a:solidFill>
              </a:rPr>
              <a:t>– Dependency map</a:t>
            </a:r>
            <a:endParaRPr lang="en-US" sz="950" dirty="0"/>
          </a:p>
        </p:txBody>
      </p:sp>
      <p:sp>
        <p:nvSpPr>
          <p:cNvPr id="19" name="Shape 17"/>
          <p:cNvSpPr/>
          <p:nvPr/>
        </p:nvSpPr>
        <p:spPr>
          <a:xfrm>
            <a:off x="6089904" y="1298448"/>
            <a:ext cx="2743200" cy="169164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0" name="Shape 18"/>
          <p:cNvSpPr/>
          <p:nvPr/>
        </p:nvSpPr>
        <p:spPr>
          <a:xfrm>
            <a:off x="6089904" y="1298448"/>
            <a:ext cx="2743200" cy="384048"/>
          </a:xfrm>
          <a:prstGeom prst="rect">
            <a:avLst/>
          </a:prstGeom>
          <a:solidFill>
            <a:srgbClr val="1B5E20"/>
          </a:solidFill>
          <a:ln w="12700">
            <a:solidFill>
              <a:srgbClr val="1B5E20"/>
            </a:solidFill>
            <a:prstDash val="solid"/>
          </a:ln>
        </p:spPr>
      </p:sp>
      <p:sp>
        <p:nvSpPr>
          <p:cNvPr id="21" name="Text 19"/>
          <p:cNvSpPr/>
          <p:nvPr/>
        </p:nvSpPr>
        <p:spPr>
          <a:xfrm>
            <a:off x="6199632" y="1298448"/>
            <a:ext cx="2514600" cy="384048"/>
          </a:xfrm>
          <a:prstGeom prst="rect">
            <a:avLst/>
          </a:prstGeom>
          <a:noFill/>
          <a:ln/>
        </p:spPr>
        <p:txBody>
          <a:bodyPr wrap="square" lIns="0" tIns="0" rIns="0" bIns="0" rtlCol="0" anchor="ctr"/>
          <a:lstStyle/>
          <a:p>
            <a:pPr indent="0" marL="0">
              <a:buNone/>
            </a:pPr>
            <a:r>
              <a:rPr lang="en-US" sz="1100" b="1" dirty="0">
                <a:solidFill>
                  <a:srgbClr val="FFFFFF"/>
                </a:solidFill>
              </a:rPr>
              <a:t>Data architecture</a:t>
            </a:r>
            <a:endParaRPr lang="en-US" sz="1100" dirty="0"/>
          </a:p>
        </p:txBody>
      </p:sp>
      <p:sp>
        <p:nvSpPr>
          <p:cNvPr id="22" name="Text 20"/>
          <p:cNvSpPr/>
          <p:nvPr/>
        </p:nvSpPr>
        <p:spPr>
          <a:xfrm>
            <a:off x="6199632" y="1773936"/>
            <a:ext cx="2542032" cy="256032"/>
          </a:xfrm>
          <a:prstGeom prst="rect">
            <a:avLst/>
          </a:prstGeom>
          <a:noFill/>
          <a:ln/>
        </p:spPr>
        <p:txBody>
          <a:bodyPr wrap="square" lIns="0" tIns="0" rIns="0" bIns="0" rtlCol="0" anchor="ctr"/>
          <a:lstStyle/>
          <a:p>
            <a:pPr indent="0" marL="0">
              <a:buNone/>
            </a:pPr>
            <a:r>
              <a:rPr lang="en-US" sz="950" dirty="0">
                <a:solidFill>
                  <a:srgbClr val="4A5568"/>
                </a:solidFill>
              </a:rPr>
              <a:t>– Data domain model</a:t>
            </a:r>
            <a:endParaRPr lang="en-US" sz="950" dirty="0"/>
          </a:p>
        </p:txBody>
      </p:sp>
      <p:sp>
        <p:nvSpPr>
          <p:cNvPr id="23" name="Text 21"/>
          <p:cNvSpPr/>
          <p:nvPr/>
        </p:nvSpPr>
        <p:spPr>
          <a:xfrm>
            <a:off x="6199632" y="2066544"/>
            <a:ext cx="2542032" cy="256032"/>
          </a:xfrm>
          <a:prstGeom prst="rect">
            <a:avLst/>
          </a:prstGeom>
          <a:noFill/>
          <a:ln/>
        </p:spPr>
        <p:txBody>
          <a:bodyPr wrap="square" lIns="0" tIns="0" rIns="0" bIns="0" rtlCol="0" anchor="ctr"/>
          <a:lstStyle/>
          <a:p>
            <a:pPr indent="0" marL="0">
              <a:buNone/>
            </a:pPr>
            <a:r>
              <a:rPr lang="en-US" sz="950" dirty="0">
                <a:solidFill>
                  <a:srgbClr val="4A5568"/>
                </a:solidFill>
              </a:rPr>
              <a:t>– Canonical data entities</a:t>
            </a:r>
            <a:endParaRPr lang="en-US" sz="950" dirty="0"/>
          </a:p>
        </p:txBody>
      </p:sp>
      <p:sp>
        <p:nvSpPr>
          <p:cNvPr id="24" name="Text 22"/>
          <p:cNvSpPr/>
          <p:nvPr/>
        </p:nvSpPr>
        <p:spPr>
          <a:xfrm>
            <a:off x="6199632" y="2359152"/>
            <a:ext cx="2542032" cy="256032"/>
          </a:xfrm>
          <a:prstGeom prst="rect">
            <a:avLst/>
          </a:prstGeom>
          <a:noFill/>
          <a:ln/>
        </p:spPr>
        <p:txBody>
          <a:bodyPr wrap="square" lIns="0" tIns="0" rIns="0" bIns="0" rtlCol="0" anchor="ctr"/>
          <a:lstStyle/>
          <a:p>
            <a:pPr indent="0" marL="0">
              <a:buNone/>
            </a:pPr>
            <a:r>
              <a:rPr lang="en-US" sz="950" dirty="0">
                <a:solidFill>
                  <a:srgbClr val="4A5568"/>
                </a:solidFill>
              </a:rPr>
              <a:t>– Data flow patterns</a:t>
            </a:r>
            <a:endParaRPr lang="en-US" sz="950" dirty="0"/>
          </a:p>
        </p:txBody>
      </p:sp>
      <p:sp>
        <p:nvSpPr>
          <p:cNvPr id="25" name="Text 23"/>
          <p:cNvSpPr/>
          <p:nvPr/>
        </p:nvSpPr>
        <p:spPr>
          <a:xfrm>
            <a:off x="6199632" y="2651760"/>
            <a:ext cx="2542032" cy="256032"/>
          </a:xfrm>
          <a:prstGeom prst="rect">
            <a:avLst/>
          </a:prstGeom>
          <a:noFill/>
          <a:ln/>
        </p:spPr>
        <p:txBody>
          <a:bodyPr wrap="square" lIns="0" tIns="0" rIns="0" bIns="0" rtlCol="0" anchor="ctr"/>
          <a:lstStyle/>
          <a:p>
            <a:pPr indent="0" marL="0">
              <a:buNone/>
            </a:pPr>
            <a:r>
              <a:rPr lang="en-US" sz="950" dirty="0">
                <a:solidFill>
                  <a:srgbClr val="4A5568"/>
                </a:solidFill>
              </a:rPr>
              <a:t>– Data classification &amp; ownership</a:t>
            </a:r>
            <a:endParaRPr lang="en-US" sz="950" dirty="0"/>
          </a:p>
        </p:txBody>
      </p:sp>
      <p:sp>
        <p:nvSpPr>
          <p:cNvPr id="26" name="Shape 24"/>
          <p:cNvSpPr/>
          <p:nvPr/>
        </p:nvSpPr>
        <p:spPr>
          <a:xfrm>
            <a:off x="274320" y="3172968"/>
            <a:ext cx="2743200" cy="169164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7" name="Shape 25"/>
          <p:cNvSpPr/>
          <p:nvPr/>
        </p:nvSpPr>
        <p:spPr>
          <a:xfrm>
            <a:off x="274320" y="3172968"/>
            <a:ext cx="2743200" cy="384048"/>
          </a:xfrm>
          <a:prstGeom prst="rect">
            <a:avLst/>
          </a:prstGeom>
          <a:solidFill>
            <a:srgbClr val="4A148C"/>
          </a:solidFill>
          <a:ln w="12700">
            <a:solidFill>
              <a:srgbClr val="4A148C"/>
            </a:solidFill>
            <a:prstDash val="solid"/>
          </a:ln>
        </p:spPr>
      </p:sp>
      <p:sp>
        <p:nvSpPr>
          <p:cNvPr id="28" name="Text 26"/>
          <p:cNvSpPr/>
          <p:nvPr/>
        </p:nvSpPr>
        <p:spPr>
          <a:xfrm>
            <a:off x="384048" y="3172968"/>
            <a:ext cx="2514600" cy="384048"/>
          </a:xfrm>
          <a:prstGeom prst="rect">
            <a:avLst/>
          </a:prstGeom>
          <a:noFill/>
          <a:ln/>
        </p:spPr>
        <p:txBody>
          <a:bodyPr wrap="square" lIns="0" tIns="0" rIns="0" bIns="0" rtlCol="0" anchor="ctr"/>
          <a:lstStyle/>
          <a:p>
            <a:pPr indent="0" marL="0">
              <a:buNone/>
            </a:pPr>
            <a:r>
              <a:rPr lang="en-US" sz="1100" b="1" dirty="0">
                <a:solidFill>
                  <a:srgbClr val="FFFFFF"/>
                </a:solidFill>
              </a:rPr>
              <a:t>Technology &amp; infra</a:t>
            </a:r>
            <a:endParaRPr lang="en-US" sz="1100" dirty="0"/>
          </a:p>
        </p:txBody>
      </p:sp>
      <p:sp>
        <p:nvSpPr>
          <p:cNvPr id="29" name="Text 27"/>
          <p:cNvSpPr/>
          <p:nvPr/>
        </p:nvSpPr>
        <p:spPr>
          <a:xfrm>
            <a:off x="384048" y="3648456"/>
            <a:ext cx="2542032" cy="256032"/>
          </a:xfrm>
          <a:prstGeom prst="rect">
            <a:avLst/>
          </a:prstGeom>
          <a:noFill/>
          <a:ln/>
        </p:spPr>
        <p:txBody>
          <a:bodyPr wrap="square" lIns="0" tIns="0" rIns="0" bIns="0" rtlCol="0" anchor="ctr"/>
          <a:lstStyle/>
          <a:p>
            <a:pPr indent="0" marL="0">
              <a:buNone/>
            </a:pPr>
            <a:r>
              <a:rPr lang="en-US" sz="950" dirty="0">
                <a:solidFill>
                  <a:srgbClr val="4A5568"/>
                </a:solidFill>
              </a:rPr>
              <a:t>– Platform catalog</a:t>
            </a:r>
            <a:endParaRPr lang="en-US" sz="950" dirty="0"/>
          </a:p>
        </p:txBody>
      </p:sp>
      <p:sp>
        <p:nvSpPr>
          <p:cNvPr id="30" name="Text 28"/>
          <p:cNvSpPr/>
          <p:nvPr/>
        </p:nvSpPr>
        <p:spPr>
          <a:xfrm>
            <a:off x="384048" y="3941064"/>
            <a:ext cx="2542032" cy="256032"/>
          </a:xfrm>
          <a:prstGeom prst="rect">
            <a:avLst/>
          </a:prstGeom>
          <a:noFill/>
          <a:ln/>
        </p:spPr>
        <p:txBody>
          <a:bodyPr wrap="square" lIns="0" tIns="0" rIns="0" bIns="0" rtlCol="0" anchor="ctr"/>
          <a:lstStyle/>
          <a:p>
            <a:pPr indent="0" marL="0">
              <a:buNone/>
            </a:pPr>
            <a:r>
              <a:rPr lang="en-US" sz="950" dirty="0">
                <a:solidFill>
                  <a:srgbClr val="4A5568"/>
                </a:solidFill>
              </a:rPr>
              <a:t>– Deployment patterns</a:t>
            </a:r>
            <a:endParaRPr lang="en-US" sz="950" dirty="0"/>
          </a:p>
        </p:txBody>
      </p:sp>
      <p:sp>
        <p:nvSpPr>
          <p:cNvPr id="31" name="Text 29"/>
          <p:cNvSpPr/>
          <p:nvPr/>
        </p:nvSpPr>
        <p:spPr>
          <a:xfrm>
            <a:off x="384048" y="4233672"/>
            <a:ext cx="2542032" cy="256032"/>
          </a:xfrm>
          <a:prstGeom prst="rect">
            <a:avLst/>
          </a:prstGeom>
          <a:noFill/>
          <a:ln/>
        </p:spPr>
        <p:txBody>
          <a:bodyPr wrap="square" lIns="0" tIns="0" rIns="0" bIns="0" rtlCol="0" anchor="ctr"/>
          <a:lstStyle/>
          <a:p>
            <a:pPr indent="0" marL="0">
              <a:buNone/>
            </a:pPr>
            <a:r>
              <a:rPr lang="en-US" sz="950" dirty="0">
                <a:solidFill>
                  <a:srgbClr val="4A5568"/>
                </a:solidFill>
              </a:rPr>
              <a:t>– Environment standards</a:t>
            </a:r>
            <a:endParaRPr lang="en-US" sz="950" dirty="0"/>
          </a:p>
        </p:txBody>
      </p:sp>
      <p:sp>
        <p:nvSpPr>
          <p:cNvPr id="32" name="Text 30"/>
          <p:cNvSpPr/>
          <p:nvPr/>
        </p:nvSpPr>
        <p:spPr>
          <a:xfrm>
            <a:off x="384048" y="4526280"/>
            <a:ext cx="2542032" cy="256032"/>
          </a:xfrm>
          <a:prstGeom prst="rect">
            <a:avLst/>
          </a:prstGeom>
          <a:noFill/>
          <a:ln/>
        </p:spPr>
        <p:txBody>
          <a:bodyPr wrap="square" lIns="0" tIns="0" rIns="0" bIns="0" rtlCol="0" anchor="ctr"/>
          <a:lstStyle/>
          <a:p>
            <a:pPr indent="0" marL="0">
              <a:buNone/>
            </a:pPr>
            <a:r>
              <a:rPr lang="en-US" sz="950" dirty="0">
                <a:solidFill>
                  <a:srgbClr val="4A5568"/>
                </a:solidFill>
              </a:rPr>
              <a:t>– Approved technology stack</a:t>
            </a:r>
            <a:endParaRPr lang="en-US" sz="950" dirty="0"/>
          </a:p>
        </p:txBody>
      </p:sp>
      <p:sp>
        <p:nvSpPr>
          <p:cNvPr id="33" name="Shape 31"/>
          <p:cNvSpPr/>
          <p:nvPr/>
        </p:nvSpPr>
        <p:spPr>
          <a:xfrm>
            <a:off x="3182112" y="3172968"/>
            <a:ext cx="2743200" cy="169164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34" name="Shape 32"/>
          <p:cNvSpPr/>
          <p:nvPr/>
        </p:nvSpPr>
        <p:spPr>
          <a:xfrm>
            <a:off x="3182112" y="3172968"/>
            <a:ext cx="2743200" cy="384048"/>
          </a:xfrm>
          <a:prstGeom prst="rect">
            <a:avLst/>
          </a:prstGeom>
          <a:solidFill>
            <a:srgbClr val="B71C1C"/>
          </a:solidFill>
          <a:ln w="12700">
            <a:solidFill>
              <a:srgbClr val="B71C1C"/>
            </a:solidFill>
            <a:prstDash val="solid"/>
          </a:ln>
        </p:spPr>
      </p:sp>
      <p:sp>
        <p:nvSpPr>
          <p:cNvPr id="35" name="Text 33"/>
          <p:cNvSpPr/>
          <p:nvPr/>
        </p:nvSpPr>
        <p:spPr>
          <a:xfrm>
            <a:off x="3291840" y="3172968"/>
            <a:ext cx="2514600" cy="384048"/>
          </a:xfrm>
          <a:prstGeom prst="rect">
            <a:avLst/>
          </a:prstGeom>
          <a:noFill/>
          <a:ln/>
        </p:spPr>
        <p:txBody>
          <a:bodyPr wrap="square" lIns="0" tIns="0" rIns="0" bIns="0" rtlCol="0" anchor="ctr"/>
          <a:lstStyle/>
          <a:p>
            <a:pPr indent="0" marL="0">
              <a:buNone/>
            </a:pPr>
            <a:r>
              <a:rPr lang="en-US" sz="1100" b="1" dirty="0">
                <a:solidFill>
                  <a:srgbClr val="FFFFFF"/>
                </a:solidFill>
              </a:rPr>
              <a:t>Security architecture</a:t>
            </a:r>
            <a:endParaRPr lang="en-US" sz="1100" dirty="0"/>
          </a:p>
        </p:txBody>
      </p:sp>
      <p:sp>
        <p:nvSpPr>
          <p:cNvPr id="36" name="Text 34"/>
          <p:cNvSpPr/>
          <p:nvPr/>
        </p:nvSpPr>
        <p:spPr>
          <a:xfrm>
            <a:off x="3291840" y="3648456"/>
            <a:ext cx="2542032" cy="256032"/>
          </a:xfrm>
          <a:prstGeom prst="rect">
            <a:avLst/>
          </a:prstGeom>
          <a:noFill/>
          <a:ln/>
        </p:spPr>
        <p:txBody>
          <a:bodyPr wrap="square" lIns="0" tIns="0" rIns="0" bIns="0" rtlCol="0" anchor="ctr"/>
          <a:lstStyle/>
          <a:p>
            <a:pPr indent="0" marL="0">
              <a:buNone/>
            </a:pPr>
            <a:r>
              <a:rPr lang="en-US" sz="950" dirty="0">
                <a:solidFill>
                  <a:srgbClr val="4A5568"/>
                </a:solidFill>
              </a:rPr>
              <a:t>– Control catalog</a:t>
            </a:r>
            <a:endParaRPr lang="en-US" sz="950" dirty="0"/>
          </a:p>
        </p:txBody>
      </p:sp>
      <p:sp>
        <p:nvSpPr>
          <p:cNvPr id="37" name="Text 35"/>
          <p:cNvSpPr/>
          <p:nvPr/>
        </p:nvSpPr>
        <p:spPr>
          <a:xfrm>
            <a:off x="3291840" y="3941064"/>
            <a:ext cx="2542032" cy="256032"/>
          </a:xfrm>
          <a:prstGeom prst="rect">
            <a:avLst/>
          </a:prstGeom>
          <a:noFill/>
          <a:ln/>
        </p:spPr>
        <p:txBody>
          <a:bodyPr wrap="square" lIns="0" tIns="0" rIns="0" bIns="0" rtlCol="0" anchor="ctr"/>
          <a:lstStyle/>
          <a:p>
            <a:pPr indent="0" marL="0">
              <a:buNone/>
            </a:pPr>
            <a:r>
              <a:rPr lang="en-US" sz="950" dirty="0">
                <a:solidFill>
                  <a:srgbClr val="4A5568"/>
                </a:solidFill>
              </a:rPr>
              <a:t>– Security pattern library</a:t>
            </a:r>
            <a:endParaRPr lang="en-US" sz="950" dirty="0"/>
          </a:p>
        </p:txBody>
      </p:sp>
      <p:sp>
        <p:nvSpPr>
          <p:cNvPr id="38" name="Text 36"/>
          <p:cNvSpPr/>
          <p:nvPr/>
        </p:nvSpPr>
        <p:spPr>
          <a:xfrm>
            <a:off x="3291840" y="4233672"/>
            <a:ext cx="2542032" cy="256032"/>
          </a:xfrm>
          <a:prstGeom prst="rect">
            <a:avLst/>
          </a:prstGeom>
          <a:noFill/>
          <a:ln/>
        </p:spPr>
        <p:txBody>
          <a:bodyPr wrap="square" lIns="0" tIns="0" rIns="0" bIns="0" rtlCol="0" anchor="ctr"/>
          <a:lstStyle/>
          <a:p>
            <a:pPr indent="0" marL="0">
              <a:buNone/>
            </a:pPr>
            <a:r>
              <a:rPr lang="en-US" sz="950" dirty="0">
                <a:solidFill>
                  <a:srgbClr val="4A5568"/>
                </a:solidFill>
              </a:rPr>
              <a:t>– Security-by-design standards</a:t>
            </a:r>
            <a:endParaRPr lang="en-US" sz="950" dirty="0"/>
          </a:p>
        </p:txBody>
      </p:sp>
      <p:sp>
        <p:nvSpPr>
          <p:cNvPr id="39" name="Text 37"/>
          <p:cNvSpPr/>
          <p:nvPr/>
        </p:nvSpPr>
        <p:spPr>
          <a:xfrm>
            <a:off x="3291840" y="4526280"/>
            <a:ext cx="2542032" cy="256032"/>
          </a:xfrm>
          <a:prstGeom prst="rect">
            <a:avLst/>
          </a:prstGeom>
          <a:noFill/>
          <a:ln/>
        </p:spPr>
        <p:txBody>
          <a:bodyPr wrap="square" lIns="0" tIns="0" rIns="0" bIns="0" rtlCol="0" anchor="ctr"/>
          <a:lstStyle/>
          <a:p>
            <a:pPr indent="0" marL="0">
              <a:buNone/>
            </a:pPr>
            <a:r>
              <a:rPr lang="en-US" sz="950" dirty="0">
                <a:solidFill>
                  <a:srgbClr val="4A5568"/>
                </a:solidFill>
              </a:rPr>
              <a:t>– Compliance traceability model</a:t>
            </a:r>
            <a:endParaRPr lang="en-US" sz="950" dirty="0"/>
          </a:p>
        </p:txBody>
      </p:sp>
      <p:sp>
        <p:nvSpPr>
          <p:cNvPr id="40" name="Shape 38"/>
          <p:cNvSpPr/>
          <p:nvPr/>
        </p:nvSpPr>
        <p:spPr>
          <a:xfrm>
            <a:off x="6089904" y="3172968"/>
            <a:ext cx="2743200" cy="169164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41" name="Shape 39"/>
          <p:cNvSpPr/>
          <p:nvPr/>
        </p:nvSpPr>
        <p:spPr>
          <a:xfrm>
            <a:off x="6089904" y="3172968"/>
            <a:ext cx="2743200" cy="384048"/>
          </a:xfrm>
          <a:prstGeom prst="rect">
            <a:avLst/>
          </a:prstGeom>
          <a:solidFill>
            <a:srgbClr val="E65100"/>
          </a:solidFill>
          <a:ln w="12700">
            <a:solidFill>
              <a:srgbClr val="E65100"/>
            </a:solidFill>
            <a:prstDash val="solid"/>
          </a:ln>
        </p:spPr>
      </p:sp>
      <p:sp>
        <p:nvSpPr>
          <p:cNvPr id="42" name="Text 40"/>
          <p:cNvSpPr/>
          <p:nvPr/>
        </p:nvSpPr>
        <p:spPr>
          <a:xfrm>
            <a:off x="6199632" y="3172968"/>
            <a:ext cx="2514600" cy="384048"/>
          </a:xfrm>
          <a:prstGeom prst="rect">
            <a:avLst/>
          </a:prstGeom>
          <a:noFill/>
          <a:ln/>
        </p:spPr>
        <p:txBody>
          <a:bodyPr wrap="square" lIns="0" tIns="0" rIns="0" bIns="0" rtlCol="0" anchor="ctr"/>
          <a:lstStyle/>
          <a:p>
            <a:pPr indent="0" marL="0">
              <a:buNone/>
            </a:pPr>
            <a:r>
              <a:rPr lang="en-US" sz="1100" b="1" dirty="0">
                <a:solidFill>
                  <a:srgbClr val="FFFFFF"/>
                </a:solidFill>
              </a:rPr>
              <a:t>Governance &amp; AI readiness</a:t>
            </a:r>
            <a:endParaRPr lang="en-US" sz="1100" dirty="0"/>
          </a:p>
        </p:txBody>
      </p:sp>
      <p:sp>
        <p:nvSpPr>
          <p:cNvPr id="43" name="Text 41"/>
          <p:cNvSpPr/>
          <p:nvPr/>
        </p:nvSpPr>
        <p:spPr>
          <a:xfrm>
            <a:off x="6199632" y="3648456"/>
            <a:ext cx="2542032" cy="256032"/>
          </a:xfrm>
          <a:prstGeom prst="rect">
            <a:avLst/>
          </a:prstGeom>
          <a:noFill/>
          <a:ln/>
        </p:spPr>
        <p:txBody>
          <a:bodyPr wrap="square" lIns="0" tIns="0" rIns="0" bIns="0" rtlCol="0" anchor="ctr"/>
          <a:lstStyle/>
          <a:p>
            <a:pPr indent="0" marL="0">
              <a:buNone/>
            </a:pPr>
            <a:r>
              <a:rPr lang="en-US" sz="950" dirty="0">
                <a:solidFill>
                  <a:srgbClr val="4A5568"/>
                </a:solidFill>
              </a:rPr>
              <a:t>– Architecture metadata standard</a:t>
            </a:r>
            <a:endParaRPr lang="en-US" sz="950" dirty="0"/>
          </a:p>
        </p:txBody>
      </p:sp>
      <p:sp>
        <p:nvSpPr>
          <p:cNvPr id="44" name="Text 42"/>
          <p:cNvSpPr/>
          <p:nvPr/>
        </p:nvSpPr>
        <p:spPr>
          <a:xfrm>
            <a:off x="6199632" y="3941064"/>
            <a:ext cx="2542032" cy="256032"/>
          </a:xfrm>
          <a:prstGeom prst="rect">
            <a:avLst/>
          </a:prstGeom>
          <a:noFill/>
          <a:ln/>
        </p:spPr>
        <p:txBody>
          <a:bodyPr wrap="square" lIns="0" tIns="0" rIns="0" bIns="0" rtlCol="0" anchor="ctr"/>
          <a:lstStyle/>
          <a:p>
            <a:pPr indent="0" marL="0">
              <a:buNone/>
            </a:pPr>
            <a:r>
              <a:rPr lang="en-US" sz="950" dirty="0">
                <a:solidFill>
                  <a:srgbClr val="4A5568"/>
                </a:solidFill>
              </a:rPr>
              <a:t>– Reuse measurement model</a:t>
            </a:r>
            <a:endParaRPr lang="en-US" sz="950" dirty="0"/>
          </a:p>
        </p:txBody>
      </p:sp>
      <p:sp>
        <p:nvSpPr>
          <p:cNvPr id="45" name="Text 43"/>
          <p:cNvSpPr/>
          <p:nvPr/>
        </p:nvSpPr>
        <p:spPr>
          <a:xfrm>
            <a:off x="6199632" y="4233672"/>
            <a:ext cx="2542032" cy="256032"/>
          </a:xfrm>
          <a:prstGeom prst="rect">
            <a:avLst/>
          </a:prstGeom>
          <a:noFill/>
          <a:ln/>
        </p:spPr>
        <p:txBody>
          <a:bodyPr wrap="square" lIns="0" tIns="0" rIns="0" bIns="0" rtlCol="0" anchor="ctr"/>
          <a:lstStyle/>
          <a:p>
            <a:pPr indent="0" marL="0">
              <a:buNone/>
            </a:pPr>
            <a:r>
              <a:rPr lang="en-US" sz="950" dirty="0">
                <a:solidFill>
                  <a:srgbClr val="4A5568"/>
                </a:solidFill>
              </a:rPr>
              <a:t>– AI search &amp; recommendation rules</a:t>
            </a:r>
            <a:endParaRPr lang="en-US" sz="950" dirty="0"/>
          </a:p>
        </p:txBody>
      </p:sp>
      <p:sp>
        <p:nvSpPr>
          <p:cNvPr id="46" name="Text 44"/>
          <p:cNvSpPr/>
          <p:nvPr/>
        </p:nvSpPr>
        <p:spPr>
          <a:xfrm>
            <a:off x="6199632" y="4526280"/>
            <a:ext cx="2542032" cy="256032"/>
          </a:xfrm>
          <a:prstGeom prst="rect">
            <a:avLst/>
          </a:prstGeom>
          <a:noFill/>
          <a:ln/>
        </p:spPr>
        <p:txBody>
          <a:bodyPr wrap="square" lIns="0" tIns="0" rIns="0" bIns="0" rtlCol="0" anchor="ctr"/>
          <a:lstStyle/>
          <a:p>
            <a:pPr indent="0" marL="0">
              <a:buNone/>
            </a:pPr>
            <a:r>
              <a:rPr lang="en-US" sz="950" dirty="0">
                <a:solidFill>
                  <a:srgbClr val="4A5568"/>
                </a:solidFill>
              </a:rPr>
              <a:t>– Quality &amp; completeness scoring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2000" b="1" dirty="0">
                <a:solidFill>
                  <a:srgbClr val="FFFFFF"/>
                </a:solidFill>
              </a:rPr>
              <a:t>End-to-end delivery — seven phases</a:t>
            </a:r>
            <a:endParaRPr lang="en-US" sz="2000" dirty="0"/>
          </a:p>
        </p:txBody>
      </p:sp>
      <p:sp>
        <p:nvSpPr>
          <p:cNvPr id="4" name="Shape 2"/>
          <p:cNvSpPr/>
          <p:nvPr/>
        </p:nvSpPr>
        <p:spPr>
          <a:xfrm>
            <a:off x="594360" y="1993392"/>
            <a:ext cx="7955280" cy="0"/>
          </a:xfrm>
          <a:prstGeom prst="line">
            <a:avLst/>
          </a:prstGeom>
          <a:noFill/>
          <a:ln w="9525">
            <a:solidFill>
              <a:srgbClr val="C8D4F0"/>
            </a:solidFill>
            <a:prstDash val="solid"/>
          </a:ln>
        </p:spPr>
      </p:sp>
      <p:sp>
        <p:nvSpPr>
          <p:cNvPr id="5" name="Shape 3"/>
          <p:cNvSpPr/>
          <p:nvPr/>
        </p:nvSpPr>
        <p:spPr>
          <a:xfrm>
            <a:off x="667512" y="1783080"/>
            <a:ext cx="429768" cy="429768"/>
          </a:xfrm>
          <a:prstGeom prst="ellipse">
            <a:avLst/>
          </a:prstGeom>
          <a:solidFill>
            <a:srgbClr val="EF476F"/>
          </a:solidFill>
          <a:ln w="12700">
            <a:solidFill>
              <a:srgbClr val="EF476F"/>
            </a:solidFill>
            <a:prstDash val="solid"/>
          </a:ln>
        </p:spPr>
      </p:sp>
      <p:sp>
        <p:nvSpPr>
          <p:cNvPr id="6" name="Text 4"/>
          <p:cNvSpPr/>
          <p:nvPr/>
        </p:nvSpPr>
        <p:spPr>
          <a:xfrm>
            <a:off x="66751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Shape 5"/>
          <p:cNvSpPr/>
          <p:nvPr/>
        </p:nvSpPr>
        <p:spPr>
          <a:xfrm>
            <a:off x="36576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8" name="Shape 6"/>
          <p:cNvSpPr/>
          <p:nvPr/>
        </p:nvSpPr>
        <p:spPr>
          <a:xfrm>
            <a:off x="365760" y="2377440"/>
            <a:ext cx="1143000" cy="64008"/>
          </a:xfrm>
          <a:prstGeom prst="rect">
            <a:avLst/>
          </a:prstGeom>
          <a:solidFill>
            <a:srgbClr val="EF476F"/>
          </a:solidFill>
          <a:ln w="12700">
            <a:solidFill>
              <a:srgbClr val="EF476F"/>
            </a:solidFill>
            <a:prstDash val="solid"/>
          </a:ln>
        </p:spPr>
      </p:sp>
      <p:sp>
        <p:nvSpPr>
          <p:cNvPr id="9" name="Text 7"/>
          <p:cNvSpPr/>
          <p:nvPr/>
        </p:nvSpPr>
        <p:spPr>
          <a:xfrm>
            <a:off x="42062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Assess current state</a:t>
            </a:r>
            <a:endParaRPr lang="en-US" sz="950" dirty="0"/>
          </a:p>
        </p:txBody>
      </p:sp>
      <p:sp>
        <p:nvSpPr>
          <p:cNvPr id="10" name="Shape 8"/>
          <p:cNvSpPr/>
          <p:nvPr/>
        </p:nvSpPr>
        <p:spPr>
          <a:xfrm>
            <a:off x="420624" y="3127248"/>
            <a:ext cx="1005840" cy="0"/>
          </a:xfrm>
          <a:prstGeom prst="line">
            <a:avLst/>
          </a:prstGeom>
          <a:noFill/>
          <a:ln w="6350">
            <a:solidFill>
              <a:srgbClr val="DDEEFF"/>
            </a:solidFill>
            <a:prstDash val="solid"/>
          </a:ln>
        </p:spPr>
      </p:sp>
      <p:sp>
        <p:nvSpPr>
          <p:cNvPr id="11" name="Text 9"/>
          <p:cNvSpPr/>
          <p:nvPr/>
        </p:nvSpPr>
        <p:spPr>
          <a:xfrm>
            <a:off x="42062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Understand what exists and how it is used</a:t>
            </a:r>
            <a:endParaRPr lang="en-US" sz="850" dirty="0"/>
          </a:p>
        </p:txBody>
      </p:sp>
      <p:sp>
        <p:nvSpPr>
          <p:cNvPr id="12" name="Shape 10"/>
          <p:cNvSpPr/>
          <p:nvPr/>
        </p:nvSpPr>
        <p:spPr>
          <a:xfrm>
            <a:off x="1856232" y="1783080"/>
            <a:ext cx="429768" cy="429768"/>
          </a:xfrm>
          <a:prstGeom prst="ellipse">
            <a:avLst/>
          </a:prstGeom>
          <a:solidFill>
            <a:srgbClr val="E07B39"/>
          </a:solidFill>
          <a:ln w="12700">
            <a:solidFill>
              <a:srgbClr val="E07B39"/>
            </a:solidFill>
            <a:prstDash val="solid"/>
          </a:ln>
        </p:spPr>
      </p:sp>
      <p:sp>
        <p:nvSpPr>
          <p:cNvPr id="13" name="Text 11"/>
          <p:cNvSpPr/>
          <p:nvPr/>
        </p:nvSpPr>
        <p:spPr>
          <a:xfrm>
            <a:off x="185623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Shape 12"/>
          <p:cNvSpPr/>
          <p:nvPr/>
        </p:nvSpPr>
        <p:spPr>
          <a:xfrm>
            <a:off x="155448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5" name="Shape 13"/>
          <p:cNvSpPr/>
          <p:nvPr/>
        </p:nvSpPr>
        <p:spPr>
          <a:xfrm>
            <a:off x="1554480" y="2377440"/>
            <a:ext cx="1143000" cy="64008"/>
          </a:xfrm>
          <a:prstGeom prst="rect">
            <a:avLst/>
          </a:prstGeom>
          <a:solidFill>
            <a:srgbClr val="E07B39"/>
          </a:solidFill>
          <a:ln w="12700">
            <a:solidFill>
              <a:srgbClr val="E07B39"/>
            </a:solidFill>
            <a:prstDash val="solid"/>
          </a:ln>
        </p:spPr>
      </p:sp>
      <p:sp>
        <p:nvSpPr>
          <p:cNvPr id="16" name="Text 14"/>
          <p:cNvSpPr/>
          <p:nvPr/>
        </p:nvSpPr>
        <p:spPr>
          <a:xfrm>
            <a:off x="160934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Define target model</a:t>
            </a:r>
            <a:endParaRPr lang="en-US" sz="950" dirty="0"/>
          </a:p>
        </p:txBody>
      </p:sp>
      <p:sp>
        <p:nvSpPr>
          <p:cNvPr id="17" name="Shape 15"/>
          <p:cNvSpPr/>
          <p:nvPr/>
        </p:nvSpPr>
        <p:spPr>
          <a:xfrm>
            <a:off x="1609344" y="3127248"/>
            <a:ext cx="1005840" cy="0"/>
          </a:xfrm>
          <a:prstGeom prst="line">
            <a:avLst/>
          </a:prstGeom>
          <a:noFill/>
          <a:ln w="6350">
            <a:solidFill>
              <a:srgbClr val="DDEEFF"/>
            </a:solidFill>
            <a:prstDash val="solid"/>
          </a:ln>
        </p:spPr>
      </p:sp>
      <p:sp>
        <p:nvSpPr>
          <p:cNvPr id="18" name="Text 16"/>
          <p:cNvSpPr/>
          <p:nvPr/>
        </p:nvSpPr>
        <p:spPr>
          <a:xfrm>
            <a:off x="160934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Decide how architecture will work in future</a:t>
            </a:r>
            <a:endParaRPr lang="en-US" sz="850" dirty="0"/>
          </a:p>
        </p:txBody>
      </p:sp>
      <p:sp>
        <p:nvSpPr>
          <p:cNvPr id="19" name="Shape 17"/>
          <p:cNvSpPr/>
          <p:nvPr/>
        </p:nvSpPr>
        <p:spPr>
          <a:xfrm>
            <a:off x="3044952" y="1783080"/>
            <a:ext cx="429768" cy="429768"/>
          </a:xfrm>
          <a:prstGeom prst="ellipse">
            <a:avLst/>
          </a:prstGeom>
          <a:solidFill>
            <a:srgbClr val="FFB703"/>
          </a:solidFill>
          <a:ln w="12700">
            <a:solidFill>
              <a:srgbClr val="FFB703"/>
            </a:solidFill>
            <a:prstDash val="solid"/>
          </a:ln>
        </p:spPr>
      </p:sp>
      <p:sp>
        <p:nvSpPr>
          <p:cNvPr id="20" name="Text 18"/>
          <p:cNvSpPr/>
          <p:nvPr/>
        </p:nvSpPr>
        <p:spPr>
          <a:xfrm>
            <a:off x="304495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1" name="Shape 19"/>
          <p:cNvSpPr/>
          <p:nvPr/>
        </p:nvSpPr>
        <p:spPr>
          <a:xfrm>
            <a:off x="274320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2" name="Shape 20"/>
          <p:cNvSpPr/>
          <p:nvPr/>
        </p:nvSpPr>
        <p:spPr>
          <a:xfrm>
            <a:off x="2743200" y="2377440"/>
            <a:ext cx="1143000" cy="64008"/>
          </a:xfrm>
          <a:prstGeom prst="rect">
            <a:avLst/>
          </a:prstGeom>
          <a:solidFill>
            <a:srgbClr val="FFB703"/>
          </a:solidFill>
          <a:ln w="12700">
            <a:solidFill>
              <a:srgbClr val="FFB703"/>
            </a:solidFill>
            <a:prstDash val="solid"/>
          </a:ln>
        </p:spPr>
      </p:sp>
      <p:sp>
        <p:nvSpPr>
          <p:cNvPr id="23" name="Text 21"/>
          <p:cNvSpPr/>
          <p:nvPr/>
        </p:nvSpPr>
        <p:spPr>
          <a:xfrm>
            <a:off x="279806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Build the library</a:t>
            </a:r>
            <a:endParaRPr lang="en-US" sz="950" dirty="0"/>
          </a:p>
        </p:txBody>
      </p:sp>
      <p:sp>
        <p:nvSpPr>
          <p:cNvPr id="24" name="Shape 22"/>
          <p:cNvSpPr/>
          <p:nvPr/>
        </p:nvSpPr>
        <p:spPr>
          <a:xfrm>
            <a:off x="2798064" y="3127248"/>
            <a:ext cx="1005840" cy="0"/>
          </a:xfrm>
          <a:prstGeom prst="line">
            <a:avLst/>
          </a:prstGeom>
          <a:noFill/>
          <a:ln w="6350">
            <a:solidFill>
              <a:srgbClr val="DDEEFF"/>
            </a:solidFill>
            <a:prstDash val="solid"/>
          </a:ln>
        </p:spPr>
      </p:sp>
      <p:sp>
        <p:nvSpPr>
          <p:cNvPr id="25" name="Text 23"/>
          <p:cNvSpPr/>
          <p:nvPr/>
        </p:nvSpPr>
        <p:spPr>
          <a:xfrm>
            <a:off x="279806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Create structured reusable components and patterns</a:t>
            </a:r>
            <a:endParaRPr lang="en-US" sz="850" dirty="0"/>
          </a:p>
        </p:txBody>
      </p:sp>
      <p:sp>
        <p:nvSpPr>
          <p:cNvPr id="26" name="Shape 24"/>
          <p:cNvSpPr/>
          <p:nvPr/>
        </p:nvSpPr>
        <p:spPr>
          <a:xfrm>
            <a:off x="4233672" y="1783080"/>
            <a:ext cx="429768" cy="429768"/>
          </a:xfrm>
          <a:prstGeom prst="ellipse">
            <a:avLst/>
          </a:prstGeom>
          <a:solidFill>
            <a:srgbClr val="00B4D8"/>
          </a:solidFill>
          <a:ln w="12700">
            <a:solidFill>
              <a:srgbClr val="00B4D8"/>
            </a:solidFill>
            <a:prstDash val="solid"/>
          </a:ln>
        </p:spPr>
      </p:sp>
      <p:sp>
        <p:nvSpPr>
          <p:cNvPr id="27" name="Text 25"/>
          <p:cNvSpPr/>
          <p:nvPr/>
        </p:nvSpPr>
        <p:spPr>
          <a:xfrm>
            <a:off x="423367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8" name="Shape 26"/>
          <p:cNvSpPr/>
          <p:nvPr/>
        </p:nvSpPr>
        <p:spPr>
          <a:xfrm>
            <a:off x="393192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9" name="Shape 27"/>
          <p:cNvSpPr/>
          <p:nvPr/>
        </p:nvSpPr>
        <p:spPr>
          <a:xfrm>
            <a:off x="3931920" y="2377440"/>
            <a:ext cx="1143000" cy="64008"/>
          </a:xfrm>
          <a:prstGeom prst="rect">
            <a:avLst/>
          </a:prstGeom>
          <a:solidFill>
            <a:srgbClr val="00B4D8"/>
          </a:solidFill>
          <a:ln w="12700">
            <a:solidFill>
              <a:srgbClr val="00B4D8"/>
            </a:solidFill>
            <a:prstDash val="solid"/>
          </a:ln>
        </p:spPr>
      </p:sp>
      <p:sp>
        <p:nvSpPr>
          <p:cNvPr id="30" name="Text 28"/>
          <p:cNvSpPr/>
          <p:nvPr/>
        </p:nvSpPr>
        <p:spPr>
          <a:xfrm>
            <a:off x="398678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Migrate content</a:t>
            </a:r>
            <a:endParaRPr lang="en-US" sz="950" dirty="0"/>
          </a:p>
        </p:txBody>
      </p:sp>
      <p:sp>
        <p:nvSpPr>
          <p:cNvPr id="31" name="Shape 29"/>
          <p:cNvSpPr/>
          <p:nvPr/>
        </p:nvSpPr>
        <p:spPr>
          <a:xfrm>
            <a:off x="3986784" y="3127248"/>
            <a:ext cx="1005840" cy="0"/>
          </a:xfrm>
          <a:prstGeom prst="line">
            <a:avLst/>
          </a:prstGeom>
          <a:noFill/>
          <a:ln w="6350">
            <a:solidFill>
              <a:srgbClr val="DDEEFF"/>
            </a:solidFill>
            <a:prstDash val="solid"/>
          </a:ln>
        </p:spPr>
      </p:sp>
      <p:sp>
        <p:nvSpPr>
          <p:cNvPr id="32" name="Text 30"/>
          <p:cNvSpPr/>
          <p:nvPr/>
        </p:nvSpPr>
        <p:spPr>
          <a:xfrm>
            <a:off x="398678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Transform Confluence pages into structured assets</a:t>
            </a:r>
            <a:endParaRPr lang="en-US" sz="850" dirty="0"/>
          </a:p>
        </p:txBody>
      </p:sp>
      <p:sp>
        <p:nvSpPr>
          <p:cNvPr id="33" name="Shape 31"/>
          <p:cNvSpPr/>
          <p:nvPr/>
        </p:nvSpPr>
        <p:spPr>
          <a:xfrm>
            <a:off x="5422392" y="1783080"/>
            <a:ext cx="429768" cy="429768"/>
          </a:xfrm>
          <a:prstGeom prst="ellipse">
            <a:avLst/>
          </a:prstGeom>
          <a:solidFill>
            <a:srgbClr val="2351C8"/>
          </a:solidFill>
          <a:ln w="12700">
            <a:solidFill>
              <a:srgbClr val="2351C8"/>
            </a:solidFill>
            <a:prstDash val="solid"/>
          </a:ln>
        </p:spPr>
      </p:sp>
      <p:sp>
        <p:nvSpPr>
          <p:cNvPr id="34" name="Text 32"/>
          <p:cNvSpPr/>
          <p:nvPr/>
        </p:nvSpPr>
        <p:spPr>
          <a:xfrm>
            <a:off x="542239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5" name="Shape 33"/>
          <p:cNvSpPr/>
          <p:nvPr/>
        </p:nvSpPr>
        <p:spPr>
          <a:xfrm>
            <a:off x="512064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36" name="Shape 34"/>
          <p:cNvSpPr/>
          <p:nvPr/>
        </p:nvSpPr>
        <p:spPr>
          <a:xfrm>
            <a:off x="5120640" y="2377440"/>
            <a:ext cx="1143000" cy="64008"/>
          </a:xfrm>
          <a:prstGeom prst="rect">
            <a:avLst/>
          </a:prstGeom>
          <a:solidFill>
            <a:srgbClr val="2351C8"/>
          </a:solidFill>
          <a:ln w="12700">
            <a:solidFill>
              <a:srgbClr val="2351C8"/>
            </a:solidFill>
            <a:prstDash val="solid"/>
          </a:ln>
        </p:spPr>
      </p:sp>
      <p:sp>
        <p:nvSpPr>
          <p:cNvPr id="37" name="Text 35"/>
          <p:cNvSpPr/>
          <p:nvPr/>
        </p:nvSpPr>
        <p:spPr>
          <a:xfrm>
            <a:off x="517550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Build the experience</a:t>
            </a:r>
            <a:endParaRPr lang="en-US" sz="950" dirty="0"/>
          </a:p>
        </p:txBody>
      </p:sp>
      <p:sp>
        <p:nvSpPr>
          <p:cNvPr id="38" name="Shape 36"/>
          <p:cNvSpPr/>
          <p:nvPr/>
        </p:nvSpPr>
        <p:spPr>
          <a:xfrm>
            <a:off x="5175504" y="3127248"/>
            <a:ext cx="1005840" cy="0"/>
          </a:xfrm>
          <a:prstGeom prst="line">
            <a:avLst/>
          </a:prstGeom>
          <a:noFill/>
          <a:ln w="6350">
            <a:solidFill>
              <a:srgbClr val="DDEEFF"/>
            </a:solidFill>
            <a:prstDash val="solid"/>
          </a:ln>
        </p:spPr>
      </p:sp>
      <p:sp>
        <p:nvSpPr>
          <p:cNvPr id="39" name="Text 37"/>
          <p:cNvSpPr/>
          <p:nvPr/>
        </p:nvSpPr>
        <p:spPr>
          <a:xfrm>
            <a:off x="517550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Search, browse, submit, and review architecture</a:t>
            </a:r>
            <a:endParaRPr lang="en-US" sz="850" dirty="0"/>
          </a:p>
        </p:txBody>
      </p:sp>
      <p:sp>
        <p:nvSpPr>
          <p:cNvPr id="40" name="Shape 38"/>
          <p:cNvSpPr/>
          <p:nvPr/>
        </p:nvSpPr>
        <p:spPr>
          <a:xfrm>
            <a:off x="6611112" y="1783080"/>
            <a:ext cx="429768" cy="429768"/>
          </a:xfrm>
          <a:prstGeom prst="ellipse">
            <a:avLst/>
          </a:prstGeom>
          <a:solidFill>
            <a:srgbClr val="06D6A0"/>
          </a:solidFill>
          <a:ln w="12700">
            <a:solidFill>
              <a:srgbClr val="06D6A0"/>
            </a:solidFill>
            <a:prstDash val="solid"/>
          </a:ln>
        </p:spPr>
      </p:sp>
      <p:sp>
        <p:nvSpPr>
          <p:cNvPr id="41" name="Text 39"/>
          <p:cNvSpPr/>
          <p:nvPr/>
        </p:nvSpPr>
        <p:spPr>
          <a:xfrm>
            <a:off x="661111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42" name="Shape 40"/>
          <p:cNvSpPr/>
          <p:nvPr/>
        </p:nvSpPr>
        <p:spPr>
          <a:xfrm>
            <a:off x="630936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43" name="Shape 41"/>
          <p:cNvSpPr/>
          <p:nvPr/>
        </p:nvSpPr>
        <p:spPr>
          <a:xfrm>
            <a:off x="6309360" y="2377440"/>
            <a:ext cx="1143000" cy="64008"/>
          </a:xfrm>
          <a:prstGeom prst="rect">
            <a:avLst/>
          </a:prstGeom>
          <a:solidFill>
            <a:srgbClr val="06D6A0"/>
          </a:solidFill>
          <a:ln w="12700">
            <a:solidFill>
              <a:srgbClr val="06D6A0"/>
            </a:solidFill>
            <a:prstDash val="solid"/>
          </a:ln>
        </p:spPr>
      </p:sp>
      <p:sp>
        <p:nvSpPr>
          <p:cNvPr id="44" name="Text 42"/>
          <p:cNvSpPr/>
          <p:nvPr/>
        </p:nvSpPr>
        <p:spPr>
          <a:xfrm>
            <a:off x="636422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Introduce AI</a:t>
            </a:r>
            <a:endParaRPr lang="en-US" sz="950" dirty="0"/>
          </a:p>
        </p:txBody>
      </p:sp>
      <p:sp>
        <p:nvSpPr>
          <p:cNvPr id="45" name="Shape 43"/>
          <p:cNvSpPr/>
          <p:nvPr/>
        </p:nvSpPr>
        <p:spPr>
          <a:xfrm>
            <a:off x="6364224" y="3127248"/>
            <a:ext cx="1005840" cy="0"/>
          </a:xfrm>
          <a:prstGeom prst="line">
            <a:avLst/>
          </a:prstGeom>
          <a:noFill/>
          <a:ln w="6350">
            <a:solidFill>
              <a:srgbClr val="DDEEFF"/>
            </a:solidFill>
            <a:prstDash val="solid"/>
          </a:ln>
        </p:spPr>
      </p:sp>
      <p:sp>
        <p:nvSpPr>
          <p:cNvPr id="46" name="Text 44"/>
          <p:cNvSpPr/>
          <p:nvPr/>
        </p:nvSpPr>
        <p:spPr>
          <a:xfrm>
            <a:off x="636422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Semantic search, recommendations, gap detection</a:t>
            </a:r>
            <a:endParaRPr lang="en-US" sz="850" dirty="0"/>
          </a:p>
        </p:txBody>
      </p:sp>
      <p:sp>
        <p:nvSpPr>
          <p:cNvPr id="47" name="Shape 45"/>
          <p:cNvSpPr/>
          <p:nvPr/>
        </p:nvSpPr>
        <p:spPr>
          <a:xfrm>
            <a:off x="7799832" y="1783080"/>
            <a:ext cx="429768" cy="429768"/>
          </a:xfrm>
          <a:prstGeom prst="ellipse">
            <a:avLst/>
          </a:prstGeom>
          <a:solidFill>
            <a:srgbClr val="7B5EA7"/>
          </a:solidFill>
          <a:ln w="12700">
            <a:solidFill>
              <a:srgbClr val="7B5EA7"/>
            </a:solidFill>
            <a:prstDash val="solid"/>
          </a:ln>
        </p:spPr>
      </p:sp>
      <p:sp>
        <p:nvSpPr>
          <p:cNvPr id="48" name="Text 46"/>
          <p:cNvSpPr/>
          <p:nvPr/>
        </p:nvSpPr>
        <p:spPr>
          <a:xfrm>
            <a:off x="7799832" y="1783080"/>
            <a:ext cx="429768" cy="42976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49" name="Shape 47"/>
          <p:cNvSpPr/>
          <p:nvPr/>
        </p:nvSpPr>
        <p:spPr>
          <a:xfrm>
            <a:off x="7498080" y="2377440"/>
            <a:ext cx="1143000" cy="251460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50" name="Shape 48"/>
          <p:cNvSpPr/>
          <p:nvPr/>
        </p:nvSpPr>
        <p:spPr>
          <a:xfrm>
            <a:off x="7498080" y="2377440"/>
            <a:ext cx="1143000" cy="64008"/>
          </a:xfrm>
          <a:prstGeom prst="rect">
            <a:avLst/>
          </a:prstGeom>
          <a:solidFill>
            <a:srgbClr val="7B5EA7"/>
          </a:solidFill>
          <a:ln w="12700">
            <a:solidFill>
              <a:srgbClr val="7B5EA7"/>
            </a:solidFill>
            <a:prstDash val="solid"/>
          </a:ln>
        </p:spPr>
      </p:sp>
      <p:sp>
        <p:nvSpPr>
          <p:cNvPr id="51" name="Text 49"/>
          <p:cNvSpPr/>
          <p:nvPr/>
        </p:nvSpPr>
        <p:spPr>
          <a:xfrm>
            <a:off x="7552944" y="2487168"/>
            <a:ext cx="1042416" cy="594360"/>
          </a:xfrm>
          <a:prstGeom prst="rect">
            <a:avLst/>
          </a:prstGeom>
          <a:noFill/>
          <a:ln/>
        </p:spPr>
        <p:txBody>
          <a:bodyPr wrap="square" lIns="0" tIns="0" rIns="0" bIns="0" rtlCol="0" anchor="ctr"/>
          <a:lstStyle/>
          <a:p>
            <a:pPr indent="0" marL="0">
              <a:lnSpc>
                <a:spcPct val="130000"/>
              </a:lnSpc>
              <a:buNone/>
            </a:pPr>
            <a:r>
              <a:rPr lang="en-US" sz="950" b="1" dirty="0">
                <a:solidFill>
                  <a:srgbClr val="0D1B4B"/>
                </a:solidFill>
              </a:rPr>
              <a:t>Operationalize</a:t>
            </a:r>
            <a:endParaRPr lang="en-US" sz="950" dirty="0"/>
          </a:p>
        </p:txBody>
      </p:sp>
      <p:sp>
        <p:nvSpPr>
          <p:cNvPr id="52" name="Shape 50"/>
          <p:cNvSpPr/>
          <p:nvPr/>
        </p:nvSpPr>
        <p:spPr>
          <a:xfrm>
            <a:off x="7552944" y="3127248"/>
            <a:ext cx="1005840" cy="0"/>
          </a:xfrm>
          <a:prstGeom prst="line">
            <a:avLst/>
          </a:prstGeom>
          <a:noFill/>
          <a:ln w="6350">
            <a:solidFill>
              <a:srgbClr val="DDEEFF"/>
            </a:solidFill>
            <a:prstDash val="solid"/>
          </a:ln>
        </p:spPr>
      </p:sp>
      <p:sp>
        <p:nvSpPr>
          <p:cNvPr id="53" name="Text 51"/>
          <p:cNvSpPr/>
          <p:nvPr/>
        </p:nvSpPr>
        <p:spPr>
          <a:xfrm>
            <a:off x="7552944" y="3200400"/>
            <a:ext cx="1042416" cy="713232"/>
          </a:xfrm>
          <a:prstGeom prst="rect">
            <a:avLst/>
          </a:prstGeom>
          <a:noFill/>
          <a:ln/>
        </p:spPr>
        <p:txBody>
          <a:bodyPr wrap="square" lIns="0" tIns="0" rIns="0" bIns="0" rtlCol="0" anchor="ctr"/>
          <a:lstStyle/>
          <a:p>
            <a:pPr indent="0" marL="0">
              <a:lnSpc>
                <a:spcPct val="140000"/>
              </a:lnSpc>
              <a:buNone/>
            </a:pPr>
            <a:r>
              <a:rPr lang="en-US" sz="850" dirty="0">
                <a:solidFill>
                  <a:srgbClr val="4A5568"/>
                </a:solidFill>
              </a:rPr>
              <a:t>Embed into delivery and measure adoption</a:t>
            </a:r>
            <a:endParaRPr lang="en-US" sz="850" dirty="0"/>
          </a:p>
        </p:txBody>
      </p:sp>
      <p:sp>
        <p:nvSpPr>
          <p:cNvPr id="54" name="Shape 52"/>
          <p:cNvSpPr/>
          <p:nvPr/>
        </p:nvSpPr>
        <p:spPr>
          <a:xfrm>
            <a:off x="274320" y="4828032"/>
            <a:ext cx="2468880" cy="228600"/>
          </a:xfrm>
          <a:prstGeom prst="rect">
            <a:avLst/>
          </a:prstGeom>
          <a:solidFill>
            <a:srgbClr val="E8EFFE"/>
          </a:solidFill>
          <a:ln w="6350">
            <a:solidFill>
              <a:srgbClr val="DDEEFF"/>
            </a:solidFill>
            <a:prstDash val="solid"/>
          </a:ln>
        </p:spPr>
      </p:sp>
      <p:sp>
        <p:nvSpPr>
          <p:cNvPr id="55" name="Text 53"/>
          <p:cNvSpPr/>
          <p:nvPr/>
        </p:nvSpPr>
        <p:spPr>
          <a:xfrm>
            <a:off x="274320" y="4828032"/>
            <a:ext cx="2468880" cy="228600"/>
          </a:xfrm>
          <a:prstGeom prst="rect">
            <a:avLst/>
          </a:prstGeom>
          <a:noFill/>
          <a:ln/>
        </p:spPr>
        <p:txBody>
          <a:bodyPr wrap="square" lIns="0" tIns="0" rIns="0" bIns="0" rtlCol="0" anchor="ctr"/>
          <a:lstStyle/>
          <a:p>
            <a:pPr algn="ctr" indent="0" marL="0">
              <a:buNone/>
            </a:pPr>
            <a:r>
              <a:rPr lang="en-US" sz="900" b="1" dirty="0">
                <a:solidFill>
                  <a:srgbClr val="0D1B4B"/>
                </a:solidFill>
              </a:rPr>
              <a:t>First 90 days — Clarity</a:t>
            </a:r>
            <a:endParaRPr lang="en-US" sz="900" dirty="0"/>
          </a:p>
        </p:txBody>
      </p:sp>
      <p:sp>
        <p:nvSpPr>
          <p:cNvPr id="56" name="Shape 54"/>
          <p:cNvSpPr/>
          <p:nvPr/>
        </p:nvSpPr>
        <p:spPr>
          <a:xfrm>
            <a:off x="2926080" y="4828032"/>
            <a:ext cx="3566160" cy="228600"/>
          </a:xfrm>
          <a:prstGeom prst="rect">
            <a:avLst/>
          </a:prstGeom>
          <a:solidFill>
            <a:srgbClr val="E8F5E9"/>
          </a:solidFill>
          <a:ln w="6350">
            <a:solidFill>
              <a:srgbClr val="BBDDBB"/>
            </a:solidFill>
            <a:prstDash val="solid"/>
          </a:ln>
        </p:spPr>
      </p:sp>
      <p:sp>
        <p:nvSpPr>
          <p:cNvPr id="57" name="Text 55"/>
          <p:cNvSpPr/>
          <p:nvPr/>
        </p:nvSpPr>
        <p:spPr>
          <a:xfrm>
            <a:off x="2926080" y="4828032"/>
            <a:ext cx="3566160" cy="228600"/>
          </a:xfrm>
          <a:prstGeom prst="rect">
            <a:avLst/>
          </a:prstGeom>
          <a:noFill/>
          <a:ln/>
        </p:spPr>
        <p:txBody>
          <a:bodyPr wrap="square" lIns="0" tIns="0" rIns="0" bIns="0" rtlCol="0" anchor="ctr"/>
          <a:lstStyle/>
          <a:p>
            <a:pPr algn="ctr" indent="0" marL="0">
              <a:buNone/>
            </a:pPr>
            <a:r>
              <a:rPr lang="en-US" sz="900" b="1" dirty="0">
                <a:solidFill>
                  <a:srgbClr val="1B5E20"/>
                </a:solidFill>
              </a:rPr>
              <a:t>Next 90 days — Build and prove value</a:t>
            </a:r>
            <a:endParaRPr lang="en-US" sz="900" dirty="0"/>
          </a:p>
        </p:txBody>
      </p:sp>
      <p:sp>
        <p:nvSpPr>
          <p:cNvPr id="58" name="Shape 56"/>
          <p:cNvSpPr/>
          <p:nvPr/>
        </p:nvSpPr>
        <p:spPr>
          <a:xfrm>
            <a:off x="6583680" y="4828032"/>
            <a:ext cx="2331720" cy="228600"/>
          </a:xfrm>
          <a:prstGeom prst="rect">
            <a:avLst/>
          </a:prstGeom>
          <a:solidFill>
            <a:srgbClr val="EEEEFF"/>
          </a:solidFill>
          <a:ln w="6350">
            <a:solidFill>
              <a:srgbClr val="BBBBDD"/>
            </a:solidFill>
            <a:prstDash val="solid"/>
          </a:ln>
        </p:spPr>
      </p:sp>
      <p:sp>
        <p:nvSpPr>
          <p:cNvPr id="59" name="Text 57"/>
          <p:cNvSpPr/>
          <p:nvPr/>
        </p:nvSpPr>
        <p:spPr>
          <a:xfrm>
            <a:off x="6583680" y="4828032"/>
            <a:ext cx="2331720" cy="228600"/>
          </a:xfrm>
          <a:prstGeom prst="rect">
            <a:avLst/>
          </a:prstGeom>
          <a:noFill/>
          <a:ln/>
        </p:spPr>
        <p:txBody>
          <a:bodyPr wrap="square" lIns="0" tIns="0" rIns="0" bIns="0" rtlCol="0" anchor="ctr"/>
          <a:lstStyle/>
          <a:p>
            <a:pPr algn="ctr" indent="0" marL="0">
              <a:buNone/>
            </a:pPr>
            <a:r>
              <a:rPr lang="en-US" sz="900" b="1" dirty="0">
                <a:solidFill>
                  <a:srgbClr val="4A148C"/>
                </a:solidFill>
              </a:rPr>
              <a:t>Next 6 months — Scale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1800" b="1" dirty="0">
                <a:solidFill>
                  <a:srgbClr val="FFFFFF"/>
                </a:solidFill>
              </a:rPr>
              <a:t>Phase 1 — Assess  ·  Phase 2 — Define the target model</a:t>
            </a:r>
            <a:endParaRPr lang="en-US" sz="1800" dirty="0"/>
          </a:p>
        </p:txBody>
      </p:sp>
      <p:sp>
        <p:nvSpPr>
          <p:cNvPr id="4" name="Shape 2"/>
          <p:cNvSpPr/>
          <p:nvPr/>
        </p:nvSpPr>
        <p:spPr>
          <a:xfrm>
            <a:off x="274320" y="914400"/>
            <a:ext cx="4160520" cy="402336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5" name="Shape 3"/>
          <p:cNvSpPr/>
          <p:nvPr/>
        </p:nvSpPr>
        <p:spPr>
          <a:xfrm>
            <a:off x="274320" y="914400"/>
            <a:ext cx="4160520" cy="457200"/>
          </a:xfrm>
          <a:prstGeom prst="rect">
            <a:avLst/>
          </a:prstGeom>
          <a:solidFill>
            <a:srgbClr val="EF476F"/>
          </a:solidFill>
          <a:ln w="12700">
            <a:solidFill>
              <a:srgbClr val="EF476F"/>
            </a:solidFill>
            <a:prstDash val="solid"/>
          </a:ln>
        </p:spPr>
      </p:sp>
      <p:sp>
        <p:nvSpPr>
          <p:cNvPr id="6" name="Text 4"/>
          <p:cNvSpPr/>
          <p:nvPr/>
        </p:nvSpPr>
        <p:spPr>
          <a:xfrm>
            <a:off x="384048" y="914400"/>
            <a:ext cx="3931920" cy="457200"/>
          </a:xfrm>
          <a:prstGeom prst="rect">
            <a:avLst/>
          </a:prstGeom>
          <a:noFill/>
          <a:ln/>
        </p:spPr>
        <p:txBody>
          <a:bodyPr wrap="square" lIns="0" tIns="0" rIns="0" bIns="0" rtlCol="0" anchor="ctr"/>
          <a:lstStyle/>
          <a:p>
            <a:pPr indent="0" marL="0">
              <a:buNone/>
            </a:pPr>
            <a:r>
              <a:rPr lang="en-US" sz="1200" b="1" dirty="0">
                <a:solidFill>
                  <a:srgbClr val="FFFFFF"/>
                </a:solidFill>
              </a:rPr>
              <a:t>Phase 1 · Assess current state</a:t>
            </a:r>
            <a:endParaRPr lang="en-US" sz="1200" dirty="0"/>
          </a:p>
        </p:txBody>
      </p:sp>
      <p:sp>
        <p:nvSpPr>
          <p:cNvPr id="7" name="Text 5"/>
          <p:cNvSpPr/>
          <p:nvPr/>
        </p:nvSpPr>
        <p:spPr>
          <a:xfrm>
            <a:off x="411480" y="1481328"/>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Activities</a:t>
            </a:r>
            <a:endParaRPr lang="en-US" sz="1000" dirty="0"/>
          </a:p>
        </p:txBody>
      </p:sp>
      <p:sp>
        <p:nvSpPr>
          <p:cNvPr id="8" name="Text 6"/>
          <p:cNvSpPr/>
          <p:nvPr/>
        </p:nvSpPr>
        <p:spPr>
          <a:xfrm>
            <a:off x="438912" y="178308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Review all existing architecture pages across domains</a:t>
            </a:r>
            <a:endParaRPr lang="en-US" sz="950" dirty="0"/>
          </a:p>
        </p:txBody>
      </p:sp>
      <p:sp>
        <p:nvSpPr>
          <p:cNvPr id="9" name="Text 7"/>
          <p:cNvSpPr/>
          <p:nvPr/>
        </p:nvSpPr>
        <p:spPr>
          <a:xfrm>
            <a:off x="438912" y="219456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Identify common structures and repeated patterns</a:t>
            </a:r>
            <a:endParaRPr lang="en-US" sz="950" dirty="0"/>
          </a:p>
        </p:txBody>
      </p:sp>
      <p:sp>
        <p:nvSpPr>
          <p:cNvPr id="10" name="Text 8"/>
          <p:cNvSpPr/>
          <p:nvPr/>
        </p:nvSpPr>
        <p:spPr>
          <a:xfrm>
            <a:off x="438912" y="260604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Capture pain points from architects, engineers, risk, and governance teams</a:t>
            </a:r>
            <a:endParaRPr lang="en-US" sz="950" dirty="0"/>
          </a:p>
        </p:txBody>
      </p:sp>
      <p:sp>
        <p:nvSpPr>
          <p:cNvPr id="11" name="Text 9"/>
          <p:cNvSpPr/>
          <p:nvPr/>
        </p:nvSpPr>
        <p:spPr>
          <a:xfrm>
            <a:off x="438912" y="301752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Identify duplicated content, missing standards, and inconsistent naming</a:t>
            </a:r>
            <a:endParaRPr lang="en-US" sz="950" dirty="0"/>
          </a:p>
        </p:txBody>
      </p:sp>
      <p:sp>
        <p:nvSpPr>
          <p:cNvPr id="12" name="Shape 10"/>
          <p:cNvSpPr/>
          <p:nvPr/>
        </p:nvSpPr>
        <p:spPr>
          <a:xfrm>
            <a:off x="411480" y="3493008"/>
            <a:ext cx="3749040" cy="0"/>
          </a:xfrm>
          <a:prstGeom prst="line">
            <a:avLst/>
          </a:prstGeom>
          <a:noFill/>
          <a:ln w="6350">
            <a:solidFill>
              <a:srgbClr val="DDEEFF"/>
            </a:solidFill>
            <a:prstDash val="solid"/>
          </a:ln>
        </p:spPr>
      </p:sp>
      <p:sp>
        <p:nvSpPr>
          <p:cNvPr id="13" name="Text 11"/>
          <p:cNvSpPr/>
          <p:nvPr/>
        </p:nvSpPr>
        <p:spPr>
          <a:xfrm>
            <a:off x="411480" y="3566160"/>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Deliverables</a:t>
            </a:r>
            <a:endParaRPr lang="en-US" sz="1000" dirty="0"/>
          </a:p>
        </p:txBody>
      </p:sp>
      <p:sp>
        <p:nvSpPr>
          <p:cNvPr id="14" name="Text 12"/>
          <p:cNvSpPr/>
          <p:nvPr/>
        </p:nvSpPr>
        <p:spPr>
          <a:xfrm>
            <a:off x="438912" y="3858768"/>
            <a:ext cx="3840480" cy="320040"/>
          </a:xfrm>
          <a:prstGeom prst="rect">
            <a:avLst/>
          </a:prstGeom>
          <a:noFill/>
          <a:ln/>
        </p:spPr>
        <p:txBody>
          <a:bodyPr wrap="square" lIns="0" tIns="0" rIns="0" bIns="0" rtlCol="0" anchor="ctr"/>
          <a:lstStyle/>
          <a:p>
            <a:pPr indent="0" marL="0">
              <a:buNone/>
            </a:pPr>
            <a:r>
              <a:rPr lang="en-US" sz="950" dirty="0">
                <a:solidFill>
                  <a:srgbClr val="4A5568"/>
                </a:solidFill>
              </a:rPr>
              <a:t>✓  Current-state assessment · Architecture content inventory</a:t>
            </a:r>
            <a:endParaRPr lang="en-US" sz="950" dirty="0"/>
          </a:p>
        </p:txBody>
      </p:sp>
      <p:sp>
        <p:nvSpPr>
          <p:cNvPr id="15" name="Text 13"/>
          <p:cNvSpPr/>
          <p:nvPr/>
        </p:nvSpPr>
        <p:spPr>
          <a:xfrm>
            <a:off x="438912" y="4224528"/>
            <a:ext cx="3840480" cy="320040"/>
          </a:xfrm>
          <a:prstGeom prst="rect">
            <a:avLst/>
          </a:prstGeom>
          <a:noFill/>
          <a:ln/>
        </p:spPr>
        <p:txBody>
          <a:bodyPr wrap="square" lIns="0" tIns="0" rIns="0" bIns="0" rtlCol="0" anchor="ctr"/>
          <a:lstStyle/>
          <a:p>
            <a:pPr indent="0" marL="0">
              <a:buNone/>
            </a:pPr>
            <a:r>
              <a:rPr lang="en-US" sz="950" dirty="0">
                <a:solidFill>
                  <a:srgbClr val="4A5568"/>
                </a:solidFill>
              </a:rPr>
              <a:t>✓  Pain-point summary · Opportunity analysis</a:t>
            </a:r>
            <a:endParaRPr lang="en-US" sz="950" dirty="0"/>
          </a:p>
        </p:txBody>
      </p:sp>
      <p:sp>
        <p:nvSpPr>
          <p:cNvPr id="16" name="Shape 14"/>
          <p:cNvSpPr/>
          <p:nvPr/>
        </p:nvSpPr>
        <p:spPr>
          <a:xfrm>
            <a:off x="4709160" y="914400"/>
            <a:ext cx="4160520" cy="402336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7" name="Shape 15"/>
          <p:cNvSpPr/>
          <p:nvPr/>
        </p:nvSpPr>
        <p:spPr>
          <a:xfrm>
            <a:off x="4709160" y="914400"/>
            <a:ext cx="4160520" cy="457200"/>
          </a:xfrm>
          <a:prstGeom prst="rect">
            <a:avLst/>
          </a:prstGeom>
          <a:solidFill>
            <a:srgbClr val="E07B39"/>
          </a:solidFill>
          <a:ln w="12700">
            <a:solidFill>
              <a:srgbClr val="E07B39"/>
            </a:solidFill>
            <a:prstDash val="solid"/>
          </a:ln>
        </p:spPr>
      </p:sp>
      <p:sp>
        <p:nvSpPr>
          <p:cNvPr id="18" name="Text 16"/>
          <p:cNvSpPr/>
          <p:nvPr/>
        </p:nvSpPr>
        <p:spPr>
          <a:xfrm>
            <a:off x="4818888" y="914400"/>
            <a:ext cx="3931920" cy="457200"/>
          </a:xfrm>
          <a:prstGeom prst="rect">
            <a:avLst/>
          </a:prstGeom>
          <a:noFill/>
          <a:ln/>
        </p:spPr>
        <p:txBody>
          <a:bodyPr wrap="square" lIns="0" tIns="0" rIns="0" bIns="0" rtlCol="0" anchor="ctr"/>
          <a:lstStyle/>
          <a:p>
            <a:pPr indent="0" marL="0">
              <a:buNone/>
            </a:pPr>
            <a:r>
              <a:rPr lang="en-US" sz="1200" b="1" dirty="0">
                <a:solidFill>
                  <a:srgbClr val="FFFFFF"/>
                </a:solidFill>
              </a:rPr>
              <a:t>Phase 2 · Define the target model</a:t>
            </a:r>
            <a:endParaRPr lang="en-US" sz="1200" dirty="0"/>
          </a:p>
        </p:txBody>
      </p:sp>
      <p:sp>
        <p:nvSpPr>
          <p:cNvPr id="19" name="Text 17"/>
          <p:cNvSpPr/>
          <p:nvPr/>
        </p:nvSpPr>
        <p:spPr>
          <a:xfrm>
            <a:off x="4846320" y="1481328"/>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Activities</a:t>
            </a:r>
            <a:endParaRPr lang="en-US" sz="1000" dirty="0"/>
          </a:p>
        </p:txBody>
      </p:sp>
      <p:sp>
        <p:nvSpPr>
          <p:cNvPr id="20" name="Text 18"/>
          <p:cNvSpPr/>
          <p:nvPr/>
        </p:nvSpPr>
        <p:spPr>
          <a:xfrm>
            <a:off x="4873752" y="178308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Define what is reusable at enterprise level</a:t>
            </a:r>
            <a:endParaRPr lang="en-US" sz="950" dirty="0"/>
          </a:p>
        </p:txBody>
      </p:sp>
      <p:sp>
        <p:nvSpPr>
          <p:cNvPr id="21" name="Text 19"/>
          <p:cNvSpPr/>
          <p:nvPr/>
        </p:nvSpPr>
        <p:spPr>
          <a:xfrm>
            <a:off x="4873752" y="219456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Decide the core architecture domains and their ownership</a:t>
            </a:r>
            <a:endParaRPr lang="en-US" sz="950" dirty="0"/>
          </a:p>
        </p:txBody>
      </p:sp>
      <p:sp>
        <p:nvSpPr>
          <p:cNvPr id="22" name="Text 20"/>
          <p:cNvSpPr/>
          <p:nvPr/>
        </p:nvSpPr>
        <p:spPr>
          <a:xfrm>
            <a:off x="4873752" y="260604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Define how standards, patterns, and components will be governed</a:t>
            </a:r>
            <a:endParaRPr lang="en-US" sz="950" dirty="0"/>
          </a:p>
        </p:txBody>
      </p:sp>
      <p:sp>
        <p:nvSpPr>
          <p:cNvPr id="23" name="Text 21"/>
          <p:cNvSpPr/>
          <p:nvPr/>
        </p:nvSpPr>
        <p:spPr>
          <a:xfrm>
            <a:off x="4873752" y="3017520"/>
            <a:ext cx="3840480" cy="34747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Establish review and approval processes</a:t>
            </a:r>
            <a:endParaRPr lang="en-US" sz="950" dirty="0"/>
          </a:p>
        </p:txBody>
      </p:sp>
      <p:sp>
        <p:nvSpPr>
          <p:cNvPr id="24" name="Shape 22"/>
          <p:cNvSpPr/>
          <p:nvPr/>
        </p:nvSpPr>
        <p:spPr>
          <a:xfrm>
            <a:off x="4846320" y="3493008"/>
            <a:ext cx="3749040" cy="0"/>
          </a:xfrm>
          <a:prstGeom prst="line">
            <a:avLst/>
          </a:prstGeom>
          <a:noFill/>
          <a:ln w="6350">
            <a:solidFill>
              <a:srgbClr val="DDEEFF"/>
            </a:solidFill>
            <a:prstDash val="solid"/>
          </a:ln>
        </p:spPr>
      </p:sp>
      <p:sp>
        <p:nvSpPr>
          <p:cNvPr id="25" name="Text 23"/>
          <p:cNvSpPr/>
          <p:nvPr/>
        </p:nvSpPr>
        <p:spPr>
          <a:xfrm>
            <a:off x="4846320" y="3566160"/>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Deliverables</a:t>
            </a:r>
            <a:endParaRPr lang="en-US" sz="1000" dirty="0"/>
          </a:p>
        </p:txBody>
      </p:sp>
      <p:sp>
        <p:nvSpPr>
          <p:cNvPr id="26" name="Text 24"/>
          <p:cNvSpPr/>
          <p:nvPr/>
        </p:nvSpPr>
        <p:spPr>
          <a:xfrm>
            <a:off x="4873752" y="3858768"/>
            <a:ext cx="3840480" cy="320040"/>
          </a:xfrm>
          <a:prstGeom prst="rect">
            <a:avLst/>
          </a:prstGeom>
          <a:noFill/>
          <a:ln/>
        </p:spPr>
        <p:txBody>
          <a:bodyPr wrap="square" lIns="0" tIns="0" rIns="0" bIns="0" rtlCol="0" anchor="ctr"/>
          <a:lstStyle/>
          <a:p>
            <a:pPr indent="0" marL="0">
              <a:buNone/>
            </a:pPr>
            <a:r>
              <a:rPr lang="en-US" sz="950" dirty="0">
                <a:solidFill>
                  <a:srgbClr val="4A5568"/>
                </a:solidFill>
              </a:rPr>
              <a:t>✓  Target operating model · Governance model</a:t>
            </a:r>
            <a:endParaRPr lang="en-US" sz="950" dirty="0"/>
          </a:p>
        </p:txBody>
      </p:sp>
      <p:sp>
        <p:nvSpPr>
          <p:cNvPr id="27" name="Text 25"/>
          <p:cNvSpPr/>
          <p:nvPr/>
        </p:nvSpPr>
        <p:spPr>
          <a:xfrm>
            <a:off x="4873752" y="4224528"/>
            <a:ext cx="3840480" cy="320040"/>
          </a:xfrm>
          <a:prstGeom prst="rect">
            <a:avLst/>
          </a:prstGeom>
          <a:noFill/>
          <a:ln/>
        </p:spPr>
        <p:txBody>
          <a:bodyPr wrap="square" lIns="0" tIns="0" rIns="0" bIns="0" rtlCol="0" anchor="ctr"/>
          <a:lstStyle/>
          <a:p>
            <a:pPr indent="0" marL="0">
              <a:buNone/>
            </a:pPr>
            <a:r>
              <a:rPr lang="en-US" sz="950" dirty="0">
                <a:solidFill>
                  <a:srgbClr val="4A5568"/>
                </a:solidFill>
              </a:rPr>
              <a:t>✓  Role and responsibility matrix · Standards for contribution and reuse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1800" b="1" dirty="0">
                <a:solidFill>
                  <a:srgbClr val="FFFFFF"/>
                </a:solidFill>
              </a:rPr>
              <a:t>Phase 3 — Build the library  ·  Phase 4 — Migrate content</a:t>
            </a:r>
            <a:endParaRPr lang="en-US" sz="1800" dirty="0"/>
          </a:p>
        </p:txBody>
      </p:sp>
      <p:sp>
        <p:nvSpPr>
          <p:cNvPr id="4" name="Shape 2"/>
          <p:cNvSpPr/>
          <p:nvPr/>
        </p:nvSpPr>
        <p:spPr>
          <a:xfrm>
            <a:off x="274320" y="914400"/>
            <a:ext cx="4160520" cy="402336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5" name="Shape 3"/>
          <p:cNvSpPr/>
          <p:nvPr/>
        </p:nvSpPr>
        <p:spPr>
          <a:xfrm>
            <a:off x="274320" y="914400"/>
            <a:ext cx="4160520" cy="457200"/>
          </a:xfrm>
          <a:prstGeom prst="rect">
            <a:avLst/>
          </a:prstGeom>
          <a:solidFill>
            <a:srgbClr val="FFB703"/>
          </a:solidFill>
          <a:ln w="12700">
            <a:solidFill>
              <a:srgbClr val="FFB703"/>
            </a:solidFill>
            <a:prstDash val="solid"/>
          </a:ln>
        </p:spPr>
      </p:sp>
      <p:sp>
        <p:nvSpPr>
          <p:cNvPr id="6" name="Text 4"/>
          <p:cNvSpPr/>
          <p:nvPr/>
        </p:nvSpPr>
        <p:spPr>
          <a:xfrm>
            <a:off x="384048" y="914400"/>
            <a:ext cx="3931920" cy="457200"/>
          </a:xfrm>
          <a:prstGeom prst="rect">
            <a:avLst/>
          </a:prstGeom>
          <a:noFill/>
          <a:ln/>
        </p:spPr>
        <p:txBody>
          <a:bodyPr wrap="square" lIns="0" tIns="0" rIns="0" bIns="0" rtlCol="0" anchor="ctr"/>
          <a:lstStyle/>
          <a:p>
            <a:pPr indent="0" marL="0">
              <a:buNone/>
            </a:pPr>
            <a:r>
              <a:rPr lang="en-US" sz="1150" b="1" dirty="0">
                <a:solidFill>
                  <a:srgbClr val="FFFFFF"/>
                </a:solidFill>
              </a:rPr>
              <a:t>Phase 3 · Build the enterprise architecture library</a:t>
            </a:r>
            <a:endParaRPr lang="en-US" sz="1150" dirty="0"/>
          </a:p>
        </p:txBody>
      </p:sp>
      <p:sp>
        <p:nvSpPr>
          <p:cNvPr id="7" name="Text 5"/>
          <p:cNvSpPr/>
          <p:nvPr/>
        </p:nvSpPr>
        <p:spPr>
          <a:xfrm>
            <a:off x="384048" y="1444752"/>
            <a:ext cx="3913632" cy="457200"/>
          </a:xfrm>
          <a:prstGeom prst="rect">
            <a:avLst/>
          </a:prstGeom>
          <a:noFill/>
          <a:ln/>
        </p:spPr>
        <p:txBody>
          <a:bodyPr wrap="square" lIns="0" tIns="0" rIns="0" bIns="0" rtlCol="0" anchor="ctr"/>
          <a:lstStyle/>
          <a:p>
            <a:pPr indent="0" marL="0">
              <a:lnSpc>
                <a:spcPct val="135000"/>
              </a:lnSpc>
              <a:buNone/>
            </a:pPr>
            <a:r>
              <a:rPr lang="en-US" sz="950" i="1" dirty="0">
                <a:solidFill>
                  <a:srgbClr val="8899BB"/>
                </a:solidFill>
              </a:rPr>
              <a:t>This is the heart of the transformation. Instead of pages, you create a structured library of reusable components.</a:t>
            </a:r>
            <a:endParaRPr lang="en-US" sz="950" dirty="0"/>
          </a:p>
        </p:txBody>
      </p:sp>
      <p:sp>
        <p:nvSpPr>
          <p:cNvPr id="8" name="Shape 6"/>
          <p:cNvSpPr/>
          <p:nvPr/>
        </p:nvSpPr>
        <p:spPr>
          <a:xfrm>
            <a:off x="384048" y="1920240"/>
            <a:ext cx="3886200" cy="0"/>
          </a:xfrm>
          <a:prstGeom prst="line">
            <a:avLst/>
          </a:prstGeom>
          <a:noFill/>
          <a:ln w="6350">
            <a:solidFill>
              <a:srgbClr val="DDEEFF"/>
            </a:solidFill>
            <a:prstDash val="solid"/>
          </a:ln>
        </p:spPr>
      </p:sp>
      <p:sp>
        <p:nvSpPr>
          <p:cNvPr id="9" name="Text 7"/>
          <p:cNvSpPr/>
          <p:nvPr/>
        </p:nvSpPr>
        <p:spPr>
          <a:xfrm>
            <a:off x="384048" y="1993392"/>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Activities</a:t>
            </a:r>
            <a:endParaRPr lang="en-US" sz="1000" dirty="0"/>
          </a:p>
        </p:txBody>
      </p:sp>
      <p:sp>
        <p:nvSpPr>
          <p:cNvPr id="10" name="Text 8"/>
          <p:cNvSpPr/>
          <p:nvPr/>
        </p:nvSpPr>
        <p:spPr>
          <a:xfrm>
            <a:off x="411480" y="2286000"/>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Define the enterprise architecture building blocks</a:t>
            </a:r>
            <a:endParaRPr lang="en-US" sz="950" dirty="0"/>
          </a:p>
        </p:txBody>
      </p:sp>
      <p:sp>
        <p:nvSpPr>
          <p:cNvPr id="11" name="Text 9"/>
          <p:cNvSpPr/>
          <p:nvPr/>
        </p:nvSpPr>
        <p:spPr>
          <a:xfrm>
            <a:off x="411480" y="2633472"/>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Create a controlled vocabulary and taxonomy</a:t>
            </a:r>
            <a:endParaRPr lang="en-US" sz="950" dirty="0"/>
          </a:p>
        </p:txBody>
      </p:sp>
      <p:sp>
        <p:nvSpPr>
          <p:cNvPr id="12" name="Text 10"/>
          <p:cNvSpPr/>
          <p:nvPr/>
        </p:nvSpPr>
        <p:spPr>
          <a:xfrm>
            <a:off x="411480" y="2980944"/>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Define reusable patterns for common solutions</a:t>
            </a:r>
            <a:endParaRPr lang="en-US" sz="950" dirty="0"/>
          </a:p>
        </p:txBody>
      </p:sp>
      <p:sp>
        <p:nvSpPr>
          <p:cNvPr id="13" name="Text 11"/>
          <p:cNvSpPr/>
          <p:nvPr/>
        </p:nvSpPr>
        <p:spPr>
          <a:xfrm>
            <a:off x="411480" y="3328416"/>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Map relationships between capabilities, applications, data, security controls, and infrastructure</a:t>
            </a:r>
            <a:endParaRPr lang="en-US" sz="950" dirty="0"/>
          </a:p>
        </p:txBody>
      </p:sp>
      <p:sp>
        <p:nvSpPr>
          <p:cNvPr id="14" name="Shape 12"/>
          <p:cNvSpPr/>
          <p:nvPr/>
        </p:nvSpPr>
        <p:spPr>
          <a:xfrm>
            <a:off x="384048" y="3657600"/>
            <a:ext cx="3886200" cy="0"/>
          </a:xfrm>
          <a:prstGeom prst="line">
            <a:avLst/>
          </a:prstGeom>
          <a:noFill/>
          <a:ln w="6350">
            <a:solidFill>
              <a:srgbClr val="DDEEFF"/>
            </a:solidFill>
            <a:prstDash val="solid"/>
          </a:ln>
        </p:spPr>
      </p:sp>
      <p:sp>
        <p:nvSpPr>
          <p:cNvPr id="15" name="Text 13"/>
          <p:cNvSpPr/>
          <p:nvPr/>
        </p:nvSpPr>
        <p:spPr>
          <a:xfrm>
            <a:off x="384048" y="3730752"/>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Deliverables</a:t>
            </a:r>
            <a:endParaRPr lang="en-US" sz="1000" dirty="0"/>
          </a:p>
        </p:txBody>
      </p:sp>
      <p:sp>
        <p:nvSpPr>
          <p:cNvPr id="16" name="Text 14"/>
          <p:cNvSpPr/>
          <p:nvPr/>
        </p:nvSpPr>
        <p:spPr>
          <a:xfrm>
            <a:off x="411480" y="4023360"/>
            <a:ext cx="3858768" cy="301752"/>
          </a:xfrm>
          <a:prstGeom prst="rect">
            <a:avLst/>
          </a:prstGeom>
          <a:noFill/>
          <a:ln/>
        </p:spPr>
        <p:txBody>
          <a:bodyPr wrap="square" lIns="0" tIns="0" rIns="0" bIns="0" rtlCol="0" anchor="ctr"/>
          <a:lstStyle/>
          <a:p>
            <a:pPr indent="0" marL="0">
              <a:buNone/>
            </a:pPr>
            <a:r>
              <a:rPr lang="en-US" sz="950" dirty="0">
                <a:solidFill>
                  <a:srgbClr val="4A5568"/>
                </a:solidFill>
              </a:rPr>
              <a:t>✓  Enterprise architecture taxonomy · Reusable component catalog</a:t>
            </a:r>
            <a:endParaRPr lang="en-US" sz="950" dirty="0"/>
          </a:p>
        </p:txBody>
      </p:sp>
      <p:sp>
        <p:nvSpPr>
          <p:cNvPr id="17" name="Text 15"/>
          <p:cNvSpPr/>
          <p:nvPr/>
        </p:nvSpPr>
        <p:spPr>
          <a:xfrm>
            <a:off x="411480" y="4370832"/>
            <a:ext cx="3858768" cy="301752"/>
          </a:xfrm>
          <a:prstGeom prst="rect">
            <a:avLst/>
          </a:prstGeom>
          <a:noFill/>
          <a:ln/>
        </p:spPr>
        <p:txBody>
          <a:bodyPr wrap="square" lIns="0" tIns="0" rIns="0" bIns="0" rtlCol="0" anchor="ctr"/>
          <a:lstStyle/>
          <a:p>
            <a:pPr indent="0" marL="0">
              <a:buNone/>
            </a:pPr>
            <a:r>
              <a:rPr lang="en-US" sz="950" dirty="0">
                <a:solidFill>
                  <a:srgbClr val="4A5568"/>
                </a:solidFill>
              </a:rPr>
              <a:t>✓  Architecture pattern library · Reference architecture set · Metadata model</a:t>
            </a:r>
            <a:endParaRPr lang="en-US" sz="950" dirty="0"/>
          </a:p>
        </p:txBody>
      </p:sp>
      <p:sp>
        <p:nvSpPr>
          <p:cNvPr id="18" name="Shape 16"/>
          <p:cNvSpPr/>
          <p:nvPr/>
        </p:nvSpPr>
        <p:spPr>
          <a:xfrm>
            <a:off x="4709160" y="914400"/>
            <a:ext cx="4160520" cy="402336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9" name="Shape 17"/>
          <p:cNvSpPr/>
          <p:nvPr/>
        </p:nvSpPr>
        <p:spPr>
          <a:xfrm>
            <a:off x="4709160" y="914400"/>
            <a:ext cx="4160520" cy="457200"/>
          </a:xfrm>
          <a:prstGeom prst="rect">
            <a:avLst/>
          </a:prstGeom>
          <a:solidFill>
            <a:srgbClr val="00B4D8"/>
          </a:solidFill>
          <a:ln w="12700">
            <a:solidFill>
              <a:srgbClr val="00B4D8"/>
            </a:solidFill>
            <a:prstDash val="solid"/>
          </a:ln>
        </p:spPr>
      </p:sp>
      <p:sp>
        <p:nvSpPr>
          <p:cNvPr id="20" name="Text 18"/>
          <p:cNvSpPr/>
          <p:nvPr/>
        </p:nvSpPr>
        <p:spPr>
          <a:xfrm>
            <a:off x="4818888" y="914400"/>
            <a:ext cx="3931920" cy="457200"/>
          </a:xfrm>
          <a:prstGeom prst="rect">
            <a:avLst/>
          </a:prstGeom>
          <a:noFill/>
          <a:ln/>
        </p:spPr>
        <p:txBody>
          <a:bodyPr wrap="square" lIns="0" tIns="0" rIns="0" bIns="0" rtlCol="0" anchor="ctr"/>
          <a:lstStyle/>
          <a:p>
            <a:pPr indent="0" marL="0">
              <a:buNone/>
            </a:pPr>
            <a:r>
              <a:rPr lang="en-US" sz="1150" b="1" dirty="0">
                <a:solidFill>
                  <a:srgbClr val="FFFFFF"/>
                </a:solidFill>
              </a:rPr>
              <a:t>Phase 4 · Digitize and migrate existing content</a:t>
            </a:r>
            <a:endParaRPr lang="en-US" sz="1150" dirty="0"/>
          </a:p>
        </p:txBody>
      </p:sp>
      <p:sp>
        <p:nvSpPr>
          <p:cNvPr id="21" name="Text 19"/>
          <p:cNvSpPr/>
          <p:nvPr/>
        </p:nvSpPr>
        <p:spPr>
          <a:xfrm>
            <a:off x="4818888" y="1444752"/>
            <a:ext cx="3913632" cy="457200"/>
          </a:xfrm>
          <a:prstGeom prst="rect">
            <a:avLst/>
          </a:prstGeom>
          <a:noFill/>
          <a:ln/>
        </p:spPr>
        <p:txBody>
          <a:bodyPr wrap="square" lIns="0" tIns="0" rIns="0" bIns="0" rtlCol="0" anchor="ctr"/>
          <a:lstStyle/>
          <a:p>
            <a:pPr indent="0" marL="0">
              <a:lnSpc>
                <a:spcPct val="135000"/>
              </a:lnSpc>
              <a:buNone/>
            </a:pPr>
            <a:r>
              <a:rPr lang="en-US" sz="950" i="1" dirty="0">
                <a:solidFill>
                  <a:srgbClr val="8899BB"/>
                </a:solidFill>
              </a:rPr>
              <a:t>Current Confluence content is transformed into structured assets — this is not a copy-paste exercise.</a:t>
            </a:r>
            <a:endParaRPr lang="en-US" sz="950" dirty="0"/>
          </a:p>
        </p:txBody>
      </p:sp>
      <p:sp>
        <p:nvSpPr>
          <p:cNvPr id="22" name="Shape 20"/>
          <p:cNvSpPr/>
          <p:nvPr/>
        </p:nvSpPr>
        <p:spPr>
          <a:xfrm>
            <a:off x="4818888" y="1920240"/>
            <a:ext cx="3886200" cy="0"/>
          </a:xfrm>
          <a:prstGeom prst="line">
            <a:avLst/>
          </a:prstGeom>
          <a:noFill/>
          <a:ln w="6350">
            <a:solidFill>
              <a:srgbClr val="DDEEFF"/>
            </a:solidFill>
            <a:prstDash val="solid"/>
          </a:ln>
        </p:spPr>
      </p:sp>
      <p:sp>
        <p:nvSpPr>
          <p:cNvPr id="23" name="Text 21"/>
          <p:cNvSpPr/>
          <p:nvPr/>
        </p:nvSpPr>
        <p:spPr>
          <a:xfrm>
            <a:off x="4818888" y="1993392"/>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Activities</a:t>
            </a:r>
            <a:endParaRPr lang="en-US" sz="1000" dirty="0"/>
          </a:p>
        </p:txBody>
      </p:sp>
      <p:sp>
        <p:nvSpPr>
          <p:cNvPr id="24" name="Text 22"/>
          <p:cNvSpPr/>
          <p:nvPr/>
        </p:nvSpPr>
        <p:spPr>
          <a:xfrm>
            <a:off x="4846320" y="2286000"/>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Extract architecture information from existing pages</a:t>
            </a:r>
            <a:endParaRPr lang="en-US" sz="950" dirty="0"/>
          </a:p>
        </p:txBody>
      </p:sp>
      <p:sp>
        <p:nvSpPr>
          <p:cNvPr id="25" name="Text 23"/>
          <p:cNvSpPr/>
          <p:nvPr/>
        </p:nvSpPr>
        <p:spPr>
          <a:xfrm>
            <a:off x="4846320" y="2633472"/>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Normalise terminology across domains</a:t>
            </a:r>
            <a:endParaRPr lang="en-US" sz="950" dirty="0"/>
          </a:p>
        </p:txBody>
      </p:sp>
      <p:sp>
        <p:nvSpPr>
          <p:cNvPr id="26" name="Text 24"/>
          <p:cNvSpPr/>
          <p:nvPr/>
        </p:nvSpPr>
        <p:spPr>
          <a:xfrm>
            <a:off x="4846320" y="2980944"/>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Map existing documents to reusable objects</a:t>
            </a:r>
            <a:endParaRPr lang="en-US" sz="950" dirty="0"/>
          </a:p>
        </p:txBody>
      </p:sp>
      <p:sp>
        <p:nvSpPr>
          <p:cNvPr id="27" name="Text 25"/>
          <p:cNvSpPr/>
          <p:nvPr/>
        </p:nvSpPr>
        <p:spPr>
          <a:xfrm>
            <a:off x="4846320" y="3328416"/>
            <a:ext cx="3840480" cy="301752"/>
          </a:xfrm>
          <a:prstGeom prst="rect">
            <a:avLst/>
          </a:prstGeom>
          <a:noFill/>
          <a:ln/>
        </p:spPr>
        <p:txBody>
          <a:bodyPr wrap="square" lIns="0" tIns="0" rIns="0" bIns="0" rtlCol="0" anchor="ctr"/>
          <a:lstStyle/>
          <a:p>
            <a:pPr indent="0" marL="0">
              <a:lnSpc>
                <a:spcPct val="130000"/>
              </a:lnSpc>
              <a:buNone/>
            </a:pPr>
            <a:r>
              <a:rPr lang="en-US" sz="950" dirty="0">
                <a:solidFill>
                  <a:srgbClr val="4A5568"/>
                </a:solidFill>
              </a:rPr>
              <a:t>→  Identify duplicates, gaps, and outdated assets</a:t>
            </a:r>
            <a:endParaRPr lang="en-US" sz="950" dirty="0"/>
          </a:p>
        </p:txBody>
      </p:sp>
      <p:sp>
        <p:nvSpPr>
          <p:cNvPr id="28" name="Shape 26"/>
          <p:cNvSpPr/>
          <p:nvPr/>
        </p:nvSpPr>
        <p:spPr>
          <a:xfrm>
            <a:off x="4818888" y="3657600"/>
            <a:ext cx="3886200" cy="0"/>
          </a:xfrm>
          <a:prstGeom prst="line">
            <a:avLst/>
          </a:prstGeom>
          <a:noFill/>
          <a:ln w="6350">
            <a:solidFill>
              <a:srgbClr val="DDEEFF"/>
            </a:solidFill>
            <a:prstDash val="solid"/>
          </a:ln>
        </p:spPr>
      </p:sp>
      <p:sp>
        <p:nvSpPr>
          <p:cNvPr id="29" name="Text 27"/>
          <p:cNvSpPr/>
          <p:nvPr/>
        </p:nvSpPr>
        <p:spPr>
          <a:xfrm>
            <a:off x="4818888" y="3730752"/>
            <a:ext cx="3840480" cy="256032"/>
          </a:xfrm>
          <a:prstGeom prst="rect">
            <a:avLst/>
          </a:prstGeom>
          <a:noFill/>
          <a:ln/>
        </p:spPr>
        <p:txBody>
          <a:bodyPr wrap="square" lIns="0" tIns="0" rIns="0" bIns="0" rtlCol="0" anchor="ctr"/>
          <a:lstStyle/>
          <a:p>
            <a:pPr indent="0" marL="0">
              <a:buNone/>
            </a:pPr>
            <a:r>
              <a:rPr lang="en-US" sz="1000" b="1" dirty="0">
                <a:solidFill>
                  <a:srgbClr val="0D1B4B"/>
                </a:solidFill>
              </a:rPr>
              <a:t>Deliverables</a:t>
            </a:r>
            <a:endParaRPr lang="en-US" sz="1000" dirty="0"/>
          </a:p>
        </p:txBody>
      </p:sp>
      <p:sp>
        <p:nvSpPr>
          <p:cNvPr id="30" name="Text 28"/>
          <p:cNvSpPr/>
          <p:nvPr/>
        </p:nvSpPr>
        <p:spPr>
          <a:xfrm>
            <a:off x="4846320" y="4023360"/>
            <a:ext cx="3858768" cy="301752"/>
          </a:xfrm>
          <a:prstGeom prst="rect">
            <a:avLst/>
          </a:prstGeom>
          <a:noFill/>
          <a:ln/>
        </p:spPr>
        <p:txBody>
          <a:bodyPr wrap="square" lIns="0" tIns="0" rIns="0" bIns="0" rtlCol="0" anchor="ctr"/>
          <a:lstStyle/>
          <a:p>
            <a:pPr indent="0" marL="0">
              <a:buNone/>
            </a:pPr>
            <a:r>
              <a:rPr lang="en-US" sz="950" dirty="0">
                <a:solidFill>
                  <a:srgbClr val="4A5568"/>
                </a:solidFill>
              </a:rPr>
              <a:t>✓  Migration plan · Mapped inventory of existing content</a:t>
            </a:r>
            <a:endParaRPr lang="en-US" sz="950" dirty="0"/>
          </a:p>
        </p:txBody>
      </p:sp>
      <p:sp>
        <p:nvSpPr>
          <p:cNvPr id="31" name="Text 29"/>
          <p:cNvSpPr/>
          <p:nvPr/>
        </p:nvSpPr>
        <p:spPr>
          <a:xfrm>
            <a:off x="4846320" y="4370832"/>
            <a:ext cx="3858768" cy="301752"/>
          </a:xfrm>
          <a:prstGeom prst="rect">
            <a:avLst/>
          </a:prstGeom>
          <a:noFill/>
          <a:ln/>
        </p:spPr>
        <p:txBody>
          <a:bodyPr wrap="square" lIns="0" tIns="0" rIns="0" bIns="0" rtlCol="0" anchor="ctr"/>
          <a:lstStyle/>
          <a:p>
            <a:pPr indent="0" marL="0">
              <a:buNone/>
            </a:pPr>
            <a:r>
              <a:rPr lang="en-US" sz="950" dirty="0">
                <a:solidFill>
                  <a:srgbClr val="4A5568"/>
                </a:solidFill>
              </a:rPr>
              <a:t>✓  Cleaned and standardised architecture assets · Initial migrated repository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1800" b="1" dirty="0">
                <a:solidFill>
                  <a:srgbClr val="FFFFFF"/>
                </a:solidFill>
              </a:rPr>
              <a:t>Phase 5 — Experience  ·  Phase 6 — AI  ·  Phase 7 — Scale</a:t>
            </a:r>
            <a:endParaRPr lang="en-US" sz="1800" dirty="0"/>
          </a:p>
        </p:txBody>
      </p:sp>
      <p:sp>
        <p:nvSpPr>
          <p:cNvPr id="4" name="Shape 2"/>
          <p:cNvSpPr/>
          <p:nvPr/>
        </p:nvSpPr>
        <p:spPr>
          <a:xfrm>
            <a:off x="228600" y="914400"/>
            <a:ext cx="2788920" cy="4041648"/>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5" name="Shape 3"/>
          <p:cNvSpPr/>
          <p:nvPr/>
        </p:nvSpPr>
        <p:spPr>
          <a:xfrm>
            <a:off x="228600" y="914400"/>
            <a:ext cx="2788920" cy="64008"/>
          </a:xfrm>
          <a:prstGeom prst="rect">
            <a:avLst/>
          </a:prstGeom>
          <a:solidFill>
            <a:srgbClr val="2351C8"/>
          </a:solidFill>
          <a:ln w="12700">
            <a:solidFill>
              <a:srgbClr val="2351C8"/>
            </a:solidFill>
            <a:prstDash val="solid"/>
          </a:ln>
        </p:spPr>
      </p:sp>
      <p:sp>
        <p:nvSpPr>
          <p:cNvPr id="6" name="Text 4"/>
          <p:cNvSpPr/>
          <p:nvPr/>
        </p:nvSpPr>
        <p:spPr>
          <a:xfrm>
            <a:off x="338328" y="1024128"/>
            <a:ext cx="2578608" cy="548640"/>
          </a:xfrm>
          <a:prstGeom prst="rect">
            <a:avLst/>
          </a:prstGeom>
          <a:noFill/>
          <a:ln/>
        </p:spPr>
        <p:txBody>
          <a:bodyPr wrap="square" lIns="0" tIns="0" rIns="0" bIns="0" rtlCol="0" anchor="ctr"/>
          <a:lstStyle/>
          <a:p>
            <a:pPr indent="0" marL="0">
              <a:lnSpc>
                <a:spcPct val="120000"/>
              </a:lnSpc>
              <a:buNone/>
            </a:pPr>
            <a:r>
              <a:rPr lang="en-US" sz="1300" b="1" dirty="0">
                <a:solidFill>
                  <a:srgbClr val="0D1B4B"/>
                </a:solidFill>
              </a:rPr>
              <a:t>Phase 5</a:t>
            </a:r>
            <a:endParaRPr lang="en-US" sz="1300" dirty="0"/>
          </a:p>
          <a:p>
            <a:pPr indent="0" marL="0">
              <a:lnSpc>
                <a:spcPct val="120000"/>
              </a:lnSpc>
              <a:buNone/>
            </a:pPr>
            <a:r>
              <a:rPr lang="en-US" sz="1300" b="1" dirty="0">
                <a:solidFill>
                  <a:srgbClr val="0D1B4B"/>
                </a:solidFill>
              </a:rPr>
              <a:t>User experience</a:t>
            </a:r>
            <a:endParaRPr lang="en-US" sz="1300" dirty="0"/>
          </a:p>
        </p:txBody>
      </p:sp>
      <p:sp>
        <p:nvSpPr>
          <p:cNvPr id="7" name="Text 5"/>
          <p:cNvSpPr/>
          <p:nvPr/>
        </p:nvSpPr>
        <p:spPr>
          <a:xfrm>
            <a:off x="338328" y="1609344"/>
            <a:ext cx="2578608" cy="502920"/>
          </a:xfrm>
          <a:prstGeom prst="rect">
            <a:avLst/>
          </a:prstGeom>
          <a:noFill/>
          <a:ln/>
        </p:spPr>
        <p:txBody>
          <a:bodyPr wrap="square" lIns="0" tIns="0" rIns="0" bIns="0" rtlCol="0" anchor="ctr"/>
          <a:lstStyle/>
          <a:p>
            <a:pPr indent="0" marL="0">
              <a:lnSpc>
                <a:spcPct val="135000"/>
              </a:lnSpc>
              <a:buNone/>
            </a:pPr>
            <a:r>
              <a:rPr lang="en-US" sz="950" i="1" dirty="0">
                <a:solidFill>
                  <a:srgbClr val="8899BB"/>
                </a:solidFill>
              </a:rPr>
              <a:t>Architects need an easy way to find, use, and submit architecture.</a:t>
            </a:r>
            <a:endParaRPr lang="en-US" sz="950" dirty="0"/>
          </a:p>
        </p:txBody>
      </p:sp>
      <p:sp>
        <p:nvSpPr>
          <p:cNvPr id="8" name="Shape 6"/>
          <p:cNvSpPr/>
          <p:nvPr/>
        </p:nvSpPr>
        <p:spPr>
          <a:xfrm>
            <a:off x="338328" y="2148840"/>
            <a:ext cx="2542032" cy="0"/>
          </a:xfrm>
          <a:prstGeom prst="line">
            <a:avLst/>
          </a:prstGeom>
          <a:noFill/>
          <a:ln w="6350">
            <a:solidFill>
              <a:srgbClr val="DDEEFF"/>
            </a:solidFill>
            <a:prstDash val="solid"/>
          </a:ln>
        </p:spPr>
      </p:sp>
      <p:sp>
        <p:nvSpPr>
          <p:cNvPr id="9" name="Text 7"/>
          <p:cNvSpPr/>
          <p:nvPr/>
        </p:nvSpPr>
        <p:spPr>
          <a:xfrm>
            <a:off x="338328" y="2212848"/>
            <a:ext cx="2542032" cy="228600"/>
          </a:xfrm>
          <a:prstGeom prst="rect">
            <a:avLst/>
          </a:prstGeom>
          <a:noFill/>
          <a:ln/>
        </p:spPr>
        <p:txBody>
          <a:bodyPr wrap="square" lIns="0" tIns="0" rIns="0" bIns="0" rtlCol="0" anchor="ctr"/>
          <a:lstStyle/>
          <a:p>
            <a:pPr indent="0" marL="0">
              <a:buNone/>
            </a:pPr>
            <a:r>
              <a:rPr lang="en-US" sz="950" b="1" dirty="0">
                <a:solidFill>
                  <a:srgbClr val="0D1B4B"/>
                </a:solidFill>
              </a:rPr>
              <a:t>What changes</a:t>
            </a:r>
            <a:endParaRPr lang="en-US" sz="950" dirty="0"/>
          </a:p>
        </p:txBody>
      </p:sp>
      <p:sp>
        <p:nvSpPr>
          <p:cNvPr id="10" name="Text 8"/>
          <p:cNvSpPr/>
          <p:nvPr/>
        </p:nvSpPr>
        <p:spPr>
          <a:xfrm>
            <a:off x="338328" y="2487168"/>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Search and browse all architecture assets from one place</a:t>
            </a:r>
            <a:endParaRPr lang="en-US" sz="850" dirty="0"/>
          </a:p>
        </p:txBody>
      </p:sp>
      <p:sp>
        <p:nvSpPr>
          <p:cNvPr id="11" name="Text 9"/>
          <p:cNvSpPr/>
          <p:nvPr/>
        </p:nvSpPr>
        <p:spPr>
          <a:xfrm>
            <a:off x="338328" y="2816352"/>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Enable component reuse in new designs</a:t>
            </a:r>
            <a:endParaRPr lang="en-US" sz="850" dirty="0"/>
          </a:p>
        </p:txBody>
      </p:sp>
      <p:sp>
        <p:nvSpPr>
          <p:cNvPr id="12" name="Text 10"/>
          <p:cNvSpPr/>
          <p:nvPr/>
        </p:nvSpPr>
        <p:spPr>
          <a:xfrm>
            <a:off x="338328" y="3145536"/>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Run architecture submission and review as a workflow</a:t>
            </a:r>
            <a:endParaRPr lang="en-US" sz="850" dirty="0"/>
          </a:p>
        </p:txBody>
      </p:sp>
      <p:sp>
        <p:nvSpPr>
          <p:cNvPr id="13" name="Text 11"/>
          <p:cNvSpPr/>
          <p:nvPr/>
        </p:nvSpPr>
        <p:spPr>
          <a:xfrm>
            <a:off x="338328" y="3474720"/>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View architecture from different lenses — data, security, infrastructure, business</a:t>
            </a:r>
            <a:endParaRPr lang="en-US" sz="850" dirty="0"/>
          </a:p>
        </p:txBody>
      </p:sp>
      <p:sp>
        <p:nvSpPr>
          <p:cNvPr id="14" name="Shape 12"/>
          <p:cNvSpPr/>
          <p:nvPr/>
        </p:nvSpPr>
        <p:spPr>
          <a:xfrm>
            <a:off x="338328" y="3813048"/>
            <a:ext cx="2542032" cy="0"/>
          </a:xfrm>
          <a:prstGeom prst="line">
            <a:avLst/>
          </a:prstGeom>
          <a:noFill/>
          <a:ln w="6350">
            <a:solidFill>
              <a:srgbClr val="DDEEFF"/>
            </a:solidFill>
            <a:prstDash val="solid"/>
          </a:ln>
        </p:spPr>
      </p:sp>
      <p:sp>
        <p:nvSpPr>
          <p:cNvPr id="15" name="Shape 13"/>
          <p:cNvSpPr/>
          <p:nvPr/>
        </p:nvSpPr>
        <p:spPr>
          <a:xfrm>
            <a:off x="338328" y="3913632"/>
            <a:ext cx="91440" cy="91440"/>
          </a:xfrm>
          <a:prstGeom prst="ellipse">
            <a:avLst/>
          </a:prstGeom>
          <a:solidFill>
            <a:srgbClr val="2351C8"/>
          </a:solidFill>
          <a:ln w="12700">
            <a:solidFill>
              <a:srgbClr val="2351C8"/>
            </a:solidFill>
            <a:prstDash val="solid"/>
          </a:ln>
        </p:spPr>
      </p:sp>
      <p:sp>
        <p:nvSpPr>
          <p:cNvPr id="16" name="Text 14"/>
          <p:cNvSpPr/>
          <p:nvPr/>
        </p:nvSpPr>
        <p:spPr>
          <a:xfrm>
            <a:off x="484632" y="3877056"/>
            <a:ext cx="2395728" cy="219456"/>
          </a:xfrm>
          <a:prstGeom prst="rect">
            <a:avLst/>
          </a:prstGeom>
          <a:noFill/>
          <a:ln/>
        </p:spPr>
        <p:txBody>
          <a:bodyPr wrap="square" lIns="0" tIns="0" rIns="0" bIns="0" rtlCol="0" anchor="ctr"/>
          <a:lstStyle/>
          <a:p>
            <a:pPr indent="0" marL="0">
              <a:buNone/>
            </a:pPr>
            <a:r>
              <a:rPr lang="en-US" sz="850" b="1" dirty="0">
                <a:solidFill>
                  <a:srgbClr val="2351C8"/>
                </a:solidFill>
              </a:rPr>
              <a:t>Architecture portal</a:t>
            </a:r>
            <a:endParaRPr lang="en-US" sz="850" dirty="0"/>
          </a:p>
        </p:txBody>
      </p:sp>
      <p:sp>
        <p:nvSpPr>
          <p:cNvPr id="17" name="Shape 15"/>
          <p:cNvSpPr/>
          <p:nvPr/>
        </p:nvSpPr>
        <p:spPr>
          <a:xfrm>
            <a:off x="338328" y="4169664"/>
            <a:ext cx="91440" cy="91440"/>
          </a:xfrm>
          <a:prstGeom prst="ellipse">
            <a:avLst/>
          </a:prstGeom>
          <a:solidFill>
            <a:srgbClr val="2351C8"/>
          </a:solidFill>
          <a:ln w="12700">
            <a:solidFill>
              <a:srgbClr val="2351C8"/>
            </a:solidFill>
            <a:prstDash val="solid"/>
          </a:ln>
        </p:spPr>
      </p:sp>
      <p:sp>
        <p:nvSpPr>
          <p:cNvPr id="18" name="Text 16"/>
          <p:cNvSpPr/>
          <p:nvPr/>
        </p:nvSpPr>
        <p:spPr>
          <a:xfrm>
            <a:off x="484632" y="4133088"/>
            <a:ext cx="2395728" cy="219456"/>
          </a:xfrm>
          <a:prstGeom prst="rect">
            <a:avLst/>
          </a:prstGeom>
          <a:noFill/>
          <a:ln/>
        </p:spPr>
        <p:txBody>
          <a:bodyPr wrap="square" lIns="0" tIns="0" rIns="0" bIns="0" rtlCol="0" anchor="ctr"/>
          <a:lstStyle/>
          <a:p>
            <a:pPr indent="0" marL="0">
              <a:buNone/>
            </a:pPr>
            <a:r>
              <a:rPr lang="en-US" sz="850" b="1" dirty="0">
                <a:solidFill>
                  <a:srgbClr val="2351C8"/>
                </a:solidFill>
              </a:rPr>
              <a:t>Search and reuse interface</a:t>
            </a:r>
            <a:endParaRPr lang="en-US" sz="850" dirty="0"/>
          </a:p>
        </p:txBody>
      </p:sp>
      <p:sp>
        <p:nvSpPr>
          <p:cNvPr id="19" name="Shape 17"/>
          <p:cNvSpPr/>
          <p:nvPr/>
        </p:nvSpPr>
        <p:spPr>
          <a:xfrm>
            <a:off x="338328" y="4425696"/>
            <a:ext cx="91440" cy="91440"/>
          </a:xfrm>
          <a:prstGeom prst="ellipse">
            <a:avLst/>
          </a:prstGeom>
          <a:solidFill>
            <a:srgbClr val="2351C8"/>
          </a:solidFill>
          <a:ln w="12700">
            <a:solidFill>
              <a:srgbClr val="2351C8"/>
            </a:solidFill>
            <a:prstDash val="solid"/>
          </a:ln>
        </p:spPr>
      </p:sp>
      <p:sp>
        <p:nvSpPr>
          <p:cNvPr id="20" name="Text 18"/>
          <p:cNvSpPr/>
          <p:nvPr/>
        </p:nvSpPr>
        <p:spPr>
          <a:xfrm>
            <a:off x="484632" y="4389120"/>
            <a:ext cx="2395728" cy="219456"/>
          </a:xfrm>
          <a:prstGeom prst="rect">
            <a:avLst/>
          </a:prstGeom>
          <a:noFill/>
          <a:ln/>
        </p:spPr>
        <p:txBody>
          <a:bodyPr wrap="square" lIns="0" tIns="0" rIns="0" bIns="0" rtlCol="0" anchor="ctr"/>
          <a:lstStyle/>
          <a:p>
            <a:pPr indent="0" marL="0">
              <a:buNone/>
            </a:pPr>
            <a:r>
              <a:rPr lang="en-US" sz="850" b="1" dirty="0">
                <a:solidFill>
                  <a:srgbClr val="2351C8"/>
                </a:solidFill>
              </a:rPr>
              <a:t>Submission and approval workflow</a:t>
            </a:r>
            <a:endParaRPr lang="en-US" sz="850" dirty="0"/>
          </a:p>
        </p:txBody>
      </p:sp>
      <p:sp>
        <p:nvSpPr>
          <p:cNvPr id="21" name="Shape 19"/>
          <p:cNvSpPr/>
          <p:nvPr/>
        </p:nvSpPr>
        <p:spPr>
          <a:xfrm>
            <a:off x="338328" y="4681728"/>
            <a:ext cx="91440" cy="91440"/>
          </a:xfrm>
          <a:prstGeom prst="ellipse">
            <a:avLst/>
          </a:prstGeom>
          <a:solidFill>
            <a:srgbClr val="2351C8"/>
          </a:solidFill>
          <a:ln w="12700">
            <a:solidFill>
              <a:srgbClr val="2351C8"/>
            </a:solidFill>
            <a:prstDash val="solid"/>
          </a:ln>
        </p:spPr>
      </p:sp>
      <p:sp>
        <p:nvSpPr>
          <p:cNvPr id="22" name="Text 20"/>
          <p:cNvSpPr/>
          <p:nvPr/>
        </p:nvSpPr>
        <p:spPr>
          <a:xfrm>
            <a:off x="484632" y="4645152"/>
            <a:ext cx="2395728" cy="219456"/>
          </a:xfrm>
          <a:prstGeom prst="rect">
            <a:avLst/>
          </a:prstGeom>
          <a:noFill/>
          <a:ln/>
        </p:spPr>
        <p:txBody>
          <a:bodyPr wrap="square" lIns="0" tIns="0" rIns="0" bIns="0" rtlCol="0" anchor="ctr"/>
          <a:lstStyle/>
          <a:p>
            <a:pPr indent="0" marL="0">
              <a:buNone/>
            </a:pPr>
            <a:r>
              <a:rPr lang="en-US" sz="850" b="1" dirty="0">
                <a:solidFill>
                  <a:srgbClr val="2351C8"/>
                </a:solidFill>
              </a:rPr>
              <a:t>Reporting dashboard</a:t>
            </a:r>
            <a:endParaRPr lang="en-US" sz="850" dirty="0"/>
          </a:p>
        </p:txBody>
      </p:sp>
      <p:sp>
        <p:nvSpPr>
          <p:cNvPr id="23" name="Shape 21"/>
          <p:cNvSpPr/>
          <p:nvPr/>
        </p:nvSpPr>
        <p:spPr>
          <a:xfrm>
            <a:off x="3154680" y="914400"/>
            <a:ext cx="2788920" cy="4041648"/>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4" name="Shape 22"/>
          <p:cNvSpPr/>
          <p:nvPr/>
        </p:nvSpPr>
        <p:spPr>
          <a:xfrm>
            <a:off x="3154680" y="914400"/>
            <a:ext cx="2788920" cy="64008"/>
          </a:xfrm>
          <a:prstGeom prst="rect">
            <a:avLst/>
          </a:prstGeom>
          <a:solidFill>
            <a:srgbClr val="06D6A0"/>
          </a:solidFill>
          <a:ln w="12700">
            <a:solidFill>
              <a:srgbClr val="06D6A0"/>
            </a:solidFill>
            <a:prstDash val="solid"/>
          </a:ln>
        </p:spPr>
      </p:sp>
      <p:sp>
        <p:nvSpPr>
          <p:cNvPr id="25" name="Text 23"/>
          <p:cNvSpPr/>
          <p:nvPr/>
        </p:nvSpPr>
        <p:spPr>
          <a:xfrm>
            <a:off x="3264408" y="1024128"/>
            <a:ext cx="2578608" cy="548640"/>
          </a:xfrm>
          <a:prstGeom prst="rect">
            <a:avLst/>
          </a:prstGeom>
          <a:noFill/>
          <a:ln/>
        </p:spPr>
        <p:txBody>
          <a:bodyPr wrap="square" lIns="0" tIns="0" rIns="0" bIns="0" rtlCol="0" anchor="ctr"/>
          <a:lstStyle/>
          <a:p>
            <a:pPr indent="0" marL="0">
              <a:lnSpc>
                <a:spcPct val="120000"/>
              </a:lnSpc>
              <a:buNone/>
            </a:pPr>
            <a:r>
              <a:rPr lang="en-US" sz="1300" b="1" dirty="0">
                <a:solidFill>
                  <a:srgbClr val="0D1B4B"/>
                </a:solidFill>
              </a:rPr>
              <a:t>Phase 6</a:t>
            </a:r>
            <a:endParaRPr lang="en-US" sz="1300" dirty="0"/>
          </a:p>
          <a:p>
            <a:pPr indent="0" marL="0">
              <a:lnSpc>
                <a:spcPct val="120000"/>
              </a:lnSpc>
              <a:buNone/>
            </a:pPr>
            <a:r>
              <a:rPr lang="en-US" sz="1300" b="1" dirty="0">
                <a:solidFill>
                  <a:srgbClr val="0D1B4B"/>
                </a:solidFill>
              </a:rPr>
              <a:t>AI enablement</a:t>
            </a:r>
            <a:endParaRPr lang="en-US" sz="1300" dirty="0"/>
          </a:p>
        </p:txBody>
      </p:sp>
      <p:sp>
        <p:nvSpPr>
          <p:cNvPr id="26" name="Text 24"/>
          <p:cNvSpPr/>
          <p:nvPr/>
        </p:nvSpPr>
        <p:spPr>
          <a:xfrm>
            <a:off x="3264408" y="1609344"/>
            <a:ext cx="2578608" cy="502920"/>
          </a:xfrm>
          <a:prstGeom prst="rect">
            <a:avLst/>
          </a:prstGeom>
          <a:noFill/>
          <a:ln/>
        </p:spPr>
        <p:txBody>
          <a:bodyPr wrap="square" lIns="0" tIns="0" rIns="0" bIns="0" rtlCol="0" anchor="ctr"/>
          <a:lstStyle/>
          <a:p>
            <a:pPr indent="0" marL="0">
              <a:lnSpc>
                <a:spcPct val="135000"/>
              </a:lnSpc>
              <a:buNone/>
            </a:pPr>
            <a:r>
              <a:rPr lang="en-US" sz="950" i="1" dirty="0">
                <a:solidFill>
                  <a:srgbClr val="8899BB"/>
                </a:solidFill>
              </a:rPr>
              <a:t>Once content is structured, AI becomes genuinely useful — not just a search box.</a:t>
            </a:r>
            <a:endParaRPr lang="en-US" sz="950" dirty="0"/>
          </a:p>
        </p:txBody>
      </p:sp>
      <p:sp>
        <p:nvSpPr>
          <p:cNvPr id="27" name="Shape 25"/>
          <p:cNvSpPr/>
          <p:nvPr/>
        </p:nvSpPr>
        <p:spPr>
          <a:xfrm>
            <a:off x="3264408" y="2148840"/>
            <a:ext cx="2542032" cy="0"/>
          </a:xfrm>
          <a:prstGeom prst="line">
            <a:avLst/>
          </a:prstGeom>
          <a:noFill/>
          <a:ln w="6350">
            <a:solidFill>
              <a:srgbClr val="DDEEFF"/>
            </a:solidFill>
            <a:prstDash val="solid"/>
          </a:ln>
        </p:spPr>
      </p:sp>
      <p:sp>
        <p:nvSpPr>
          <p:cNvPr id="28" name="Text 26"/>
          <p:cNvSpPr/>
          <p:nvPr/>
        </p:nvSpPr>
        <p:spPr>
          <a:xfrm>
            <a:off x="3264408" y="2212848"/>
            <a:ext cx="2542032" cy="228600"/>
          </a:xfrm>
          <a:prstGeom prst="rect">
            <a:avLst/>
          </a:prstGeom>
          <a:noFill/>
          <a:ln/>
        </p:spPr>
        <p:txBody>
          <a:bodyPr wrap="square" lIns="0" tIns="0" rIns="0" bIns="0" rtlCol="0" anchor="ctr"/>
          <a:lstStyle/>
          <a:p>
            <a:pPr indent="0" marL="0">
              <a:buNone/>
            </a:pPr>
            <a:r>
              <a:rPr lang="en-US" sz="950" b="1" dirty="0">
                <a:solidFill>
                  <a:srgbClr val="0D1B4B"/>
                </a:solidFill>
              </a:rPr>
              <a:t>What changes</a:t>
            </a:r>
            <a:endParaRPr lang="en-US" sz="950" dirty="0"/>
          </a:p>
        </p:txBody>
      </p:sp>
      <p:sp>
        <p:nvSpPr>
          <p:cNvPr id="29" name="Text 27"/>
          <p:cNvSpPr/>
          <p:nvPr/>
        </p:nvSpPr>
        <p:spPr>
          <a:xfrm>
            <a:off x="3264408" y="2487168"/>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Semantic search across all architecture assets</a:t>
            </a:r>
            <a:endParaRPr lang="en-US" sz="850" dirty="0"/>
          </a:p>
        </p:txBody>
      </p:sp>
      <p:sp>
        <p:nvSpPr>
          <p:cNvPr id="30" name="Text 28"/>
          <p:cNvSpPr/>
          <p:nvPr/>
        </p:nvSpPr>
        <p:spPr>
          <a:xfrm>
            <a:off x="3264408" y="2816352"/>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Pattern suggestion for new design requests</a:t>
            </a:r>
            <a:endParaRPr lang="en-US" sz="850" dirty="0"/>
          </a:p>
        </p:txBody>
      </p:sp>
      <p:sp>
        <p:nvSpPr>
          <p:cNvPr id="31" name="Text 29"/>
          <p:cNvSpPr/>
          <p:nvPr/>
        </p:nvSpPr>
        <p:spPr>
          <a:xfrm>
            <a:off x="3264408" y="3145536"/>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Automated gap and duplication detection</a:t>
            </a:r>
            <a:endParaRPr lang="en-US" sz="850" dirty="0"/>
          </a:p>
        </p:txBody>
      </p:sp>
      <p:sp>
        <p:nvSpPr>
          <p:cNvPr id="32" name="Text 30"/>
          <p:cNvSpPr/>
          <p:nvPr/>
        </p:nvSpPr>
        <p:spPr>
          <a:xfrm>
            <a:off x="3264408" y="3474720"/>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Draft architecture summaries and impact assessments</a:t>
            </a:r>
            <a:endParaRPr lang="en-US" sz="850" dirty="0"/>
          </a:p>
        </p:txBody>
      </p:sp>
      <p:sp>
        <p:nvSpPr>
          <p:cNvPr id="33" name="Shape 31"/>
          <p:cNvSpPr/>
          <p:nvPr/>
        </p:nvSpPr>
        <p:spPr>
          <a:xfrm>
            <a:off x="3264408" y="3813048"/>
            <a:ext cx="2542032" cy="0"/>
          </a:xfrm>
          <a:prstGeom prst="line">
            <a:avLst/>
          </a:prstGeom>
          <a:noFill/>
          <a:ln w="6350">
            <a:solidFill>
              <a:srgbClr val="DDEEFF"/>
            </a:solidFill>
            <a:prstDash val="solid"/>
          </a:ln>
        </p:spPr>
      </p:sp>
      <p:sp>
        <p:nvSpPr>
          <p:cNvPr id="34" name="Shape 32"/>
          <p:cNvSpPr/>
          <p:nvPr/>
        </p:nvSpPr>
        <p:spPr>
          <a:xfrm>
            <a:off x="3264408" y="3913632"/>
            <a:ext cx="91440" cy="91440"/>
          </a:xfrm>
          <a:prstGeom prst="ellipse">
            <a:avLst/>
          </a:prstGeom>
          <a:solidFill>
            <a:srgbClr val="06D6A0"/>
          </a:solidFill>
          <a:ln w="12700">
            <a:solidFill>
              <a:srgbClr val="06D6A0"/>
            </a:solidFill>
            <a:prstDash val="solid"/>
          </a:ln>
        </p:spPr>
      </p:sp>
      <p:sp>
        <p:nvSpPr>
          <p:cNvPr id="35" name="Text 33"/>
          <p:cNvSpPr/>
          <p:nvPr/>
        </p:nvSpPr>
        <p:spPr>
          <a:xfrm>
            <a:off x="3410712" y="3877056"/>
            <a:ext cx="2395728" cy="219456"/>
          </a:xfrm>
          <a:prstGeom prst="rect">
            <a:avLst/>
          </a:prstGeom>
          <a:noFill/>
          <a:ln/>
        </p:spPr>
        <p:txBody>
          <a:bodyPr wrap="square" lIns="0" tIns="0" rIns="0" bIns="0" rtlCol="0" anchor="ctr"/>
          <a:lstStyle/>
          <a:p>
            <a:pPr indent="0" marL="0">
              <a:buNone/>
            </a:pPr>
            <a:r>
              <a:rPr lang="en-US" sz="850" b="1" dirty="0">
                <a:solidFill>
                  <a:srgbClr val="06D6A0"/>
                </a:solidFill>
              </a:rPr>
              <a:t>AI-assisted architecture assistant</a:t>
            </a:r>
            <a:endParaRPr lang="en-US" sz="850" dirty="0"/>
          </a:p>
        </p:txBody>
      </p:sp>
      <p:sp>
        <p:nvSpPr>
          <p:cNvPr id="36" name="Shape 34"/>
          <p:cNvSpPr/>
          <p:nvPr/>
        </p:nvSpPr>
        <p:spPr>
          <a:xfrm>
            <a:off x="3264408" y="4169664"/>
            <a:ext cx="91440" cy="91440"/>
          </a:xfrm>
          <a:prstGeom prst="ellipse">
            <a:avLst/>
          </a:prstGeom>
          <a:solidFill>
            <a:srgbClr val="06D6A0"/>
          </a:solidFill>
          <a:ln w="12700">
            <a:solidFill>
              <a:srgbClr val="06D6A0"/>
            </a:solidFill>
            <a:prstDash val="solid"/>
          </a:ln>
        </p:spPr>
      </p:sp>
      <p:sp>
        <p:nvSpPr>
          <p:cNvPr id="37" name="Text 35"/>
          <p:cNvSpPr/>
          <p:nvPr/>
        </p:nvSpPr>
        <p:spPr>
          <a:xfrm>
            <a:off x="3410712" y="4133088"/>
            <a:ext cx="2395728" cy="219456"/>
          </a:xfrm>
          <a:prstGeom prst="rect">
            <a:avLst/>
          </a:prstGeom>
          <a:noFill/>
          <a:ln/>
        </p:spPr>
        <p:txBody>
          <a:bodyPr wrap="square" lIns="0" tIns="0" rIns="0" bIns="0" rtlCol="0" anchor="ctr"/>
          <a:lstStyle/>
          <a:p>
            <a:pPr indent="0" marL="0">
              <a:buNone/>
            </a:pPr>
            <a:r>
              <a:rPr lang="en-US" sz="850" b="1" dirty="0">
                <a:solidFill>
                  <a:srgbClr val="06D6A0"/>
                </a:solidFill>
              </a:rPr>
              <a:t>Pattern recommendation engine</a:t>
            </a:r>
            <a:endParaRPr lang="en-US" sz="850" dirty="0"/>
          </a:p>
        </p:txBody>
      </p:sp>
      <p:sp>
        <p:nvSpPr>
          <p:cNvPr id="38" name="Shape 36"/>
          <p:cNvSpPr/>
          <p:nvPr/>
        </p:nvSpPr>
        <p:spPr>
          <a:xfrm>
            <a:off x="3264408" y="4425696"/>
            <a:ext cx="91440" cy="91440"/>
          </a:xfrm>
          <a:prstGeom prst="ellipse">
            <a:avLst/>
          </a:prstGeom>
          <a:solidFill>
            <a:srgbClr val="06D6A0"/>
          </a:solidFill>
          <a:ln w="12700">
            <a:solidFill>
              <a:srgbClr val="06D6A0"/>
            </a:solidFill>
            <a:prstDash val="solid"/>
          </a:ln>
        </p:spPr>
      </p:sp>
      <p:sp>
        <p:nvSpPr>
          <p:cNvPr id="39" name="Text 37"/>
          <p:cNvSpPr/>
          <p:nvPr/>
        </p:nvSpPr>
        <p:spPr>
          <a:xfrm>
            <a:off x="3410712" y="4389120"/>
            <a:ext cx="2395728" cy="219456"/>
          </a:xfrm>
          <a:prstGeom prst="rect">
            <a:avLst/>
          </a:prstGeom>
          <a:noFill/>
          <a:ln/>
        </p:spPr>
        <p:txBody>
          <a:bodyPr wrap="square" lIns="0" tIns="0" rIns="0" bIns="0" rtlCol="0" anchor="ctr"/>
          <a:lstStyle/>
          <a:p>
            <a:pPr indent="0" marL="0">
              <a:buNone/>
            </a:pPr>
            <a:r>
              <a:rPr lang="en-US" sz="850" b="1" dirty="0">
                <a:solidFill>
                  <a:srgbClr val="06D6A0"/>
                </a:solidFill>
              </a:rPr>
              <a:t>Impact analysis capability</a:t>
            </a:r>
            <a:endParaRPr lang="en-US" sz="850" dirty="0"/>
          </a:p>
        </p:txBody>
      </p:sp>
      <p:sp>
        <p:nvSpPr>
          <p:cNvPr id="40" name="Shape 38"/>
          <p:cNvSpPr/>
          <p:nvPr/>
        </p:nvSpPr>
        <p:spPr>
          <a:xfrm>
            <a:off x="3264408" y="4681728"/>
            <a:ext cx="91440" cy="91440"/>
          </a:xfrm>
          <a:prstGeom prst="ellipse">
            <a:avLst/>
          </a:prstGeom>
          <a:solidFill>
            <a:srgbClr val="06D6A0"/>
          </a:solidFill>
          <a:ln w="12700">
            <a:solidFill>
              <a:srgbClr val="06D6A0"/>
            </a:solidFill>
            <a:prstDash val="solid"/>
          </a:ln>
        </p:spPr>
      </p:sp>
      <p:sp>
        <p:nvSpPr>
          <p:cNvPr id="41" name="Text 39"/>
          <p:cNvSpPr/>
          <p:nvPr/>
        </p:nvSpPr>
        <p:spPr>
          <a:xfrm>
            <a:off x="3410712" y="4645152"/>
            <a:ext cx="2395728" cy="219456"/>
          </a:xfrm>
          <a:prstGeom prst="rect">
            <a:avLst/>
          </a:prstGeom>
          <a:noFill/>
          <a:ln/>
        </p:spPr>
        <p:txBody>
          <a:bodyPr wrap="square" lIns="0" tIns="0" rIns="0" bIns="0" rtlCol="0" anchor="ctr"/>
          <a:lstStyle/>
          <a:p>
            <a:pPr indent="0" marL="0">
              <a:buNone/>
            </a:pPr>
            <a:r>
              <a:rPr lang="en-US" sz="850" b="1" dirty="0">
                <a:solidFill>
                  <a:srgbClr val="06D6A0"/>
                </a:solidFill>
              </a:rPr>
              <a:t>Automated content quality checks</a:t>
            </a:r>
            <a:endParaRPr lang="en-US" sz="850" dirty="0"/>
          </a:p>
        </p:txBody>
      </p:sp>
      <p:sp>
        <p:nvSpPr>
          <p:cNvPr id="42" name="Shape 40"/>
          <p:cNvSpPr/>
          <p:nvPr/>
        </p:nvSpPr>
        <p:spPr>
          <a:xfrm>
            <a:off x="6080760" y="914400"/>
            <a:ext cx="2788920" cy="4041648"/>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43" name="Shape 41"/>
          <p:cNvSpPr/>
          <p:nvPr/>
        </p:nvSpPr>
        <p:spPr>
          <a:xfrm>
            <a:off x="6080760" y="914400"/>
            <a:ext cx="2788920" cy="64008"/>
          </a:xfrm>
          <a:prstGeom prst="rect">
            <a:avLst/>
          </a:prstGeom>
          <a:solidFill>
            <a:srgbClr val="7B5EA7"/>
          </a:solidFill>
          <a:ln w="12700">
            <a:solidFill>
              <a:srgbClr val="7B5EA7"/>
            </a:solidFill>
            <a:prstDash val="solid"/>
          </a:ln>
        </p:spPr>
      </p:sp>
      <p:sp>
        <p:nvSpPr>
          <p:cNvPr id="44" name="Text 42"/>
          <p:cNvSpPr/>
          <p:nvPr/>
        </p:nvSpPr>
        <p:spPr>
          <a:xfrm>
            <a:off x="6190488" y="1024128"/>
            <a:ext cx="2578608" cy="548640"/>
          </a:xfrm>
          <a:prstGeom prst="rect">
            <a:avLst/>
          </a:prstGeom>
          <a:noFill/>
          <a:ln/>
        </p:spPr>
        <p:txBody>
          <a:bodyPr wrap="square" lIns="0" tIns="0" rIns="0" bIns="0" rtlCol="0" anchor="ctr"/>
          <a:lstStyle/>
          <a:p>
            <a:pPr indent="0" marL="0">
              <a:lnSpc>
                <a:spcPct val="120000"/>
              </a:lnSpc>
              <a:buNone/>
            </a:pPr>
            <a:r>
              <a:rPr lang="en-US" sz="1300" b="1" dirty="0">
                <a:solidFill>
                  <a:srgbClr val="0D1B4B"/>
                </a:solidFill>
              </a:rPr>
              <a:t>Phase 7</a:t>
            </a:r>
            <a:endParaRPr lang="en-US" sz="1300" dirty="0"/>
          </a:p>
          <a:p>
            <a:pPr indent="0" marL="0">
              <a:lnSpc>
                <a:spcPct val="120000"/>
              </a:lnSpc>
              <a:buNone/>
            </a:pPr>
            <a:r>
              <a:rPr lang="en-US" sz="1300" b="1" dirty="0">
                <a:solidFill>
                  <a:srgbClr val="0D1B4B"/>
                </a:solidFill>
              </a:rPr>
              <a:t>Operationalize</a:t>
            </a:r>
            <a:endParaRPr lang="en-US" sz="1300" dirty="0"/>
          </a:p>
        </p:txBody>
      </p:sp>
      <p:sp>
        <p:nvSpPr>
          <p:cNvPr id="45" name="Text 43"/>
          <p:cNvSpPr/>
          <p:nvPr/>
        </p:nvSpPr>
        <p:spPr>
          <a:xfrm>
            <a:off x="6190488" y="1609344"/>
            <a:ext cx="2578608" cy="502920"/>
          </a:xfrm>
          <a:prstGeom prst="rect">
            <a:avLst/>
          </a:prstGeom>
          <a:noFill/>
          <a:ln/>
        </p:spPr>
        <p:txBody>
          <a:bodyPr wrap="square" lIns="0" tIns="0" rIns="0" bIns="0" rtlCol="0" anchor="ctr"/>
          <a:lstStyle/>
          <a:p>
            <a:pPr indent="0" marL="0">
              <a:lnSpc>
                <a:spcPct val="135000"/>
              </a:lnSpc>
              <a:buNone/>
            </a:pPr>
            <a:r>
              <a:rPr lang="en-US" sz="950" i="1" dirty="0">
                <a:solidFill>
                  <a:srgbClr val="8899BB"/>
                </a:solidFill>
              </a:rPr>
              <a:t>Architecture becomes part of how the firm delivers — not a separate function.</a:t>
            </a:r>
            <a:endParaRPr lang="en-US" sz="950" dirty="0"/>
          </a:p>
        </p:txBody>
      </p:sp>
      <p:sp>
        <p:nvSpPr>
          <p:cNvPr id="46" name="Shape 44"/>
          <p:cNvSpPr/>
          <p:nvPr/>
        </p:nvSpPr>
        <p:spPr>
          <a:xfrm>
            <a:off x="6190488" y="2148840"/>
            <a:ext cx="2542032" cy="0"/>
          </a:xfrm>
          <a:prstGeom prst="line">
            <a:avLst/>
          </a:prstGeom>
          <a:noFill/>
          <a:ln w="6350">
            <a:solidFill>
              <a:srgbClr val="DDEEFF"/>
            </a:solidFill>
            <a:prstDash val="solid"/>
          </a:ln>
        </p:spPr>
      </p:sp>
      <p:sp>
        <p:nvSpPr>
          <p:cNvPr id="47" name="Text 45"/>
          <p:cNvSpPr/>
          <p:nvPr/>
        </p:nvSpPr>
        <p:spPr>
          <a:xfrm>
            <a:off x="6190488" y="2212848"/>
            <a:ext cx="2542032" cy="228600"/>
          </a:xfrm>
          <a:prstGeom prst="rect">
            <a:avLst/>
          </a:prstGeom>
          <a:noFill/>
          <a:ln/>
        </p:spPr>
        <p:txBody>
          <a:bodyPr wrap="square" lIns="0" tIns="0" rIns="0" bIns="0" rtlCol="0" anchor="ctr"/>
          <a:lstStyle/>
          <a:p>
            <a:pPr indent="0" marL="0">
              <a:buNone/>
            </a:pPr>
            <a:r>
              <a:rPr lang="en-US" sz="950" b="1" dirty="0">
                <a:solidFill>
                  <a:srgbClr val="0D1B4B"/>
                </a:solidFill>
              </a:rPr>
              <a:t>What changes</a:t>
            </a:r>
            <a:endParaRPr lang="en-US" sz="950" dirty="0"/>
          </a:p>
        </p:txBody>
      </p:sp>
      <p:sp>
        <p:nvSpPr>
          <p:cNvPr id="48" name="Text 46"/>
          <p:cNvSpPr/>
          <p:nvPr/>
        </p:nvSpPr>
        <p:spPr>
          <a:xfrm>
            <a:off x="6190488" y="2487168"/>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Embed the model into project delivery</a:t>
            </a:r>
            <a:endParaRPr lang="en-US" sz="850" dirty="0"/>
          </a:p>
        </p:txBody>
      </p:sp>
      <p:sp>
        <p:nvSpPr>
          <p:cNvPr id="49" name="Text 47"/>
          <p:cNvSpPr/>
          <p:nvPr/>
        </p:nvSpPr>
        <p:spPr>
          <a:xfrm>
            <a:off x="6190488" y="2816352"/>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Make reuse mandatory for relevant new initiatives</a:t>
            </a:r>
            <a:endParaRPr lang="en-US" sz="850" dirty="0"/>
          </a:p>
        </p:txBody>
      </p:sp>
      <p:sp>
        <p:nvSpPr>
          <p:cNvPr id="50" name="Text 48"/>
          <p:cNvSpPr/>
          <p:nvPr/>
        </p:nvSpPr>
        <p:spPr>
          <a:xfrm>
            <a:off x="6190488" y="3145536"/>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Measure adoption and reuse rates</a:t>
            </a:r>
            <a:endParaRPr lang="en-US" sz="850" dirty="0"/>
          </a:p>
        </p:txBody>
      </p:sp>
      <p:sp>
        <p:nvSpPr>
          <p:cNvPr id="51" name="Text 49"/>
          <p:cNvSpPr/>
          <p:nvPr/>
        </p:nvSpPr>
        <p:spPr>
          <a:xfrm>
            <a:off x="6190488" y="3474720"/>
            <a:ext cx="2578608" cy="292608"/>
          </a:xfrm>
          <a:prstGeom prst="rect">
            <a:avLst/>
          </a:prstGeom>
          <a:noFill/>
          <a:ln/>
        </p:spPr>
        <p:txBody>
          <a:bodyPr wrap="square" lIns="0" tIns="0" rIns="0" bIns="0" rtlCol="0" anchor="ctr"/>
          <a:lstStyle/>
          <a:p>
            <a:pPr indent="0" marL="0">
              <a:lnSpc>
                <a:spcPct val="130000"/>
              </a:lnSpc>
              <a:buNone/>
            </a:pPr>
            <a:r>
              <a:rPr lang="en-US" sz="850" dirty="0">
                <a:solidFill>
                  <a:srgbClr val="4A5568"/>
                </a:solidFill>
              </a:rPr>
              <a:t>→  Continuously improve based on project demand</a:t>
            </a:r>
            <a:endParaRPr lang="en-US" sz="850" dirty="0"/>
          </a:p>
        </p:txBody>
      </p:sp>
      <p:sp>
        <p:nvSpPr>
          <p:cNvPr id="52" name="Shape 50"/>
          <p:cNvSpPr/>
          <p:nvPr/>
        </p:nvSpPr>
        <p:spPr>
          <a:xfrm>
            <a:off x="6190488" y="3813048"/>
            <a:ext cx="2542032" cy="0"/>
          </a:xfrm>
          <a:prstGeom prst="line">
            <a:avLst/>
          </a:prstGeom>
          <a:noFill/>
          <a:ln w="6350">
            <a:solidFill>
              <a:srgbClr val="DDEEFF"/>
            </a:solidFill>
            <a:prstDash val="solid"/>
          </a:ln>
        </p:spPr>
      </p:sp>
      <p:sp>
        <p:nvSpPr>
          <p:cNvPr id="53" name="Shape 51"/>
          <p:cNvSpPr/>
          <p:nvPr/>
        </p:nvSpPr>
        <p:spPr>
          <a:xfrm>
            <a:off x="6190488" y="3913632"/>
            <a:ext cx="91440" cy="91440"/>
          </a:xfrm>
          <a:prstGeom prst="ellipse">
            <a:avLst/>
          </a:prstGeom>
          <a:solidFill>
            <a:srgbClr val="7B5EA7"/>
          </a:solidFill>
          <a:ln w="12700">
            <a:solidFill>
              <a:srgbClr val="7B5EA7"/>
            </a:solidFill>
            <a:prstDash val="solid"/>
          </a:ln>
        </p:spPr>
      </p:sp>
      <p:sp>
        <p:nvSpPr>
          <p:cNvPr id="54" name="Text 52"/>
          <p:cNvSpPr/>
          <p:nvPr/>
        </p:nvSpPr>
        <p:spPr>
          <a:xfrm>
            <a:off x="6336792" y="3877056"/>
            <a:ext cx="2395728" cy="219456"/>
          </a:xfrm>
          <a:prstGeom prst="rect">
            <a:avLst/>
          </a:prstGeom>
          <a:noFill/>
          <a:ln/>
        </p:spPr>
        <p:txBody>
          <a:bodyPr wrap="square" lIns="0" tIns="0" rIns="0" bIns="0" rtlCol="0" anchor="ctr"/>
          <a:lstStyle/>
          <a:p>
            <a:pPr indent="0" marL="0">
              <a:buNone/>
            </a:pPr>
            <a:r>
              <a:rPr lang="en-US" sz="850" b="1" dirty="0">
                <a:solidFill>
                  <a:srgbClr val="7B5EA7"/>
                </a:solidFill>
              </a:rPr>
              <a:t>Enterprise rollout plan</a:t>
            </a:r>
            <a:endParaRPr lang="en-US" sz="850" dirty="0"/>
          </a:p>
        </p:txBody>
      </p:sp>
      <p:sp>
        <p:nvSpPr>
          <p:cNvPr id="55" name="Shape 53"/>
          <p:cNvSpPr/>
          <p:nvPr/>
        </p:nvSpPr>
        <p:spPr>
          <a:xfrm>
            <a:off x="6190488" y="4169664"/>
            <a:ext cx="91440" cy="91440"/>
          </a:xfrm>
          <a:prstGeom prst="ellipse">
            <a:avLst/>
          </a:prstGeom>
          <a:solidFill>
            <a:srgbClr val="7B5EA7"/>
          </a:solidFill>
          <a:ln w="12700">
            <a:solidFill>
              <a:srgbClr val="7B5EA7"/>
            </a:solidFill>
            <a:prstDash val="solid"/>
          </a:ln>
        </p:spPr>
      </p:sp>
      <p:sp>
        <p:nvSpPr>
          <p:cNvPr id="56" name="Text 54"/>
          <p:cNvSpPr/>
          <p:nvPr/>
        </p:nvSpPr>
        <p:spPr>
          <a:xfrm>
            <a:off x="6336792" y="4133088"/>
            <a:ext cx="2395728" cy="219456"/>
          </a:xfrm>
          <a:prstGeom prst="rect">
            <a:avLst/>
          </a:prstGeom>
          <a:noFill/>
          <a:ln/>
        </p:spPr>
        <p:txBody>
          <a:bodyPr wrap="square" lIns="0" tIns="0" rIns="0" bIns="0" rtlCol="0" anchor="ctr"/>
          <a:lstStyle/>
          <a:p>
            <a:pPr indent="0" marL="0">
              <a:buNone/>
            </a:pPr>
            <a:r>
              <a:rPr lang="en-US" sz="850" b="1" dirty="0">
                <a:solidFill>
                  <a:srgbClr val="7B5EA7"/>
                </a:solidFill>
              </a:rPr>
              <a:t>Adoption dashboard</a:t>
            </a:r>
            <a:endParaRPr lang="en-US" sz="850" dirty="0"/>
          </a:p>
        </p:txBody>
      </p:sp>
      <p:sp>
        <p:nvSpPr>
          <p:cNvPr id="57" name="Shape 55"/>
          <p:cNvSpPr/>
          <p:nvPr/>
        </p:nvSpPr>
        <p:spPr>
          <a:xfrm>
            <a:off x="6190488" y="4425696"/>
            <a:ext cx="91440" cy="91440"/>
          </a:xfrm>
          <a:prstGeom prst="ellipse">
            <a:avLst/>
          </a:prstGeom>
          <a:solidFill>
            <a:srgbClr val="7B5EA7"/>
          </a:solidFill>
          <a:ln w="12700">
            <a:solidFill>
              <a:srgbClr val="7B5EA7"/>
            </a:solidFill>
            <a:prstDash val="solid"/>
          </a:ln>
        </p:spPr>
      </p:sp>
      <p:sp>
        <p:nvSpPr>
          <p:cNvPr id="58" name="Text 56"/>
          <p:cNvSpPr/>
          <p:nvPr/>
        </p:nvSpPr>
        <p:spPr>
          <a:xfrm>
            <a:off x="6336792" y="4389120"/>
            <a:ext cx="2395728" cy="219456"/>
          </a:xfrm>
          <a:prstGeom prst="rect">
            <a:avLst/>
          </a:prstGeom>
          <a:noFill/>
          <a:ln/>
        </p:spPr>
        <p:txBody>
          <a:bodyPr wrap="square" lIns="0" tIns="0" rIns="0" bIns="0" rtlCol="0" anchor="ctr"/>
          <a:lstStyle/>
          <a:p>
            <a:pPr indent="0" marL="0">
              <a:buNone/>
            </a:pPr>
            <a:r>
              <a:rPr lang="en-US" sz="850" b="1" dirty="0">
                <a:solidFill>
                  <a:srgbClr val="7B5EA7"/>
                </a:solidFill>
              </a:rPr>
              <a:t>Architecture KPI framework</a:t>
            </a:r>
            <a:endParaRPr lang="en-US" sz="850" dirty="0"/>
          </a:p>
        </p:txBody>
      </p:sp>
      <p:sp>
        <p:nvSpPr>
          <p:cNvPr id="59" name="Shape 57"/>
          <p:cNvSpPr/>
          <p:nvPr/>
        </p:nvSpPr>
        <p:spPr>
          <a:xfrm>
            <a:off x="6190488" y="4681728"/>
            <a:ext cx="91440" cy="91440"/>
          </a:xfrm>
          <a:prstGeom prst="ellipse">
            <a:avLst/>
          </a:prstGeom>
          <a:solidFill>
            <a:srgbClr val="7B5EA7"/>
          </a:solidFill>
          <a:ln w="12700">
            <a:solidFill>
              <a:srgbClr val="7B5EA7"/>
            </a:solidFill>
            <a:prstDash val="solid"/>
          </a:ln>
        </p:spPr>
      </p:sp>
      <p:sp>
        <p:nvSpPr>
          <p:cNvPr id="60" name="Text 58"/>
          <p:cNvSpPr/>
          <p:nvPr/>
        </p:nvSpPr>
        <p:spPr>
          <a:xfrm>
            <a:off x="6336792" y="4645152"/>
            <a:ext cx="2395728" cy="219456"/>
          </a:xfrm>
          <a:prstGeom prst="rect">
            <a:avLst/>
          </a:prstGeom>
          <a:noFill/>
          <a:ln/>
        </p:spPr>
        <p:txBody>
          <a:bodyPr wrap="square" lIns="0" tIns="0" rIns="0" bIns="0" rtlCol="0" anchor="ctr"/>
          <a:lstStyle/>
          <a:p>
            <a:pPr indent="0" marL="0">
              <a:buNone/>
            </a:pPr>
            <a:r>
              <a:rPr lang="en-US" sz="850" b="1" dirty="0">
                <a:solidFill>
                  <a:srgbClr val="7B5EA7"/>
                </a:solidFill>
              </a:rPr>
              <a:t>Continuous improvement backlog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4B"/>
        </a:solidFill>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indent="0" marL="0">
              <a:buNone/>
            </a:pPr>
            <a:r>
              <a:rPr lang="en-US" sz="900" b="1" spc="400" kern="0" dirty="0">
                <a:solidFill>
                  <a:srgbClr val="00B4D8"/>
                </a:solidFill>
              </a:rPr>
              <a:t>EXTENDING INTO THE AGENTIC ERA</a:t>
            </a:r>
            <a:endParaRPr lang="en-US" sz="900" dirty="0"/>
          </a:p>
        </p:txBody>
      </p:sp>
      <p:sp>
        <p:nvSpPr>
          <p:cNvPr id="3" name="Text 1"/>
          <p:cNvSpPr/>
          <p:nvPr/>
        </p:nvSpPr>
        <p:spPr>
          <a:xfrm>
            <a:off x="457200" y="566928"/>
            <a:ext cx="8229600" cy="914400"/>
          </a:xfrm>
          <a:prstGeom prst="rect">
            <a:avLst/>
          </a:prstGeom>
          <a:noFill/>
          <a:ln/>
        </p:spPr>
        <p:txBody>
          <a:bodyPr wrap="square" lIns="0" tIns="0" rIns="0" bIns="0" rtlCol="0" anchor="ctr"/>
          <a:lstStyle/>
          <a:p>
            <a:pPr indent="0" marL="0">
              <a:lnSpc>
                <a:spcPct val="120000"/>
              </a:lnSpc>
              <a:buNone/>
            </a:pPr>
            <a:r>
              <a:rPr lang="en-US" sz="2600" b="1" dirty="0">
                <a:solidFill>
                  <a:srgbClr val="FFFFFF"/>
                </a:solidFill>
              </a:rPr>
              <a:t>Architecture becomes a machine-operable</a:t>
            </a:r>
            <a:endParaRPr lang="en-US" sz="2600" dirty="0"/>
          </a:p>
          <a:p>
            <a:pPr indent="0" marL="0">
              <a:lnSpc>
                <a:spcPct val="120000"/>
              </a:lnSpc>
              <a:buNone/>
            </a:pPr>
            <a:r>
              <a:rPr lang="en-US" sz="2600" b="1" dirty="0">
                <a:solidFill>
                  <a:srgbClr val="FFFFFF"/>
                </a:solidFill>
              </a:rPr>
              <a:t>operating system for enterprise change</a:t>
            </a:r>
            <a:endParaRPr lang="en-US" sz="2600" dirty="0"/>
          </a:p>
        </p:txBody>
      </p:sp>
      <p:sp>
        <p:nvSpPr>
          <p:cNvPr id="4" name="Text 2"/>
          <p:cNvSpPr/>
          <p:nvPr/>
        </p:nvSpPr>
        <p:spPr>
          <a:xfrm>
            <a:off x="457200" y="1554480"/>
            <a:ext cx="8229600" cy="320040"/>
          </a:xfrm>
          <a:prstGeom prst="rect">
            <a:avLst/>
          </a:prstGeom>
          <a:noFill/>
          <a:ln/>
        </p:spPr>
        <p:txBody>
          <a:bodyPr wrap="square" lIns="0" tIns="0" rIns="0" bIns="0" rtlCol="0" anchor="ctr"/>
          <a:lstStyle/>
          <a:p>
            <a:pPr indent="0" marL="0">
              <a:buNone/>
            </a:pPr>
            <a:r>
              <a:rPr lang="en-US" sz="1300" i="1" dirty="0">
                <a:solidFill>
                  <a:srgbClr val="C8D4F0"/>
                </a:solidFill>
              </a:rPr>
              <a:t>The target is not just digital architecture. It is agent-ready architecture.</a:t>
            </a:r>
            <a:endParaRPr lang="en-US" sz="1300" dirty="0"/>
          </a:p>
        </p:txBody>
      </p:sp>
      <p:sp>
        <p:nvSpPr>
          <p:cNvPr id="5" name="Shape 3"/>
          <p:cNvSpPr/>
          <p:nvPr/>
        </p:nvSpPr>
        <p:spPr>
          <a:xfrm>
            <a:off x="274320" y="1965960"/>
            <a:ext cx="3931920" cy="2971800"/>
          </a:xfrm>
          <a:prstGeom prst="rect">
            <a:avLst/>
          </a:prstGeom>
          <a:solidFill>
            <a:srgbClr val="152060"/>
          </a:solidFill>
          <a:ln w="6350">
            <a:solidFill>
              <a:srgbClr val="334488"/>
            </a:solidFill>
            <a:prstDash val="solid"/>
          </a:ln>
        </p:spPr>
      </p:sp>
      <p:sp>
        <p:nvSpPr>
          <p:cNvPr id="6" name="Text 4"/>
          <p:cNvSpPr/>
          <p:nvPr/>
        </p:nvSpPr>
        <p:spPr>
          <a:xfrm>
            <a:off x="411480" y="2029968"/>
            <a:ext cx="3657600" cy="320040"/>
          </a:xfrm>
          <a:prstGeom prst="rect">
            <a:avLst/>
          </a:prstGeom>
          <a:noFill/>
          <a:ln/>
        </p:spPr>
        <p:txBody>
          <a:bodyPr wrap="square" lIns="0" tIns="0" rIns="0" bIns="0" rtlCol="0" anchor="ctr"/>
          <a:lstStyle/>
          <a:p>
            <a:pPr indent="0" marL="0">
              <a:buNone/>
            </a:pPr>
            <a:r>
              <a:rPr lang="en-US" sz="1200" b="1" spc="200" kern="0" dirty="0">
                <a:solidFill>
                  <a:srgbClr val="8899BB"/>
                </a:solidFill>
              </a:rPr>
              <a:t>Today</a:t>
            </a:r>
            <a:endParaRPr lang="en-US" sz="1200" dirty="0"/>
          </a:p>
        </p:txBody>
      </p:sp>
      <p:sp>
        <p:nvSpPr>
          <p:cNvPr id="7" name="Shape 5"/>
          <p:cNvSpPr/>
          <p:nvPr/>
        </p:nvSpPr>
        <p:spPr>
          <a:xfrm>
            <a:off x="457200" y="2487168"/>
            <a:ext cx="128016" cy="128016"/>
          </a:xfrm>
          <a:prstGeom prst="ellipse">
            <a:avLst/>
          </a:prstGeom>
          <a:solidFill>
            <a:srgbClr val="8899BB"/>
          </a:solidFill>
          <a:ln w="12700">
            <a:solidFill>
              <a:srgbClr val="8899BB"/>
            </a:solidFill>
            <a:prstDash val="solid"/>
          </a:ln>
        </p:spPr>
      </p:sp>
      <p:sp>
        <p:nvSpPr>
          <p:cNvPr id="8" name="Text 6"/>
          <p:cNvSpPr/>
          <p:nvPr/>
        </p:nvSpPr>
        <p:spPr>
          <a:xfrm>
            <a:off x="658368" y="2450592"/>
            <a:ext cx="338328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Architects document standards</a:t>
            </a:r>
            <a:endParaRPr lang="en-US" sz="1050" dirty="0"/>
          </a:p>
        </p:txBody>
      </p:sp>
      <p:sp>
        <p:nvSpPr>
          <p:cNvPr id="9" name="Shape 7"/>
          <p:cNvSpPr/>
          <p:nvPr/>
        </p:nvSpPr>
        <p:spPr>
          <a:xfrm>
            <a:off x="457200" y="2916936"/>
            <a:ext cx="128016" cy="128016"/>
          </a:xfrm>
          <a:prstGeom prst="ellipse">
            <a:avLst/>
          </a:prstGeom>
          <a:solidFill>
            <a:srgbClr val="8899BB"/>
          </a:solidFill>
          <a:ln w="12700">
            <a:solidFill>
              <a:srgbClr val="8899BB"/>
            </a:solidFill>
            <a:prstDash val="solid"/>
          </a:ln>
        </p:spPr>
      </p:sp>
      <p:sp>
        <p:nvSpPr>
          <p:cNvPr id="10" name="Text 8"/>
          <p:cNvSpPr/>
          <p:nvPr/>
        </p:nvSpPr>
        <p:spPr>
          <a:xfrm>
            <a:off x="658368" y="2880360"/>
            <a:ext cx="338328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Teams look up patterns manually</a:t>
            </a:r>
            <a:endParaRPr lang="en-US" sz="1050" dirty="0"/>
          </a:p>
        </p:txBody>
      </p:sp>
      <p:sp>
        <p:nvSpPr>
          <p:cNvPr id="11" name="Shape 9"/>
          <p:cNvSpPr/>
          <p:nvPr/>
        </p:nvSpPr>
        <p:spPr>
          <a:xfrm>
            <a:off x="457200" y="3346704"/>
            <a:ext cx="128016" cy="128016"/>
          </a:xfrm>
          <a:prstGeom prst="ellipse">
            <a:avLst/>
          </a:prstGeom>
          <a:solidFill>
            <a:srgbClr val="8899BB"/>
          </a:solidFill>
          <a:ln w="12700">
            <a:solidFill>
              <a:srgbClr val="8899BB"/>
            </a:solidFill>
            <a:prstDash val="solid"/>
          </a:ln>
        </p:spPr>
      </p:sp>
      <p:sp>
        <p:nvSpPr>
          <p:cNvPr id="12" name="Text 10"/>
          <p:cNvSpPr/>
          <p:nvPr/>
        </p:nvSpPr>
        <p:spPr>
          <a:xfrm>
            <a:off x="658368" y="3310128"/>
            <a:ext cx="338328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Governance reviews designs one by one</a:t>
            </a:r>
            <a:endParaRPr lang="en-US" sz="1050" dirty="0"/>
          </a:p>
        </p:txBody>
      </p:sp>
      <p:sp>
        <p:nvSpPr>
          <p:cNvPr id="13" name="Shape 11"/>
          <p:cNvSpPr/>
          <p:nvPr/>
        </p:nvSpPr>
        <p:spPr>
          <a:xfrm>
            <a:off x="457200" y="3776472"/>
            <a:ext cx="128016" cy="128016"/>
          </a:xfrm>
          <a:prstGeom prst="ellipse">
            <a:avLst/>
          </a:prstGeom>
          <a:solidFill>
            <a:srgbClr val="8899BB"/>
          </a:solidFill>
          <a:ln w="12700">
            <a:solidFill>
              <a:srgbClr val="8899BB"/>
            </a:solidFill>
            <a:prstDash val="solid"/>
          </a:ln>
        </p:spPr>
      </p:sp>
      <p:sp>
        <p:nvSpPr>
          <p:cNvPr id="14" name="Text 12"/>
          <p:cNvSpPr/>
          <p:nvPr/>
        </p:nvSpPr>
        <p:spPr>
          <a:xfrm>
            <a:off x="658368" y="3739896"/>
            <a:ext cx="338328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Architecture knowledge scales only by hiring more architects</a:t>
            </a:r>
            <a:endParaRPr lang="en-US" sz="1050" dirty="0"/>
          </a:p>
        </p:txBody>
      </p:sp>
      <p:sp>
        <p:nvSpPr>
          <p:cNvPr id="15" name="Shape 13"/>
          <p:cNvSpPr/>
          <p:nvPr/>
        </p:nvSpPr>
        <p:spPr>
          <a:xfrm>
            <a:off x="457200" y="4206240"/>
            <a:ext cx="128016" cy="128016"/>
          </a:xfrm>
          <a:prstGeom prst="ellipse">
            <a:avLst/>
          </a:prstGeom>
          <a:solidFill>
            <a:srgbClr val="8899BB"/>
          </a:solidFill>
          <a:ln w="12700">
            <a:solidFill>
              <a:srgbClr val="8899BB"/>
            </a:solidFill>
            <a:prstDash val="solid"/>
          </a:ln>
        </p:spPr>
      </p:sp>
      <p:sp>
        <p:nvSpPr>
          <p:cNvPr id="16" name="Text 14"/>
          <p:cNvSpPr/>
          <p:nvPr/>
        </p:nvSpPr>
        <p:spPr>
          <a:xfrm>
            <a:off x="658368" y="4169664"/>
            <a:ext cx="338328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AI cannot act on unstructured content</a:t>
            </a:r>
            <a:endParaRPr lang="en-US" sz="1050" dirty="0"/>
          </a:p>
        </p:txBody>
      </p:sp>
      <p:sp>
        <p:nvSpPr>
          <p:cNvPr id="17" name="Shape 15"/>
          <p:cNvSpPr/>
          <p:nvPr/>
        </p:nvSpPr>
        <p:spPr>
          <a:xfrm>
            <a:off x="4315968" y="3474720"/>
            <a:ext cx="457200" cy="0"/>
          </a:xfrm>
          <a:prstGeom prst="line">
            <a:avLst/>
          </a:prstGeom>
          <a:noFill/>
          <a:ln w="25400">
            <a:solidFill>
              <a:srgbClr val="00B4D8"/>
            </a:solidFill>
            <a:prstDash val="solid"/>
            <a:tailEnd type="open"/>
          </a:ln>
        </p:spPr>
      </p:sp>
      <p:sp>
        <p:nvSpPr>
          <p:cNvPr id="18" name="Shape 16"/>
          <p:cNvSpPr/>
          <p:nvPr/>
        </p:nvSpPr>
        <p:spPr>
          <a:xfrm>
            <a:off x="4892040" y="1965960"/>
            <a:ext cx="3977640" cy="2971800"/>
          </a:xfrm>
          <a:prstGeom prst="rect">
            <a:avLst/>
          </a:prstGeom>
          <a:solidFill>
            <a:srgbClr val="152060"/>
          </a:solidFill>
          <a:ln w="9525">
            <a:solidFill>
              <a:srgbClr val="00B4D8"/>
            </a:solidFill>
            <a:prstDash val="solid"/>
          </a:ln>
        </p:spPr>
      </p:sp>
      <p:sp>
        <p:nvSpPr>
          <p:cNvPr id="19" name="Text 17"/>
          <p:cNvSpPr/>
          <p:nvPr/>
        </p:nvSpPr>
        <p:spPr>
          <a:xfrm>
            <a:off x="5029200" y="2029968"/>
            <a:ext cx="3657600" cy="320040"/>
          </a:xfrm>
          <a:prstGeom prst="rect">
            <a:avLst/>
          </a:prstGeom>
          <a:noFill/>
          <a:ln/>
        </p:spPr>
        <p:txBody>
          <a:bodyPr wrap="square" lIns="0" tIns="0" rIns="0" bIns="0" rtlCol="0" anchor="ctr"/>
          <a:lstStyle/>
          <a:p>
            <a:pPr indent="0" marL="0">
              <a:buNone/>
            </a:pPr>
            <a:r>
              <a:rPr lang="en-US" sz="1200" b="1" spc="200" kern="0" dirty="0">
                <a:solidFill>
                  <a:srgbClr val="00B4D8"/>
                </a:solidFill>
              </a:rPr>
              <a:t>Agentic era</a:t>
            </a:r>
            <a:endParaRPr lang="en-US" sz="1200" dirty="0"/>
          </a:p>
        </p:txBody>
      </p:sp>
      <p:sp>
        <p:nvSpPr>
          <p:cNvPr id="20" name="Shape 18"/>
          <p:cNvSpPr/>
          <p:nvPr/>
        </p:nvSpPr>
        <p:spPr>
          <a:xfrm>
            <a:off x="5029200" y="2487168"/>
            <a:ext cx="128016" cy="128016"/>
          </a:xfrm>
          <a:prstGeom prst="ellipse">
            <a:avLst/>
          </a:prstGeom>
          <a:solidFill>
            <a:srgbClr val="00B4D8"/>
          </a:solidFill>
          <a:ln w="12700">
            <a:solidFill>
              <a:srgbClr val="00B4D8"/>
            </a:solidFill>
            <a:prstDash val="solid"/>
          </a:ln>
        </p:spPr>
      </p:sp>
      <p:sp>
        <p:nvSpPr>
          <p:cNvPr id="21" name="Text 19"/>
          <p:cNvSpPr/>
          <p:nvPr/>
        </p:nvSpPr>
        <p:spPr>
          <a:xfrm>
            <a:off x="5230368" y="2450592"/>
            <a:ext cx="352044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Agents help design solutions from approved components</a:t>
            </a:r>
            <a:endParaRPr lang="en-US" sz="1050" dirty="0"/>
          </a:p>
        </p:txBody>
      </p:sp>
      <p:sp>
        <p:nvSpPr>
          <p:cNvPr id="22" name="Shape 20"/>
          <p:cNvSpPr/>
          <p:nvPr/>
        </p:nvSpPr>
        <p:spPr>
          <a:xfrm>
            <a:off x="5029200" y="2916936"/>
            <a:ext cx="128016" cy="128016"/>
          </a:xfrm>
          <a:prstGeom prst="ellipse">
            <a:avLst/>
          </a:prstGeom>
          <a:solidFill>
            <a:srgbClr val="00B4D8"/>
          </a:solidFill>
          <a:ln w="12700">
            <a:solidFill>
              <a:srgbClr val="00B4D8"/>
            </a:solidFill>
            <a:prstDash val="solid"/>
          </a:ln>
        </p:spPr>
      </p:sp>
      <p:sp>
        <p:nvSpPr>
          <p:cNvPr id="23" name="Text 21"/>
          <p:cNvSpPr/>
          <p:nvPr/>
        </p:nvSpPr>
        <p:spPr>
          <a:xfrm>
            <a:off x="5230368" y="2880360"/>
            <a:ext cx="352044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Agents assemble and check architecture against policy</a:t>
            </a:r>
            <a:endParaRPr lang="en-US" sz="1050" dirty="0"/>
          </a:p>
        </p:txBody>
      </p:sp>
      <p:sp>
        <p:nvSpPr>
          <p:cNvPr id="24" name="Shape 22"/>
          <p:cNvSpPr/>
          <p:nvPr/>
        </p:nvSpPr>
        <p:spPr>
          <a:xfrm>
            <a:off x="5029200" y="3346704"/>
            <a:ext cx="128016" cy="128016"/>
          </a:xfrm>
          <a:prstGeom prst="ellipse">
            <a:avLst/>
          </a:prstGeom>
          <a:solidFill>
            <a:srgbClr val="00B4D8"/>
          </a:solidFill>
          <a:ln w="12700">
            <a:solidFill>
              <a:srgbClr val="00B4D8"/>
            </a:solidFill>
            <a:prstDash val="solid"/>
          </a:ln>
        </p:spPr>
      </p:sp>
      <p:sp>
        <p:nvSpPr>
          <p:cNvPr id="25" name="Text 23"/>
          <p:cNvSpPr/>
          <p:nvPr/>
        </p:nvSpPr>
        <p:spPr>
          <a:xfrm>
            <a:off x="5230368" y="3310128"/>
            <a:ext cx="352044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Governance becomes continuous and automated</a:t>
            </a:r>
            <a:endParaRPr lang="en-US" sz="1050" dirty="0"/>
          </a:p>
        </p:txBody>
      </p:sp>
      <p:sp>
        <p:nvSpPr>
          <p:cNvPr id="26" name="Shape 24"/>
          <p:cNvSpPr/>
          <p:nvPr/>
        </p:nvSpPr>
        <p:spPr>
          <a:xfrm>
            <a:off x="5029200" y="3776472"/>
            <a:ext cx="128016" cy="128016"/>
          </a:xfrm>
          <a:prstGeom prst="ellipse">
            <a:avLst/>
          </a:prstGeom>
          <a:solidFill>
            <a:srgbClr val="00B4D8"/>
          </a:solidFill>
          <a:ln w="12700">
            <a:solidFill>
              <a:srgbClr val="00B4D8"/>
            </a:solidFill>
            <a:prstDash val="solid"/>
          </a:ln>
        </p:spPr>
      </p:sp>
      <p:sp>
        <p:nvSpPr>
          <p:cNvPr id="27" name="Text 25"/>
          <p:cNvSpPr/>
          <p:nvPr/>
        </p:nvSpPr>
        <p:spPr>
          <a:xfrm>
            <a:off x="5230368" y="3739896"/>
            <a:ext cx="352044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Architecture knowledge scales without scaling headcount</a:t>
            </a:r>
            <a:endParaRPr lang="en-US" sz="1050" dirty="0"/>
          </a:p>
        </p:txBody>
      </p:sp>
      <p:sp>
        <p:nvSpPr>
          <p:cNvPr id="28" name="Shape 26"/>
          <p:cNvSpPr/>
          <p:nvPr/>
        </p:nvSpPr>
        <p:spPr>
          <a:xfrm>
            <a:off x="5029200" y="4206240"/>
            <a:ext cx="128016" cy="128016"/>
          </a:xfrm>
          <a:prstGeom prst="ellipse">
            <a:avLst/>
          </a:prstGeom>
          <a:solidFill>
            <a:srgbClr val="00B4D8"/>
          </a:solidFill>
          <a:ln w="12700">
            <a:solidFill>
              <a:srgbClr val="00B4D8"/>
            </a:solidFill>
            <a:prstDash val="solid"/>
          </a:ln>
        </p:spPr>
      </p:sp>
      <p:sp>
        <p:nvSpPr>
          <p:cNvPr id="29" name="Text 27"/>
          <p:cNvSpPr/>
          <p:nvPr/>
        </p:nvSpPr>
        <p:spPr>
          <a:xfrm>
            <a:off x="5230368" y="4169664"/>
            <a:ext cx="3520440" cy="347472"/>
          </a:xfrm>
          <a:prstGeom prst="rect">
            <a:avLst/>
          </a:prstGeom>
          <a:noFill/>
          <a:ln/>
        </p:spPr>
        <p:txBody>
          <a:bodyPr wrap="square" lIns="0" tIns="0" rIns="0" bIns="0" rtlCol="0" anchor="ctr"/>
          <a:lstStyle/>
          <a:p>
            <a:pPr indent="0" marL="0">
              <a:lnSpc>
                <a:spcPct val="130000"/>
              </a:lnSpc>
              <a:buNone/>
            </a:pPr>
            <a:r>
              <a:rPr lang="en-US" sz="1050" dirty="0">
                <a:solidFill>
                  <a:srgbClr val="C8D4F0"/>
                </a:solidFill>
              </a:rPr>
              <a:t>Humans focus on exceptions, novel decisions, and accountability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2000" b="1" dirty="0">
                <a:solidFill>
                  <a:srgbClr val="FFFFFF"/>
                </a:solidFill>
              </a:rPr>
              <a:t>Five capabilities to build for the agentic era</a:t>
            </a:r>
            <a:endParaRPr lang="en-US" sz="2000" dirty="0"/>
          </a:p>
        </p:txBody>
      </p:sp>
      <p:sp>
        <p:nvSpPr>
          <p:cNvPr id="4" name="Shape 2"/>
          <p:cNvSpPr/>
          <p:nvPr/>
        </p:nvSpPr>
        <p:spPr>
          <a:xfrm>
            <a:off x="274320" y="960120"/>
            <a:ext cx="4251960" cy="118872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5" name="Shape 3"/>
          <p:cNvSpPr/>
          <p:nvPr/>
        </p:nvSpPr>
        <p:spPr>
          <a:xfrm>
            <a:off x="274320" y="960120"/>
            <a:ext cx="64008" cy="1188720"/>
          </a:xfrm>
          <a:prstGeom prst="rect">
            <a:avLst/>
          </a:prstGeom>
          <a:solidFill>
            <a:srgbClr val="00B4D8"/>
          </a:solidFill>
          <a:ln w="12700">
            <a:solidFill>
              <a:srgbClr val="00B4D8"/>
            </a:solidFill>
            <a:prstDash val="solid"/>
          </a:ln>
        </p:spPr>
      </p:sp>
      <p:sp>
        <p:nvSpPr>
          <p:cNvPr id="6" name="Shape 4"/>
          <p:cNvSpPr/>
          <p:nvPr/>
        </p:nvSpPr>
        <p:spPr>
          <a:xfrm>
            <a:off x="438912" y="1069848"/>
            <a:ext cx="320040" cy="320040"/>
          </a:xfrm>
          <a:prstGeom prst="ellipse">
            <a:avLst/>
          </a:prstGeom>
          <a:solidFill>
            <a:srgbClr val="00B4D8"/>
          </a:solidFill>
          <a:ln w="12700">
            <a:solidFill>
              <a:srgbClr val="00B4D8"/>
            </a:solidFill>
            <a:prstDash val="solid"/>
          </a:ln>
        </p:spPr>
      </p:sp>
      <p:sp>
        <p:nvSpPr>
          <p:cNvPr id="7" name="Text 5"/>
          <p:cNvSpPr/>
          <p:nvPr/>
        </p:nvSpPr>
        <p:spPr>
          <a:xfrm>
            <a:off x="438912" y="106984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8" name="Text 6"/>
          <p:cNvSpPr/>
          <p:nvPr/>
        </p:nvSpPr>
        <p:spPr>
          <a:xfrm>
            <a:off x="868680" y="1051560"/>
            <a:ext cx="3502152" cy="292608"/>
          </a:xfrm>
          <a:prstGeom prst="rect">
            <a:avLst/>
          </a:prstGeom>
          <a:noFill/>
          <a:ln/>
        </p:spPr>
        <p:txBody>
          <a:bodyPr wrap="square" lIns="0" tIns="0" rIns="0" bIns="0" rtlCol="0" anchor="ctr"/>
          <a:lstStyle/>
          <a:p>
            <a:pPr indent="0" marL="0">
              <a:buNone/>
            </a:pPr>
            <a:r>
              <a:rPr lang="en-US" sz="1200" b="1" dirty="0">
                <a:solidFill>
                  <a:srgbClr val="0D1B4B"/>
                </a:solidFill>
              </a:rPr>
              <a:t>Agent-ready architecture repository</a:t>
            </a:r>
            <a:endParaRPr lang="en-US" sz="1200" dirty="0"/>
          </a:p>
        </p:txBody>
      </p:sp>
      <p:sp>
        <p:nvSpPr>
          <p:cNvPr id="9" name="Text 7"/>
          <p:cNvSpPr/>
          <p:nvPr/>
        </p:nvSpPr>
        <p:spPr>
          <a:xfrm>
            <a:off x="868680" y="1371600"/>
            <a:ext cx="3502152" cy="713232"/>
          </a:xfrm>
          <a:prstGeom prst="rect">
            <a:avLst/>
          </a:prstGeom>
          <a:noFill/>
          <a:ln/>
        </p:spPr>
        <p:txBody>
          <a:bodyPr wrap="square" lIns="0" tIns="0" rIns="0" bIns="0" rtlCol="0" anchor="ctr"/>
          <a:lstStyle/>
          <a:p>
            <a:pPr indent="0" marL="0">
              <a:lnSpc>
                <a:spcPct val="140000"/>
              </a:lnSpc>
              <a:buNone/>
            </a:pPr>
            <a:r>
              <a:rPr lang="en-US" sz="950" dirty="0">
                <a:solidFill>
                  <a:srgbClr val="4A5568"/>
                </a:solidFill>
              </a:rPr>
              <a:t>The structured library where assets can be consumed by both humans and agents. Not a document store — a governed catalog of components, patterns, and reference designs with machine-readable metadata.</a:t>
            </a:r>
            <a:endParaRPr lang="en-US" sz="950" dirty="0"/>
          </a:p>
        </p:txBody>
      </p:sp>
      <p:sp>
        <p:nvSpPr>
          <p:cNvPr id="10" name="Shape 8"/>
          <p:cNvSpPr/>
          <p:nvPr/>
        </p:nvSpPr>
        <p:spPr>
          <a:xfrm>
            <a:off x="274320" y="2304288"/>
            <a:ext cx="4251960" cy="118872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1" name="Shape 9"/>
          <p:cNvSpPr/>
          <p:nvPr/>
        </p:nvSpPr>
        <p:spPr>
          <a:xfrm>
            <a:off x="274320" y="2304288"/>
            <a:ext cx="64008" cy="1188720"/>
          </a:xfrm>
          <a:prstGeom prst="rect">
            <a:avLst/>
          </a:prstGeom>
          <a:solidFill>
            <a:srgbClr val="2351C8"/>
          </a:solidFill>
          <a:ln w="12700">
            <a:solidFill>
              <a:srgbClr val="2351C8"/>
            </a:solidFill>
            <a:prstDash val="solid"/>
          </a:ln>
        </p:spPr>
      </p:sp>
      <p:sp>
        <p:nvSpPr>
          <p:cNvPr id="12" name="Shape 10"/>
          <p:cNvSpPr/>
          <p:nvPr/>
        </p:nvSpPr>
        <p:spPr>
          <a:xfrm>
            <a:off x="438912" y="2414016"/>
            <a:ext cx="320040" cy="320040"/>
          </a:xfrm>
          <a:prstGeom prst="ellipse">
            <a:avLst/>
          </a:prstGeom>
          <a:solidFill>
            <a:srgbClr val="2351C8"/>
          </a:solidFill>
          <a:ln w="12700">
            <a:solidFill>
              <a:srgbClr val="2351C8"/>
            </a:solidFill>
            <a:prstDash val="solid"/>
          </a:ln>
        </p:spPr>
      </p:sp>
      <p:sp>
        <p:nvSpPr>
          <p:cNvPr id="13" name="Text 11"/>
          <p:cNvSpPr/>
          <p:nvPr/>
        </p:nvSpPr>
        <p:spPr>
          <a:xfrm>
            <a:off x="438912" y="241401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14" name="Text 12"/>
          <p:cNvSpPr/>
          <p:nvPr/>
        </p:nvSpPr>
        <p:spPr>
          <a:xfrm>
            <a:off x="868680" y="2395728"/>
            <a:ext cx="3502152" cy="292608"/>
          </a:xfrm>
          <a:prstGeom prst="rect">
            <a:avLst/>
          </a:prstGeom>
          <a:noFill/>
          <a:ln/>
        </p:spPr>
        <p:txBody>
          <a:bodyPr wrap="square" lIns="0" tIns="0" rIns="0" bIns="0" rtlCol="0" anchor="ctr"/>
          <a:lstStyle/>
          <a:p>
            <a:pPr indent="0" marL="0">
              <a:buNone/>
            </a:pPr>
            <a:r>
              <a:rPr lang="en-US" sz="1200" b="1" dirty="0">
                <a:solidFill>
                  <a:srgbClr val="0D1B4B"/>
                </a:solidFill>
              </a:rPr>
              <a:t>Policy and guardrail library</a:t>
            </a:r>
            <a:endParaRPr lang="en-US" sz="1200" dirty="0"/>
          </a:p>
        </p:txBody>
      </p:sp>
      <p:sp>
        <p:nvSpPr>
          <p:cNvPr id="15" name="Text 13"/>
          <p:cNvSpPr/>
          <p:nvPr/>
        </p:nvSpPr>
        <p:spPr>
          <a:xfrm>
            <a:off x="868680" y="2715768"/>
            <a:ext cx="3502152" cy="713232"/>
          </a:xfrm>
          <a:prstGeom prst="rect">
            <a:avLst/>
          </a:prstGeom>
          <a:noFill/>
          <a:ln/>
        </p:spPr>
        <p:txBody>
          <a:bodyPr wrap="square" lIns="0" tIns="0" rIns="0" bIns="0" rtlCol="0" anchor="ctr"/>
          <a:lstStyle/>
          <a:p>
            <a:pPr indent="0" marL="0">
              <a:lnSpc>
                <a:spcPct val="140000"/>
              </a:lnSpc>
              <a:buNone/>
            </a:pPr>
            <a:r>
              <a:rPr lang="en-US" sz="950" dirty="0">
                <a:solidFill>
                  <a:srgbClr val="4A5568"/>
                </a:solidFill>
              </a:rPr>
              <a:t>A policy layer that tells agents what is acceptable. Examples: restricted data cannot move outside approved zones · all customer-facing APIs must use standard authentication · sensitive changes require architecture review.</a:t>
            </a:r>
            <a:endParaRPr lang="en-US" sz="950" dirty="0"/>
          </a:p>
        </p:txBody>
      </p:sp>
      <p:sp>
        <p:nvSpPr>
          <p:cNvPr id="16" name="Shape 14"/>
          <p:cNvSpPr/>
          <p:nvPr/>
        </p:nvSpPr>
        <p:spPr>
          <a:xfrm>
            <a:off x="274320" y="3648456"/>
            <a:ext cx="4251960" cy="118872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7" name="Shape 15"/>
          <p:cNvSpPr/>
          <p:nvPr/>
        </p:nvSpPr>
        <p:spPr>
          <a:xfrm>
            <a:off x="274320" y="3648456"/>
            <a:ext cx="64008" cy="1188720"/>
          </a:xfrm>
          <a:prstGeom prst="rect">
            <a:avLst/>
          </a:prstGeom>
          <a:solidFill>
            <a:srgbClr val="06D6A0"/>
          </a:solidFill>
          <a:ln w="12700">
            <a:solidFill>
              <a:srgbClr val="06D6A0"/>
            </a:solidFill>
            <a:prstDash val="solid"/>
          </a:ln>
        </p:spPr>
      </p:sp>
      <p:sp>
        <p:nvSpPr>
          <p:cNvPr id="18" name="Shape 16"/>
          <p:cNvSpPr/>
          <p:nvPr/>
        </p:nvSpPr>
        <p:spPr>
          <a:xfrm>
            <a:off x="438912" y="3758184"/>
            <a:ext cx="320040" cy="320040"/>
          </a:xfrm>
          <a:prstGeom prst="ellipse">
            <a:avLst/>
          </a:prstGeom>
          <a:solidFill>
            <a:srgbClr val="06D6A0"/>
          </a:solidFill>
          <a:ln w="12700">
            <a:solidFill>
              <a:srgbClr val="06D6A0"/>
            </a:solidFill>
            <a:prstDash val="solid"/>
          </a:ln>
        </p:spPr>
      </p:sp>
      <p:sp>
        <p:nvSpPr>
          <p:cNvPr id="19" name="Text 17"/>
          <p:cNvSpPr/>
          <p:nvPr/>
        </p:nvSpPr>
        <p:spPr>
          <a:xfrm>
            <a:off x="438912" y="375818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20" name="Text 18"/>
          <p:cNvSpPr/>
          <p:nvPr/>
        </p:nvSpPr>
        <p:spPr>
          <a:xfrm>
            <a:off x="868680" y="3739896"/>
            <a:ext cx="3502152" cy="292608"/>
          </a:xfrm>
          <a:prstGeom prst="rect">
            <a:avLst/>
          </a:prstGeom>
          <a:noFill/>
          <a:ln/>
        </p:spPr>
        <p:txBody>
          <a:bodyPr wrap="square" lIns="0" tIns="0" rIns="0" bIns="0" rtlCol="0" anchor="ctr"/>
          <a:lstStyle/>
          <a:p>
            <a:pPr indent="0" marL="0">
              <a:buNone/>
            </a:pPr>
            <a:r>
              <a:rPr lang="en-US" sz="1200" b="1" dirty="0">
                <a:solidFill>
                  <a:srgbClr val="0D1B4B"/>
                </a:solidFill>
              </a:rPr>
              <a:t>Tool registry for agents</a:t>
            </a:r>
            <a:endParaRPr lang="en-US" sz="1200" dirty="0"/>
          </a:p>
        </p:txBody>
      </p:sp>
      <p:sp>
        <p:nvSpPr>
          <p:cNvPr id="21" name="Text 19"/>
          <p:cNvSpPr/>
          <p:nvPr/>
        </p:nvSpPr>
        <p:spPr>
          <a:xfrm>
            <a:off x="868680" y="4059936"/>
            <a:ext cx="3502152" cy="713232"/>
          </a:xfrm>
          <a:prstGeom prst="rect">
            <a:avLst/>
          </a:prstGeom>
          <a:noFill/>
          <a:ln/>
        </p:spPr>
        <p:txBody>
          <a:bodyPr wrap="square" lIns="0" tIns="0" rIns="0" bIns="0" rtlCol="0" anchor="ctr"/>
          <a:lstStyle/>
          <a:p>
            <a:pPr indent="0" marL="0">
              <a:lnSpc>
                <a:spcPct val="140000"/>
              </a:lnSpc>
              <a:buNone/>
            </a:pPr>
            <a:r>
              <a:rPr lang="en-US" sz="950" dirty="0">
                <a:solidFill>
                  <a:srgbClr val="4A5568"/>
                </a:solidFill>
              </a:rPr>
              <a:t>Agents need a defined set of enterprise tools they are allowed to use — architecture search, diagram generation, risk register, CMDB, workflow engine. The important part is approved orchestration, not just tool access.</a:t>
            </a:r>
            <a:endParaRPr lang="en-US" sz="950" dirty="0"/>
          </a:p>
        </p:txBody>
      </p:sp>
      <p:sp>
        <p:nvSpPr>
          <p:cNvPr id="22" name="Shape 20"/>
          <p:cNvSpPr/>
          <p:nvPr/>
        </p:nvSpPr>
        <p:spPr>
          <a:xfrm>
            <a:off x="4800600" y="960120"/>
            <a:ext cx="4069080" cy="118872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3" name="Shape 21"/>
          <p:cNvSpPr/>
          <p:nvPr/>
        </p:nvSpPr>
        <p:spPr>
          <a:xfrm>
            <a:off x="4800600" y="960120"/>
            <a:ext cx="64008" cy="1188720"/>
          </a:xfrm>
          <a:prstGeom prst="rect">
            <a:avLst/>
          </a:prstGeom>
          <a:solidFill>
            <a:srgbClr val="FFB703"/>
          </a:solidFill>
          <a:ln w="12700">
            <a:solidFill>
              <a:srgbClr val="FFB703"/>
            </a:solidFill>
            <a:prstDash val="solid"/>
          </a:ln>
        </p:spPr>
      </p:sp>
      <p:sp>
        <p:nvSpPr>
          <p:cNvPr id="24" name="Shape 22"/>
          <p:cNvSpPr/>
          <p:nvPr/>
        </p:nvSpPr>
        <p:spPr>
          <a:xfrm>
            <a:off x="4965192" y="1069848"/>
            <a:ext cx="320040" cy="320040"/>
          </a:xfrm>
          <a:prstGeom prst="ellipse">
            <a:avLst/>
          </a:prstGeom>
          <a:solidFill>
            <a:srgbClr val="FFB703"/>
          </a:solidFill>
          <a:ln w="12700">
            <a:solidFill>
              <a:srgbClr val="FFB703"/>
            </a:solidFill>
            <a:prstDash val="solid"/>
          </a:ln>
        </p:spPr>
      </p:sp>
      <p:sp>
        <p:nvSpPr>
          <p:cNvPr id="25" name="Text 23"/>
          <p:cNvSpPr/>
          <p:nvPr/>
        </p:nvSpPr>
        <p:spPr>
          <a:xfrm>
            <a:off x="4965192" y="106984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26" name="Text 24"/>
          <p:cNvSpPr/>
          <p:nvPr/>
        </p:nvSpPr>
        <p:spPr>
          <a:xfrm>
            <a:off x="5394960" y="1051560"/>
            <a:ext cx="3319272" cy="292608"/>
          </a:xfrm>
          <a:prstGeom prst="rect">
            <a:avLst/>
          </a:prstGeom>
          <a:noFill/>
          <a:ln/>
        </p:spPr>
        <p:txBody>
          <a:bodyPr wrap="square" lIns="0" tIns="0" rIns="0" bIns="0" rtlCol="0" anchor="ctr"/>
          <a:lstStyle/>
          <a:p>
            <a:pPr indent="0" marL="0">
              <a:buNone/>
            </a:pPr>
            <a:r>
              <a:rPr lang="en-US" sz="1200" b="1" dirty="0">
                <a:solidFill>
                  <a:srgbClr val="0D1B4B"/>
                </a:solidFill>
              </a:rPr>
              <a:t>Decision and approval workflow</a:t>
            </a:r>
            <a:endParaRPr lang="en-US" sz="1200" dirty="0"/>
          </a:p>
        </p:txBody>
      </p:sp>
      <p:sp>
        <p:nvSpPr>
          <p:cNvPr id="27" name="Text 25"/>
          <p:cNvSpPr/>
          <p:nvPr/>
        </p:nvSpPr>
        <p:spPr>
          <a:xfrm>
            <a:off x="5394960" y="1371600"/>
            <a:ext cx="3319272" cy="713232"/>
          </a:xfrm>
          <a:prstGeom prst="rect">
            <a:avLst/>
          </a:prstGeom>
          <a:noFill/>
          <a:ln/>
        </p:spPr>
        <p:txBody>
          <a:bodyPr wrap="square" lIns="0" tIns="0" rIns="0" bIns="0" rtlCol="0" anchor="ctr"/>
          <a:lstStyle/>
          <a:p>
            <a:pPr indent="0" marL="0">
              <a:lnSpc>
                <a:spcPct val="140000"/>
              </a:lnSpc>
              <a:buNone/>
            </a:pPr>
            <a:r>
              <a:rPr lang="en-US" sz="950" dirty="0">
                <a:solidFill>
                  <a:srgbClr val="4A5568"/>
                </a:solidFill>
              </a:rPr>
              <a:t>Agents prepare the work. Humans approve the decisions. Agent proposes a pattern → checks against standards → drafts the architecture decision record → human architect approves. Speed without loss of control.</a:t>
            </a:r>
            <a:endParaRPr lang="en-US" sz="950" dirty="0"/>
          </a:p>
        </p:txBody>
      </p:sp>
      <p:sp>
        <p:nvSpPr>
          <p:cNvPr id="28" name="Shape 26"/>
          <p:cNvSpPr/>
          <p:nvPr/>
        </p:nvSpPr>
        <p:spPr>
          <a:xfrm>
            <a:off x="4800600" y="2304288"/>
            <a:ext cx="4069080" cy="118872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9" name="Shape 27"/>
          <p:cNvSpPr/>
          <p:nvPr/>
        </p:nvSpPr>
        <p:spPr>
          <a:xfrm>
            <a:off x="4800600" y="2304288"/>
            <a:ext cx="64008" cy="1188720"/>
          </a:xfrm>
          <a:prstGeom prst="rect">
            <a:avLst/>
          </a:prstGeom>
          <a:solidFill>
            <a:srgbClr val="EF476F"/>
          </a:solidFill>
          <a:ln w="12700">
            <a:solidFill>
              <a:srgbClr val="EF476F"/>
            </a:solidFill>
            <a:prstDash val="solid"/>
          </a:ln>
        </p:spPr>
      </p:sp>
      <p:sp>
        <p:nvSpPr>
          <p:cNvPr id="30" name="Shape 28"/>
          <p:cNvSpPr/>
          <p:nvPr/>
        </p:nvSpPr>
        <p:spPr>
          <a:xfrm>
            <a:off x="4965192" y="2414016"/>
            <a:ext cx="320040" cy="320040"/>
          </a:xfrm>
          <a:prstGeom prst="ellipse">
            <a:avLst/>
          </a:prstGeom>
          <a:solidFill>
            <a:srgbClr val="EF476F"/>
          </a:solidFill>
          <a:ln w="12700">
            <a:solidFill>
              <a:srgbClr val="EF476F"/>
            </a:solidFill>
            <a:prstDash val="solid"/>
          </a:ln>
        </p:spPr>
      </p:sp>
      <p:sp>
        <p:nvSpPr>
          <p:cNvPr id="31" name="Text 29"/>
          <p:cNvSpPr/>
          <p:nvPr/>
        </p:nvSpPr>
        <p:spPr>
          <a:xfrm>
            <a:off x="4965192" y="241401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E</a:t>
            </a:r>
            <a:endParaRPr lang="en-US" sz="1100" dirty="0"/>
          </a:p>
        </p:txBody>
      </p:sp>
      <p:sp>
        <p:nvSpPr>
          <p:cNvPr id="32" name="Text 30"/>
          <p:cNvSpPr/>
          <p:nvPr/>
        </p:nvSpPr>
        <p:spPr>
          <a:xfrm>
            <a:off x="5394960" y="2395728"/>
            <a:ext cx="3319272" cy="292608"/>
          </a:xfrm>
          <a:prstGeom prst="rect">
            <a:avLst/>
          </a:prstGeom>
          <a:noFill/>
          <a:ln/>
        </p:spPr>
        <p:txBody>
          <a:bodyPr wrap="square" lIns="0" tIns="0" rIns="0" bIns="0" rtlCol="0" anchor="ctr"/>
          <a:lstStyle/>
          <a:p>
            <a:pPr indent="0" marL="0">
              <a:buNone/>
            </a:pPr>
            <a:r>
              <a:rPr lang="en-US" sz="1200" b="1" dirty="0">
                <a:solidFill>
                  <a:srgbClr val="0D1B4B"/>
                </a:solidFill>
              </a:rPr>
              <a:t>Observability and auditability</a:t>
            </a:r>
            <a:endParaRPr lang="en-US" sz="1200" dirty="0"/>
          </a:p>
        </p:txBody>
      </p:sp>
      <p:sp>
        <p:nvSpPr>
          <p:cNvPr id="33" name="Text 31"/>
          <p:cNvSpPr/>
          <p:nvPr/>
        </p:nvSpPr>
        <p:spPr>
          <a:xfrm>
            <a:off x="5394960" y="2715768"/>
            <a:ext cx="3319272" cy="713232"/>
          </a:xfrm>
          <a:prstGeom prst="rect">
            <a:avLst/>
          </a:prstGeom>
          <a:noFill/>
          <a:ln/>
        </p:spPr>
        <p:txBody>
          <a:bodyPr wrap="square" lIns="0" tIns="0" rIns="0" bIns="0" rtlCol="0" anchor="ctr"/>
          <a:lstStyle/>
          <a:p>
            <a:pPr indent="0" marL="0">
              <a:lnSpc>
                <a:spcPct val="140000"/>
              </a:lnSpc>
              <a:buNone/>
            </a:pPr>
            <a:r>
              <a:rPr lang="en-US" sz="950" dirty="0">
                <a:solidFill>
                  <a:srgbClr val="4A5568"/>
                </a:solidFill>
              </a:rPr>
              <a:t>Every agent action is visible. Track what it saw, what it decided, which rules it applied, what it changed, who approved it, and whether it was correct. Without this you cannot trust or scale the model.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4B"/>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2200" b="1" dirty="0">
                <a:solidFill>
                  <a:srgbClr val="FFFFFF"/>
                </a:solidFill>
              </a:rPr>
              <a:t>The agentic operating model</a:t>
            </a:r>
            <a:endParaRPr lang="en-US" sz="2200" dirty="0"/>
          </a:p>
        </p:txBody>
      </p:sp>
      <p:sp>
        <p:nvSpPr>
          <p:cNvPr id="3" name="Text 1"/>
          <p:cNvSpPr/>
          <p:nvPr/>
        </p:nvSpPr>
        <p:spPr>
          <a:xfrm>
            <a:off x="457200" y="713232"/>
            <a:ext cx="8229600" cy="292608"/>
          </a:xfrm>
          <a:prstGeom prst="rect">
            <a:avLst/>
          </a:prstGeom>
          <a:noFill/>
          <a:ln/>
        </p:spPr>
        <p:txBody>
          <a:bodyPr wrap="square" lIns="0" tIns="0" rIns="0" bIns="0" rtlCol="0" anchor="ctr"/>
          <a:lstStyle/>
          <a:p>
            <a:pPr indent="0" marL="0">
              <a:buNone/>
            </a:pPr>
            <a:r>
              <a:rPr lang="en-US" sz="1300" dirty="0">
                <a:solidFill>
                  <a:srgbClr val="C8D4F0"/>
                </a:solidFill>
              </a:rPr>
              <a:t>Clear boundaries between what humans own, what agents do, and what platforms provide.</a:t>
            </a:r>
            <a:endParaRPr lang="en-US" sz="1300" dirty="0"/>
          </a:p>
        </p:txBody>
      </p:sp>
      <p:sp>
        <p:nvSpPr>
          <p:cNvPr id="4" name="Shape 2"/>
          <p:cNvSpPr/>
          <p:nvPr/>
        </p:nvSpPr>
        <p:spPr>
          <a:xfrm>
            <a:off x="274320" y="1170432"/>
            <a:ext cx="2788920" cy="3749040"/>
          </a:xfrm>
          <a:prstGeom prst="rect">
            <a:avLst/>
          </a:prstGeom>
          <a:solidFill>
            <a:srgbClr val="152060"/>
          </a:solidFill>
          <a:ln w="9525">
            <a:solidFill>
              <a:srgbClr val="2351C8"/>
            </a:solidFill>
            <a:prstDash val="solid"/>
          </a:ln>
        </p:spPr>
      </p:sp>
      <p:sp>
        <p:nvSpPr>
          <p:cNvPr id="5" name="Shape 3"/>
          <p:cNvSpPr/>
          <p:nvPr/>
        </p:nvSpPr>
        <p:spPr>
          <a:xfrm>
            <a:off x="274320" y="1170432"/>
            <a:ext cx="2788920" cy="502920"/>
          </a:xfrm>
          <a:prstGeom prst="rect">
            <a:avLst/>
          </a:prstGeom>
          <a:solidFill>
            <a:srgbClr val="2351C8"/>
          </a:solidFill>
          <a:ln w="12700">
            <a:solidFill>
              <a:srgbClr val="2351C8"/>
            </a:solidFill>
            <a:prstDash val="solid"/>
          </a:ln>
        </p:spPr>
      </p:sp>
      <p:sp>
        <p:nvSpPr>
          <p:cNvPr id="6" name="Text 4"/>
          <p:cNvSpPr/>
          <p:nvPr/>
        </p:nvSpPr>
        <p:spPr>
          <a:xfrm>
            <a:off x="411480" y="1170432"/>
            <a:ext cx="2560320" cy="502920"/>
          </a:xfrm>
          <a:prstGeom prst="rect">
            <a:avLst/>
          </a:prstGeom>
          <a:noFill/>
          <a:ln/>
        </p:spPr>
        <p:txBody>
          <a:bodyPr wrap="square" lIns="0" tIns="0" rIns="0" bIns="0" rtlCol="0" anchor="ctr"/>
          <a:lstStyle/>
          <a:p>
            <a:pPr indent="0" marL="0">
              <a:buNone/>
            </a:pPr>
            <a:r>
              <a:rPr lang="en-US" sz="1600" b="1" dirty="0">
                <a:solidFill>
                  <a:srgbClr val="FFFFFF"/>
                </a:solidFill>
              </a:rPr>
              <a:t>Humans</a:t>
            </a:r>
            <a:endParaRPr lang="en-US" sz="1600" dirty="0"/>
          </a:p>
        </p:txBody>
      </p:sp>
      <p:sp>
        <p:nvSpPr>
          <p:cNvPr id="7" name="Text 5"/>
          <p:cNvSpPr/>
          <p:nvPr/>
        </p:nvSpPr>
        <p:spPr>
          <a:xfrm>
            <a:off x="411480" y="1755648"/>
            <a:ext cx="2560320" cy="594360"/>
          </a:xfrm>
          <a:prstGeom prst="rect">
            <a:avLst/>
          </a:prstGeom>
          <a:noFill/>
          <a:ln/>
        </p:spPr>
        <p:txBody>
          <a:bodyPr wrap="square" lIns="0" tIns="0" rIns="0" bIns="0" rtlCol="0" anchor="ctr"/>
          <a:lstStyle/>
          <a:p>
            <a:pPr indent="0" marL="0">
              <a:lnSpc>
                <a:spcPct val="150000"/>
              </a:lnSpc>
              <a:buNone/>
            </a:pPr>
            <a:r>
              <a:rPr lang="en-US" sz="900" dirty="0">
                <a:solidFill>
                  <a:srgbClr val="2351C8"/>
                </a:solidFill>
              </a:rPr>
              <a:t>Define standards · Approve exceptions · Handle novel cases · Own accountability</a:t>
            </a:r>
            <a:endParaRPr lang="en-US" sz="900" dirty="0"/>
          </a:p>
        </p:txBody>
      </p:sp>
      <p:sp>
        <p:nvSpPr>
          <p:cNvPr id="8" name="Shape 6"/>
          <p:cNvSpPr/>
          <p:nvPr/>
        </p:nvSpPr>
        <p:spPr>
          <a:xfrm>
            <a:off x="411480" y="2395728"/>
            <a:ext cx="2514600" cy="0"/>
          </a:xfrm>
          <a:prstGeom prst="line">
            <a:avLst/>
          </a:prstGeom>
          <a:noFill/>
          <a:ln w="6350">
            <a:solidFill>
              <a:srgbClr val="334488"/>
            </a:solidFill>
            <a:prstDash val="solid"/>
          </a:ln>
        </p:spPr>
      </p:sp>
      <p:sp>
        <p:nvSpPr>
          <p:cNvPr id="9" name="Shape 7"/>
          <p:cNvSpPr/>
          <p:nvPr/>
        </p:nvSpPr>
        <p:spPr>
          <a:xfrm>
            <a:off x="438912" y="2514600"/>
            <a:ext cx="118872" cy="118872"/>
          </a:xfrm>
          <a:prstGeom prst="ellipse">
            <a:avLst/>
          </a:prstGeom>
          <a:solidFill>
            <a:srgbClr val="2351C8"/>
          </a:solidFill>
          <a:ln w="12700">
            <a:solidFill>
              <a:srgbClr val="2351C8"/>
            </a:solidFill>
            <a:prstDash val="solid"/>
          </a:ln>
        </p:spPr>
      </p:sp>
      <p:sp>
        <p:nvSpPr>
          <p:cNvPr id="10" name="Text 8"/>
          <p:cNvSpPr/>
          <p:nvPr/>
        </p:nvSpPr>
        <p:spPr>
          <a:xfrm>
            <a:off x="621792" y="2487168"/>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Set the rules that agents operate within</a:t>
            </a:r>
            <a:endParaRPr lang="en-US" sz="1000" dirty="0"/>
          </a:p>
        </p:txBody>
      </p:sp>
      <p:sp>
        <p:nvSpPr>
          <p:cNvPr id="11" name="Shape 9"/>
          <p:cNvSpPr/>
          <p:nvPr/>
        </p:nvSpPr>
        <p:spPr>
          <a:xfrm>
            <a:off x="438912" y="3044952"/>
            <a:ext cx="118872" cy="118872"/>
          </a:xfrm>
          <a:prstGeom prst="ellipse">
            <a:avLst/>
          </a:prstGeom>
          <a:solidFill>
            <a:srgbClr val="2351C8"/>
          </a:solidFill>
          <a:ln w="12700">
            <a:solidFill>
              <a:srgbClr val="2351C8"/>
            </a:solidFill>
            <a:prstDash val="solid"/>
          </a:ln>
        </p:spPr>
      </p:sp>
      <p:sp>
        <p:nvSpPr>
          <p:cNvPr id="12" name="Text 10"/>
          <p:cNvSpPr/>
          <p:nvPr/>
        </p:nvSpPr>
        <p:spPr>
          <a:xfrm>
            <a:off x="621792" y="3017520"/>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Review and approve agent-proposed designs</a:t>
            </a:r>
            <a:endParaRPr lang="en-US" sz="1000" dirty="0"/>
          </a:p>
        </p:txBody>
      </p:sp>
      <p:sp>
        <p:nvSpPr>
          <p:cNvPr id="13" name="Shape 11"/>
          <p:cNvSpPr/>
          <p:nvPr/>
        </p:nvSpPr>
        <p:spPr>
          <a:xfrm>
            <a:off x="438912" y="3575304"/>
            <a:ext cx="118872" cy="118872"/>
          </a:xfrm>
          <a:prstGeom prst="ellipse">
            <a:avLst/>
          </a:prstGeom>
          <a:solidFill>
            <a:srgbClr val="2351C8"/>
          </a:solidFill>
          <a:ln w="12700">
            <a:solidFill>
              <a:srgbClr val="2351C8"/>
            </a:solidFill>
            <a:prstDash val="solid"/>
          </a:ln>
        </p:spPr>
      </p:sp>
      <p:sp>
        <p:nvSpPr>
          <p:cNvPr id="14" name="Text 12"/>
          <p:cNvSpPr/>
          <p:nvPr/>
        </p:nvSpPr>
        <p:spPr>
          <a:xfrm>
            <a:off x="621792" y="3547872"/>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Handle anything outside policy boundaries</a:t>
            </a:r>
            <a:endParaRPr lang="en-US" sz="1000" dirty="0"/>
          </a:p>
        </p:txBody>
      </p:sp>
      <p:sp>
        <p:nvSpPr>
          <p:cNvPr id="15" name="Shape 13"/>
          <p:cNvSpPr/>
          <p:nvPr/>
        </p:nvSpPr>
        <p:spPr>
          <a:xfrm>
            <a:off x="438912" y="4105656"/>
            <a:ext cx="118872" cy="118872"/>
          </a:xfrm>
          <a:prstGeom prst="ellipse">
            <a:avLst/>
          </a:prstGeom>
          <a:solidFill>
            <a:srgbClr val="2351C8"/>
          </a:solidFill>
          <a:ln w="12700">
            <a:solidFill>
              <a:srgbClr val="2351C8"/>
            </a:solidFill>
            <a:prstDash val="solid"/>
          </a:ln>
        </p:spPr>
      </p:sp>
      <p:sp>
        <p:nvSpPr>
          <p:cNvPr id="16" name="Text 14"/>
          <p:cNvSpPr/>
          <p:nvPr/>
        </p:nvSpPr>
        <p:spPr>
          <a:xfrm>
            <a:off x="621792" y="4078224"/>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Remain accountable for all architectural decisions</a:t>
            </a:r>
            <a:endParaRPr lang="en-US" sz="1000" dirty="0"/>
          </a:p>
        </p:txBody>
      </p:sp>
      <p:sp>
        <p:nvSpPr>
          <p:cNvPr id="17" name="Shape 15"/>
          <p:cNvSpPr/>
          <p:nvPr/>
        </p:nvSpPr>
        <p:spPr>
          <a:xfrm>
            <a:off x="3246120" y="1170432"/>
            <a:ext cx="2788920" cy="3749040"/>
          </a:xfrm>
          <a:prstGeom prst="rect">
            <a:avLst/>
          </a:prstGeom>
          <a:solidFill>
            <a:srgbClr val="152060"/>
          </a:solidFill>
          <a:ln w="9525">
            <a:solidFill>
              <a:srgbClr val="00B4D8"/>
            </a:solidFill>
            <a:prstDash val="solid"/>
          </a:ln>
        </p:spPr>
      </p:sp>
      <p:sp>
        <p:nvSpPr>
          <p:cNvPr id="18" name="Shape 16"/>
          <p:cNvSpPr/>
          <p:nvPr/>
        </p:nvSpPr>
        <p:spPr>
          <a:xfrm>
            <a:off x="3246120" y="1170432"/>
            <a:ext cx="2788920" cy="502920"/>
          </a:xfrm>
          <a:prstGeom prst="rect">
            <a:avLst/>
          </a:prstGeom>
          <a:solidFill>
            <a:srgbClr val="00B4D8"/>
          </a:solidFill>
          <a:ln w="12700">
            <a:solidFill>
              <a:srgbClr val="00B4D8"/>
            </a:solidFill>
            <a:prstDash val="solid"/>
          </a:ln>
        </p:spPr>
      </p:sp>
      <p:sp>
        <p:nvSpPr>
          <p:cNvPr id="19" name="Text 17"/>
          <p:cNvSpPr/>
          <p:nvPr/>
        </p:nvSpPr>
        <p:spPr>
          <a:xfrm>
            <a:off x="3383280" y="1170432"/>
            <a:ext cx="2560320" cy="502920"/>
          </a:xfrm>
          <a:prstGeom prst="rect">
            <a:avLst/>
          </a:prstGeom>
          <a:noFill/>
          <a:ln/>
        </p:spPr>
        <p:txBody>
          <a:bodyPr wrap="square" lIns="0" tIns="0" rIns="0" bIns="0" rtlCol="0" anchor="ctr"/>
          <a:lstStyle/>
          <a:p>
            <a:pPr indent="0" marL="0">
              <a:buNone/>
            </a:pPr>
            <a:r>
              <a:rPr lang="en-US" sz="1600" b="1" dirty="0">
                <a:solidFill>
                  <a:srgbClr val="FFFFFF"/>
                </a:solidFill>
              </a:rPr>
              <a:t>Agents</a:t>
            </a:r>
            <a:endParaRPr lang="en-US" sz="1600" dirty="0"/>
          </a:p>
        </p:txBody>
      </p:sp>
      <p:sp>
        <p:nvSpPr>
          <p:cNvPr id="20" name="Text 18"/>
          <p:cNvSpPr/>
          <p:nvPr/>
        </p:nvSpPr>
        <p:spPr>
          <a:xfrm>
            <a:off x="3383280" y="1755648"/>
            <a:ext cx="2560320" cy="594360"/>
          </a:xfrm>
          <a:prstGeom prst="rect">
            <a:avLst/>
          </a:prstGeom>
          <a:noFill/>
          <a:ln/>
        </p:spPr>
        <p:txBody>
          <a:bodyPr wrap="square" lIns="0" tIns="0" rIns="0" bIns="0" rtlCol="0" anchor="ctr"/>
          <a:lstStyle/>
          <a:p>
            <a:pPr indent="0" marL="0">
              <a:lnSpc>
                <a:spcPct val="150000"/>
              </a:lnSpc>
              <a:buNone/>
            </a:pPr>
            <a:r>
              <a:rPr lang="en-US" sz="900" dirty="0">
                <a:solidFill>
                  <a:srgbClr val="00B4D8"/>
                </a:solidFill>
              </a:rPr>
              <a:t>Search · Draft · Compare · Recommend · Orchestrate routine tasks · Monitor compliance</a:t>
            </a:r>
            <a:endParaRPr lang="en-US" sz="900" dirty="0"/>
          </a:p>
        </p:txBody>
      </p:sp>
      <p:sp>
        <p:nvSpPr>
          <p:cNvPr id="21" name="Shape 19"/>
          <p:cNvSpPr/>
          <p:nvPr/>
        </p:nvSpPr>
        <p:spPr>
          <a:xfrm>
            <a:off x="3383280" y="2395728"/>
            <a:ext cx="2514600" cy="0"/>
          </a:xfrm>
          <a:prstGeom prst="line">
            <a:avLst/>
          </a:prstGeom>
          <a:noFill/>
          <a:ln w="6350">
            <a:solidFill>
              <a:srgbClr val="334488"/>
            </a:solidFill>
            <a:prstDash val="solid"/>
          </a:ln>
        </p:spPr>
      </p:sp>
      <p:sp>
        <p:nvSpPr>
          <p:cNvPr id="22" name="Shape 20"/>
          <p:cNvSpPr/>
          <p:nvPr/>
        </p:nvSpPr>
        <p:spPr>
          <a:xfrm>
            <a:off x="3410712" y="2514600"/>
            <a:ext cx="118872" cy="118872"/>
          </a:xfrm>
          <a:prstGeom prst="ellipse">
            <a:avLst/>
          </a:prstGeom>
          <a:solidFill>
            <a:srgbClr val="00B4D8"/>
          </a:solidFill>
          <a:ln w="12700">
            <a:solidFill>
              <a:srgbClr val="00B4D8"/>
            </a:solidFill>
            <a:prstDash val="solid"/>
          </a:ln>
        </p:spPr>
      </p:sp>
      <p:sp>
        <p:nvSpPr>
          <p:cNvPr id="23" name="Text 21"/>
          <p:cNvSpPr/>
          <p:nvPr/>
        </p:nvSpPr>
        <p:spPr>
          <a:xfrm>
            <a:off x="3593592" y="2487168"/>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Find relevant patterns and components</a:t>
            </a:r>
            <a:endParaRPr lang="en-US" sz="1000" dirty="0"/>
          </a:p>
        </p:txBody>
      </p:sp>
      <p:sp>
        <p:nvSpPr>
          <p:cNvPr id="24" name="Shape 22"/>
          <p:cNvSpPr/>
          <p:nvPr/>
        </p:nvSpPr>
        <p:spPr>
          <a:xfrm>
            <a:off x="3410712" y="3044952"/>
            <a:ext cx="118872" cy="118872"/>
          </a:xfrm>
          <a:prstGeom prst="ellipse">
            <a:avLst/>
          </a:prstGeom>
          <a:solidFill>
            <a:srgbClr val="00B4D8"/>
          </a:solidFill>
          <a:ln w="12700">
            <a:solidFill>
              <a:srgbClr val="00B4D8"/>
            </a:solidFill>
            <a:prstDash val="solid"/>
          </a:ln>
        </p:spPr>
      </p:sp>
      <p:sp>
        <p:nvSpPr>
          <p:cNvPr id="25" name="Text 23"/>
          <p:cNvSpPr/>
          <p:nvPr/>
        </p:nvSpPr>
        <p:spPr>
          <a:xfrm>
            <a:off x="3593592" y="3017520"/>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Draft architecture decisions and documents</a:t>
            </a:r>
            <a:endParaRPr lang="en-US" sz="1000" dirty="0"/>
          </a:p>
        </p:txBody>
      </p:sp>
      <p:sp>
        <p:nvSpPr>
          <p:cNvPr id="26" name="Shape 24"/>
          <p:cNvSpPr/>
          <p:nvPr/>
        </p:nvSpPr>
        <p:spPr>
          <a:xfrm>
            <a:off x="3410712" y="3575304"/>
            <a:ext cx="118872" cy="118872"/>
          </a:xfrm>
          <a:prstGeom prst="ellipse">
            <a:avLst/>
          </a:prstGeom>
          <a:solidFill>
            <a:srgbClr val="00B4D8"/>
          </a:solidFill>
          <a:ln w="12700">
            <a:solidFill>
              <a:srgbClr val="00B4D8"/>
            </a:solidFill>
            <a:prstDash val="solid"/>
          </a:ln>
        </p:spPr>
      </p:sp>
      <p:sp>
        <p:nvSpPr>
          <p:cNvPr id="27" name="Text 25"/>
          <p:cNvSpPr/>
          <p:nvPr/>
        </p:nvSpPr>
        <p:spPr>
          <a:xfrm>
            <a:off x="3593592" y="3547872"/>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Check designs against approved standards</a:t>
            </a:r>
            <a:endParaRPr lang="en-US" sz="1000" dirty="0"/>
          </a:p>
        </p:txBody>
      </p:sp>
      <p:sp>
        <p:nvSpPr>
          <p:cNvPr id="28" name="Shape 26"/>
          <p:cNvSpPr/>
          <p:nvPr/>
        </p:nvSpPr>
        <p:spPr>
          <a:xfrm>
            <a:off x="3410712" y="4105656"/>
            <a:ext cx="118872" cy="118872"/>
          </a:xfrm>
          <a:prstGeom prst="ellipse">
            <a:avLst/>
          </a:prstGeom>
          <a:solidFill>
            <a:srgbClr val="00B4D8"/>
          </a:solidFill>
          <a:ln w="12700">
            <a:solidFill>
              <a:srgbClr val="00B4D8"/>
            </a:solidFill>
            <a:prstDash val="solid"/>
          </a:ln>
        </p:spPr>
      </p:sp>
      <p:sp>
        <p:nvSpPr>
          <p:cNvPr id="29" name="Text 27"/>
          <p:cNvSpPr/>
          <p:nvPr/>
        </p:nvSpPr>
        <p:spPr>
          <a:xfrm>
            <a:off x="3593592" y="4078224"/>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Prepare impact assessments and change requests</a:t>
            </a:r>
            <a:endParaRPr lang="en-US" sz="1000" dirty="0"/>
          </a:p>
        </p:txBody>
      </p:sp>
      <p:sp>
        <p:nvSpPr>
          <p:cNvPr id="30" name="Shape 28"/>
          <p:cNvSpPr/>
          <p:nvPr/>
        </p:nvSpPr>
        <p:spPr>
          <a:xfrm>
            <a:off x="6217920" y="1170432"/>
            <a:ext cx="2788920" cy="3749040"/>
          </a:xfrm>
          <a:prstGeom prst="rect">
            <a:avLst/>
          </a:prstGeom>
          <a:solidFill>
            <a:srgbClr val="152060"/>
          </a:solidFill>
          <a:ln w="9525">
            <a:solidFill>
              <a:srgbClr val="06D6A0"/>
            </a:solidFill>
            <a:prstDash val="solid"/>
          </a:ln>
        </p:spPr>
      </p:sp>
      <p:sp>
        <p:nvSpPr>
          <p:cNvPr id="31" name="Shape 29"/>
          <p:cNvSpPr/>
          <p:nvPr/>
        </p:nvSpPr>
        <p:spPr>
          <a:xfrm>
            <a:off x="6217920" y="1170432"/>
            <a:ext cx="2788920" cy="502920"/>
          </a:xfrm>
          <a:prstGeom prst="rect">
            <a:avLst/>
          </a:prstGeom>
          <a:solidFill>
            <a:srgbClr val="06D6A0"/>
          </a:solidFill>
          <a:ln w="12700">
            <a:solidFill>
              <a:srgbClr val="06D6A0"/>
            </a:solidFill>
            <a:prstDash val="solid"/>
          </a:ln>
        </p:spPr>
      </p:sp>
      <p:sp>
        <p:nvSpPr>
          <p:cNvPr id="32" name="Text 30"/>
          <p:cNvSpPr/>
          <p:nvPr/>
        </p:nvSpPr>
        <p:spPr>
          <a:xfrm>
            <a:off x="6355080" y="1170432"/>
            <a:ext cx="2560320" cy="502920"/>
          </a:xfrm>
          <a:prstGeom prst="rect">
            <a:avLst/>
          </a:prstGeom>
          <a:noFill/>
          <a:ln/>
        </p:spPr>
        <p:txBody>
          <a:bodyPr wrap="square" lIns="0" tIns="0" rIns="0" bIns="0" rtlCol="0" anchor="ctr"/>
          <a:lstStyle/>
          <a:p>
            <a:pPr indent="0" marL="0">
              <a:buNone/>
            </a:pPr>
            <a:r>
              <a:rPr lang="en-US" sz="1600" b="1" dirty="0">
                <a:solidFill>
                  <a:srgbClr val="FFFFFF"/>
                </a:solidFill>
              </a:rPr>
              <a:t>Platforms</a:t>
            </a:r>
            <a:endParaRPr lang="en-US" sz="1600" dirty="0"/>
          </a:p>
        </p:txBody>
      </p:sp>
      <p:sp>
        <p:nvSpPr>
          <p:cNvPr id="33" name="Text 31"/>
          <p:cNvSpPr/>
          <p:nvPr/>
        </p:nvSpPr>
        <p:spPr>
          <a:xfrm>
            <a:off x="6355080" y="1755648"/>
            <a:ext cx="2560320" cy="594360"/>
          </a:xfrm>
          <a:prstGeom prst="rect">
            <a:avLst/>
          </a:prstGeom>
          <a:noFill/>
          <a:ln/>
        </p:spPr>
        <p:txBody>
          <a:bodyPr wrap="square" lIns="0" tIns="0" rIns="0" bIns="0" rtlCol="0" anchor="ctr"/>
          <a:lstStyle/>
          <a:p>
            <a:pPr indent="0" marL="0">
              <a:lnSpc>
                <a:spcPct val="150000"/>
              </a:lnSpc>
              <a:buNone/>
            </a:pPr>
            <a:r>
              <a:rPr lang="en-US" sz="900" dirty="0">
                <a:solidFill>
                  <a:srgbClr val="06D6A0"/>
                </a:solidFill>
              </a:rPr>
              <a:t>Provide governed data · Enforce policy · Maintain logs · Support integration</a:t>
            </a:r>
            <a:endParaRPr lang="en-US" sz="900" dirty="0"/>
          </a:p>
        </p:txBody>
      </p:sp>
      <p:sp>
        <p:nvSpPr>
          <p:cNvPr id="34" name="Shape 32"/>
          <p:cNvSpPr/>
          <p:nvPr/>
        </p:nvSpPr>
        <p:spPr>
          <a:xfrm>
            <a:off x="6355080" y="2395728"/>
            <a:ext cx="2514600" cy="0"/>
          </a:xfrm>
          <a:prstGeom prst="line">
            <a:avLst/>
          </a:prstGeom>
          <a:noFill/>
          <a:ln w="6350">
            <a:solidFill>
              <a:srgbClr val="334488"/>
            </a:solidFill>
            <a:prstDash val="solid"/>
          </a:ln>
        </p:spPr>
      </p:sp>
      <p:sp>
        <p:nvSpPr>
          <p:cNvPr id="35" name="Shape 33"/>
          <p:cNvSpPr/>
          <p:nvPr/>
        </p:nvSpPr>
        <p:spPr>
          <a:xfrm>
            <a:off x="6382512" y="2514600"/>
            <a:ext cx="118872" cy="118872"/>
          </a:xfrm>
          <a:prstGeom prst="ellipse">
            <a:avLst/>
          </a:prstGeom>
          <a:solidFill>
            <a:srgbClr val="06D6A0"/>
          </a:solidFill>
          <a:ln w="12700">
            <a:solidFill>
              <a:srgbClr val="06D6A0"/>
            </a:solidFill>
            <a:prstDash val="solid"/>
          </a:ln>
        </p:spPr>
      </p:sp>
      <p:sp>
        <p:nvSpPr>
          <p:cNvPr id="36" name="Text 34"/>
          <p:cNvSpPr/>
          <p:nvPr/>
        </p:nvSpPr>
        <p:spPr>
          <a:xfrm>
            <a:off x="6565392" y="2487168"/>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Architecture repository and metadata store</a:t>
            </a:r>
            <a:endParaRPr lang="en-US" sz="1000" dirty="0"/>
          </a:p>
        </p:txBody>
      </p:sp>
      <p:sp>
        <p:nvSpPr>
          <p:cNvPr id="37" name="Shape 35"/>
          <p:cNvSpPr/>
          <p:nvPr/>
        </p:nvSpPr>
        <p:spPr>
          <a:xfrm>
            <a:off x="6382512" y="3044952"/>
            <a:ext cx="118872" cy="118872"/>
          </a:xfrm>
          <a:prstGeom prst="ellipse">
            <a:avLst/>
          </a:prstGeom>
          <a:solidFill>
            <a:srgbClr val="06D6A0"/>
          </a:solidFill>
          <a:ln w="12700">
            <a:solidFill>
              <a:srgbClr val="06D6A0"/>
            </a:solidFill>
            <a:prstDash val="solid"/>
          </a:ln>
        </p:spPr>
      </p:sp>
      <p:sp>
        <p:nvSpPr>
          <p:cNvPr id="38" name="Text 36"/>
          <p:cNvSpPr/>
          <p:nvPr/>
        </p:nvSpPr>
        <p:spPr>
          <a:xfrm>
            <a:off x="6565392" y="3017520"/>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Policy and guardrail enforcement layer</a:t>
            </a:r>
            <a:endParaRPr lang="en-US" sz="1000" dirty="0"/>
          </a:p>
        </p:txBody>
      </p:sp>
      <p:sp>
        <p:nvSpPr>
          <p:cNvPr id="39" name="Shape 37"/>
          <p:cNvSpPr/>
          <p:nvPr/>
        </p:nvSpPr>
        <p:spPr>
          <a:xfrm>
            <a:off x="6382512" y="3575304"/>
            <a:ext cx="118872" cy="118872"/>
          </a:xfrm>
          <a:prstGeom prst="ellipse">
            <a:avLst/>
          </a:prstGeom>
          <a:solidFill>
            <a:srgbClr val="06D6A0"/>
          </a:solidFill>
          <a:ln w="12700">
            <a:solidFill>
              <a:srgbClr val="06D6A0"/>
            </a:solidFill>
            <a:prstDash val="solid"/>
          </a:ln>
        </p:spPr>
      </p:sp>
      <p:sp>
        <p:nvSpPr>
          <p:cNvPr id="40" name="Text 38"/>
          <p:cNvSpPr/>
          <p:nvPr/>
        </p:nvSpPr>
        <p:spPr>
          <a:xfrm>
            <a:off x="6565392" y="3547872"/>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Audit trail for all agent and human actions</a:t>
            </a:r>
            <a:endParaRPr lang="en-US" sz="1000" dirty="0"/>
          </a:p>
        </p:txBody>
      </p:sp>
      <p:sp>
        <p:nvSpPr>
          <p:cNvPr id="41" name="Shape 39"/>
          <p:cNvSpPr/>
          <p:nvPr/>
        </p:nvSpPr>
        <p:spPr>
          <a:xfrm>
            <a:off x="6382512" y="4105656"/>
            <a:ext cx="118872" cy="118872"/>
          </a:xfrm>
          <a:prstGeom prst="ellipse">
            <a:avLst/>
          </a:prstGeom>
          <a:solidFill>
            <a:srgbClr val="06D6A0"/>
          </a:solidFill>
          <a:ln w="12700">
            <a:solidFill>
              <a:srgbClr val="06D6A0"/>
            </a:solidFill>
            <a:prstDash val="solid"/>
          </a:ln>
        </p:spPr>
      </p:sp>
      <p:sp>
        <p:nvSpPr>
          <p:cNvPr id="42" name="Text 40"/>
          <p:cNvSpPr/>
          <p:nvPr/>
        </p:nvSpPr>
        <p:spPr>
          <a:xfrm>
            <a:off x="6565392" y="4078224"/>
            <a:ext cx="2331720" cy="457200"/>
          </a:xfrm>
          <a:prstGeom prst="rect">
            <a:avLst/>
          </a:prstGeom>
          <a:noFill/>
          <a:ln/>
        </p:spPr>
        <p:txBody>
          <a:bodyPr wrap="square" lIns="0" tIns="0" rIns="0" bIns="0" rtlCol="0" anchor="ctr"/>
          <a:lstStyle/>
          <a:p>
            <a:pPr indent="0" marL="0">
              <a:lnSpc>
                <a:spcPct val="130000"/>
              </a:lnSpc>
              <a:buNone/>
            </a:pPr>
            <a:r>
              <a:rPr lang="en-US" sz="1000" dirty="0">
                <a:solidFill>
                  <a:srgbClr val="C8D4F0"/>
                </a:solidFill>
              </a:rPr>
              <a:t>Integration with delivery and governance tools</a:t>
            </a:r>
            <a:endParaRPr lang="en-US" sz="1000" dirty="0"/>
          </a:p>
        </p:txBody>
      </p:sp>
      <p:sp>
        <p:nvSpPr>
          <p:cNvPr id="43" name="Shape 41"/>
          <p:cNvSpPr/>
          <p:nvPr/>
        </p:nvSpPr>
        <p:spPr>
          <a:xfrm>
            <a:off x="274320" y="4983480"/>
            <a:ext cx="8595360" cy="274320"/>
          </a:xfrm>
          <a:prstGeom prst="rect">
            <a:avLst/>
          </a:prstGeom>
          <a:solidFill>
            <a:srgbClr val="1A2B6D"/>
          </a:solidFill>
          <a:ln w="12700">
            <a:solidFill>
              <a:srgbClr val="1A2B6D"/>
            </a:solidFill>
            <a:prstDash val="solid"/>
          </a:ln>
        </p:spPr>
      </p:sp>
      <p:sp>
        <p:nvSpPr>
          <p:cNvPr id="44" name="Text 42"/>
          <p:cNvSpPr/>
          <p:nvPr/>
        </p:nvSpPr>
        <p:spPr>
          <a:xfrm>
            <a:off x="365760" y="4983480"/>
            <a:ext cx="8412480" cy="274320"/>
          </a:xfrm>
          <a:prstGeom prst="rect">
            <a:avLst/>
          </a:prstGeom>
          <a:noFill/>
          <a:ln/>
        </p:spPr>
        <p:txBody>
          <a:bodyPr wrap="square" lIns="0" tIns="0" rIns="0" bIns="0" rtlCol="0" anchor="ctr"/>
          <a:lstStyle/>
          <a:p>
            <a:pPr algn="ctr" indent="0" marL="0">
              <a:buNone/>
            </a:pPr>
            <a:r>
              <a:rPr lang="en-US" sz="950" dirty="0">
                <a:solidFill>
                  <a:srgbClr val="C8D4F0"/>
                </a:solidFill>
              </a:rPr>
              <a:t>Critical in regulated environments: agents must have defined access, defined tools, defined approval thresholds, and a complete audit trail. Every action is logged.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4B"/>
          </a:solidFill>
          <a:ln w="12700">
            <a:solidFill>
              <a:srgbClr val="0D1B4B"/>
            </a:solidFill>
            <a:prstDash val="solid"/>
          </a:ln>
        </p:spPr>
      </p:sp>
      <p:sp>
        <p:nvSpPr>
          <p:cNvPr id="3" name="Text 1"/>
          <p:cNvSpPr/>
          <p:nvPr/>
        </p:nvSpPr>
        <p:spPr>
          <a:xfrm>
            <a:off x="457200" y="0"/>
            <a:ext cx="8229600" cy="749808"/>
          </a:xfrm>
          <a:prstGeom prst="rect">
            <a:avLst/>
          </a:prstGeom>
          <a:noFill/>
          <a:ln/>
        </p:spPr>
        <p:txBody>
          <a:bodyPr wrap="square" lIns="0" tIns="0" rIns="0" bIns="0" rtlCol="0" anchor="ctr"/>
          <a:lstStyle/>
          <a:p>
            <a:pPr indent="0" marL="0">
              <a:buNone/>
            </a:pPr>
            <a:r>
              <a:rPr lang="en-US" sz="2000" b="1" dirty="0">
                <a:solidFill>
                  <a:srgbClr val="FFFFFF"/>
                </a:solidFill>
              </a:rPr>
              <a:t>Governing agents — the rules of the road</a:t>
            </a:r>
            <a:endParaRPr lang="en-US" sz="2000" dirty="0"/>
          </a:p>
        </p:txBody>
      </p:sp>
      <p:sp>
        <p:nvSpPr>
          <p:cNvPr id="4" name="Text 2"/>
          <p:cNvSpPr/>
          <p:nvPr/>
        </p:nvSpPr>
        <p:spPr>
          <a:xfrm>
            <a:off x="274320" y="868680"/>
            <a:ext cx="8595360" cy="292608"/>
          </a:xfrm>
          <a:prstGeom prst="rect">
            <a:avLst/>
          </a:prstGeom>
          <a:noFill/>
          <a:ln/>
        </p:spPr>
        <p:txBody>
          <a:bodyPr wrap="square" lIns="0" tIns="0" rIns="0" bIns="0" rtlCol="0" anchor="ctr"/>
          <a:lstStyle/>
          <a:p>
            <a:pPr indent="0" marL="0">
              <a:buNone/>
            </a:pPr>
            <a:r>
              <a:rPr lang="en-US" sz="1150" i="1" dirty="0">
                <a:solidFill>
                  <a:srgbClr val="4A5568"/>
                </a:solidFill>
              </a:rPr>
              <a:t>In the agentic model, governance shifts from reviewing outcomes to controlling actions. You need policies for all of the following.</a:t>
            </a:r>
            <a:endParaRPr lang="en-US" sz="1150" dirty="0"/>
          </a:p>
        </p:txBody>
      </p:sp>
      <p:sp>
        <p:nvSpPr>
          <p:cNvPr id="5" name="Shape 3"/>
          <p:cNvSpPr/>
          <p:nvPr/>
        </p:nvSpPr>
        <p:spPr>
          <a:xfrm>
            <a:off x="274320" y="1325880"/>
            <a:ext cx="4251960" cy="109728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6" name="Shape 4"/>
          <p:cNvSpPr/>
          <p:nvPr/>
        </p:nvSpPr>
        <p:spPr>
          <a:xfrm>
            <a:off x="274320" y="1325880"/>
            <a:ext cx="64008" cy="1097280"/>
          </a:xfrm>
          <a:prstGeom prst="rect">
            <a:avLst/>
          </a:prstGeom>
          <a:solidFill>
            <a:srgbClr val="00B4D8"/>
          </a:solidFill>
          <a:ln w="12700">
            <a:solidFill>
              <a:srgbClr val="00B4D8"/>
            </a:solidFill>
            <a:prstDash val="solid"/>
          </a:ln>
        </p:spPr>
      </p:sp>
      <p:sp>
        <p:nvSpPr>
          <p:cNvPr id="7" name="Text 5"/>
          <p:cNvSpPr/>
          <p:nvPr/>
        </p:nvSpPr>
        <p:spPr>
          <a:xfrm>
            <a:off x="457200" y="1417320"/>
            <a:ext cx="3977640" cy="274320"/>
          </a:xfrm>
          <a:prstGeom prst="rect">
            <a:avLst/>
          </a:prstGeom>
          <a:noFill/>
          <a:ln/>
        </p:spPr>
        <p:txBody>
          <a:bodyPr wrap="square" lIns="0" tIns="0" rIns="0" bIns="0" rtlCol="0" anchor="ctr"/>
          <a:lstStyle/>
          <a:p>
            <a:pPr indent="0" marL="0">
              <a:buNone/>
            </a:pPr>
            <a:r>
              <a:rPr lang="en-US" sz="1100" b="1" dirty="0">
                <a:solidFill>
                  <a:srgbClr val="0D1B4B"/>
                </a:solidFill>
              </a:rPr>
              <a:t>What can agents access?</a:t>
            </a:r>
            <a:endParaRPr lang="en-US" sz="1100" dirty="0"/>
          </a:p>
        </p:txBody>
      </p:sp>
      <p:sp>
        <p:nvSpPr>
          <p:cNvPr id="8" name="Text 6"/>
          <p:cNvSpPr/>
          <p:nvPr/>
        </p:nvSpPr>
        <p:spPr>
          <a:xfrm>
            <a:off x="457200" y="1728216"/>
            <a:ext cx="3977640" cy="621792"/>
          </a:xfrm>
          <a:prstGeom prst="rect">
            <a:avLst/>
          </a:prstGeom>
          <a:noFill/>
          <a:ln/>
        </p:spPr>
        <p:txBody>
          <a:bodyPr wrap="square" lIns="0" tIns="0" rIns="0" bIns="0" rtlCol="0" anchor="ctr"/>
          <a:lstStyle/>
          <a:p>
            <a:pPr indent="0" marL="0">
              <a:lnSpc>
                <a:spcPct val="140000"/>
              </a:lnSpc>
              <a:buNone/>
            </a:pPr>
            <a:r>
              <a:rPr lang="en-US" sz="1000" dirty="0">
                <a:solidFill>
                  <a:srgbClr val="4A5568"/>
                </a:solidFill>
              </a:rPr>
              <a:t>Defined read access to approved architecture assets, catalogs, and reference data. No access to confidential commercial or personal data.</a:t>
            </a:r>
            <a:endParaRPr lang="en-US" sz="1000" dirty="0"/>
          </a:p>
        </p:txBody>
      </p:sp>
      <p:sp>
        <p:nvSpPr>
          <p:cNvPr id="9" name="Shape 7"/>
          <p:cNvSpPr/>
          <p:nvPr/>
        </p:nvSpPr>
        <p:spPr>
          <a:xfrm>
            <a:off x="4800600" y="1325880"/>
            <a:ext cx="4251960" cy="109728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0" name="Shape 8"/>
          <p:cNvSpPr/>
          <p:nvPr/>
        </p:nvSpPr>
        <p:spPr>
          <a:xfrm>
            <a:off x="4800600" y="1325880"/>
            <a:ext cx="64008" cy="1097280"/>
          </a:xfrm>
          <a:prstGeom prst="rect">
            <a:avLst/>
          </a:prstGeom>
          <a:solidFill>
            <a:srgbClr val="2351C8"/>
          </a:solidFill>
          <a:ln w="12700">
            <a:solidFill>
              <a:srgbClr val="2351C8"/>
            </a:solidFill>
            <a:prstDash val="solid"/>
          </a:ln>
        </p:spPr>
      </p:sp>
      <p:sp>
        <p:nvSpPr>
          <p:cNvPr id="11" name="Text 9"/>
          <p:cNvSpPr/>
          <p:nvPr/>
        </p:nvSpPr>
        <p:spPr>
          <a:xfrm>
            <a:off x="4983480" y="1417320"/>
            <a:ext cx="3977640" cy="274320"/>
          </a:xfrm>
          <a:prstGeom prst="rect">
            <a:avLst/>
          </a:prstGeom>
          <a:noFill/>
          <a:ln/>
        </p:spPr>
        <p:txBody>
          <a:bodyPr wrap="square" lIns="0" tIns="0" rIns="0" bIns="0" rtlCol="0" anchor="ctr"/>
          <a:lstStyle/>
          <a:p>
            <a:pPr indent="0" marL="0">
              <a:buNone/>
            </a:pPr>
            <a:r>
              <a:rPr lang="en-US" sz="1100" b="1" dirty="0">
                <a:solidFill>
                  <a:srgbClr val="0D1B4B"/>
                </a:solidFill>
              </a:rPr>
              <a:t>What can agents modify?</a:t>
            </a:r>
            <a:endParaRPr lang="en-US" sz="1100" dirty="0"/>
          </a:p>
        </p:txBody>
      </p:sp>
      <p:sp>
        <p:nvSpPr>
          <p:cNvPr id="12" name="Text 10"/>
          <p:cNvSpPr/>
          <p:nvPr/>
        </p:nvSpPr>
        <p:spPr>
          <a:xfrm>
            <a:off x="4983480" y="1728216"/>
            <a:ext cx="3977640" cy="621792"/>
          </a:xfrm>
          <a:prstGeom prst="rect">
            <a:avLst/>
          </a:prstGeom>
          <a:noFill/>
          <a:ln/>
        </p:spPr>
        <p:txBody>
          <a:bodyPr wrap="square" lIns="0" tIns="0" rIns="0" bIns="0" rtlCol="0" anchor="ctr"/>
          <a:lstStyle/>
          <a:p>
            <a:pPr indent="0" marL="0">
              <a:lnSpc>
                <a:spcPct val="140000"/>
              </a:lnSpc>
              <a:buNone/>
            </a:pPr>
            <a:r>
              <a:rPr lang="en-US" sz="1000" dirty="0">
                <a:solidFill>
                  <a:srgbClr val="4A5568"/>
                </a:solidFill>
              </a:rPr>
              <a:t>Agents draft and propose — they do not commit changes directly. All modifications go through a human approval step before being recorded.</a:t>
            </a:r>
            <a:endParaRPr lang="en-US" sz="1000" dirty="0"/>
          </a:p>
        </p:txBody>
      </p:sp>
      <p:sp>
        <p:nvSpPr>
          <p:cNvPr id="13" name="Shape 11"/>
          <p:cNvSpPr/>
          <p:nvPr/>
        </p:nvSpPr>
        <p:spPr>
          <a:xfrm>
            <a:off x="274320" y="2587752"/>
            <a:ext cx="4251960" cy="109728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4" name="Shape 12"/>
          <p:cNvSpPr/>
          <p:nvPr/>
        </p:nvSpPr>
        <p:spPr>
          <a:xfrm>
            <a:off x="274320" y="2587752"/>
            <a:ext cx="64008" cy="1097280"/>
          </a:xfrm>
          <a:prstGeom prst="rect">
            <a:avLst/>
          </a:prstGeom>
          <a:solidFill>
            <a:srgbClr val="FFB703"/>
          </a:solidFill>
          <a:ln w="12700">
            <a:solidFill>
              <a:srgbClr val="FFB703"/>
            </a:solidFill>
            <a:prstDash val="solid"/>
          </a:ln>
        </p:spPr>
      </p:sp>
      <p:sp>
        <p:nvSpPr>
          <p:cNvPr id="15" name="Text 13"/>
          <p:cNvSpPr/>
          <p:nvPr/>
        </p:nvSpPr>
        <p:spPr>
          <a:xfrm>
            <a:off x="457200" y="2679192"/>
            <a:ext cx="3977640" cy="274320"/>
          </a:xfrm>
          <a:prstGeom prst="rect">
            <a:avLst/>
          </a:prstGeom>
          <a:noFill/>
          <a:ln/>
        </p:spPr>
        <p:txBody>
          <a:bodyPr wrap="square" lIns="0" tIns="0" rIns="0" bIns="0" rtlCol="0" anchor="ctr"/>
          <a:lstStyle/>
          <a:p>
            <a:pPr indent="0" marL="0">
              <a:buNone/>
            </a:pPr>
            <a:r>
              <a:rPr lang="en-US" sz="1100" b="1" dirty="0">
                <a:solidFill>
                  <a:srgbClr val="0D1B4B"/>
                </a:solidFill>
              </a:rPr>
              <a:t>When is human approval mandatory?</a:t>
            </a:r>
            <a:endParaRPr lang="en-US" sz="1100" dirty="0"/>
          </a:p>
        </p:txBody>
      </p:sp>
      <p:sp>
        <p:nvSpPr>
          <p:cNvPr id="16" name="Text 14"/>
          <p:cNvSpPr/>
          <p:nvPr/>
        </p:nvSpPr>
        <p:spPr>
          <a:xfrm>
            <a:off x="457200" y="2990088"/>
            <a:ext cx="3977640" cy="621792"/>
          </a:xfrm>
          <a:prstGeom prst="rect">
            <a:avLst/>
          </a:prstGeom>
          <a:noFill/>
          <a:ln/>
        </p:spPr>
        <p:txBody>
          <a:bodyPr wrap="square" lIns="0" tIns="0" rIns="0" bIns="0" rtlCol="0" anchor="ctr"/>
          <a:lstStyle/>
          <a:p>
            <a:pPr indent="0" marL="0">
              <a:lnSpc>
                <a:spcPct val="140000"/>
              </a:lnSpc>
              <a:buNone/>
            </a:pPr>
            <a:r>
              <a:rPr lang="en-US" sz="1000" dirty="0">
                <a:solidFill>
                  <a:srgbClr val="4A5568"/>
                </a:solidFill>
              </a:rPr>
              <a:t>Any new pattern, any change to a reference architecture, any high-risk or regulated domain, and any exception to approved standards.</a:t>
            </a:r>
            <a:endParaRPr lang="en-US" sz="1000" dirty="0"/>
          </a:p>
        </p:txBody>
      </p:sp>
      <p:sp>
        <p:nvSpPr>
          <p:cNvPr id="17" name="Shape 15"/>
          <p:cNvSpPr/>
          <p:nvPr/>
        </p:nvSpPr>
        <p:spPr>
          <a:xfrm>
            <a:off x="4800600" y="2587752"/>
            <a:ext cx="4251960" cy="109728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18" name="Shape 16"/>
          <p:cNvSpPr/>
          <p:nvPr/>
        </p:nvSpPr>
        <p:spPr>
          <a:xfrm>
            <a:off x="4800600" y="2587752"/>
            <a:ext cx="64008" cy="1097280"/>
          </a:xfrm>
          <a:prstGeom prst="rect">
            <a:avLst/>
          </a:prstGeom>
          <a:solidFill>
            <a:srgbClr val="06D6A0"/>
          </a:solidFill>
          <a:ln w="12700">
            <a:solidFill>
              <a:srgbClr val="06D6A0"/>
            </a:solidFill>
            <a:prstDash val="solid"/>
          </a:ln>
        </p:spPr>
      </p:sp>
      <p:sp>
        <p:nvSpPr>
          <p:cNvPr id="19" name="Text 17"/>
          <p:cNvSpPr/>
          <p:nvPr/>
        </p:nvSpPr>
        <p:spPr>
          <a:xfrm>
            <a:off x="4983480" y="2679192"/>
            <a:ext cx="3977640" cy="274320"/>
          </a:xfrm>
          <a:prstGeom prst="rect">
            <a:avLst/>
          </a:prstGeom>
          <a:noFill/>
          <a:ln/>
        </p:spPr>
        <p:txBody>
          <a:bodyPr wrap="square" lIns="0" tIns="0" rIns="0" bIns="0" rtlCol="0" anchor="ctr"/>
          <a:lstStyle/>
          <a:p>
            <a:pPr indent="0" marL="0">
              <a:buNone/>
            </a:pPr>
            <a:r>
              <a:rPr lang="en-US" sz="1100" b="1" dirty="0">
                <a:solidFill>
                  <a:srgbClr val="0D1B4B"/>
                </a:solidFill>
              </a:rPr>
              <a:t>Which tools may agents use?</a:t>
            </a:r>
            <a:endParaRPr lang="en-US" sz="1100" dirty="0"/>
          </a:p>
        </p:txBody>
      </p:sp>
      <p:sp>
        <p:nvSpPr>
          <p:cNvPr id="20" name="Text 18"/>
          <p:cNvSpPr/>
          <p:nvPr/>
        </p:nvSpPr>
        <p:spPr>
          <a:xfrm>
            <a:off x="4983480" y="2990088"/>
            <a:ext cx="3977640" cy="621792"/>
          </a:xfrm>
          <a:prstGeom prst="rect">
            <a:avLst/>
          </a:prstGeom>
          <a:noFill/>
          <a:ln/>
        </p:spPr>
        <p:txBody>
          <a:bodyPr wrap="square" lIns="0" tIns="0" rIns="0" bIns="0" rtlCol="0" anchor="ctr"/>
          <a:lstStyle/>
          <a:p>
            <a:pPr indent="0" marL="0">
              <a:lnSpc>
                <a:spcPct val="140000"/>
              </a:lnSpc>
              <a:buNone/>
            </a:pPr>
            <a:r>
              <a:rPr lang="en-US" sz="1000" dirty="0">
                <a:solidFill>
                  <a:srgbClr val="4A5568"/>
                </a:solidFill>
              </a:rPr>
              <a:t>Defined in the tool registry. Architecture search, diagram generation, CMDB queries, workflow triggers. Nothing outside the approved registry.</a:t>
            </a:r>
            <a:endParaRPr lang="en-US" sz="1000" dirty="0"/>
          </a:p>
        </p:txBody>
      </p:sp>
      <p:sp>
        <p:nvSpPr>
          <p:cNvPr id="21" name="Shape 19"/>
          <p:cNvSpPr/>
          <p:nvPr/>
        </p:nvSpPr>
        <p:spPr>
          <a:xfrm>
            <a:off x="274320" y="3849624"/>
            <a:ext cx="4251960" cy="109728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2" name="Shape 20"/>
          <p:cNvSpPr/>
          <p:nvPr/>
        </p:nvSpPr>
        <p:spPr>
          <a:xfrm>
            <a:off x="274320" y="3849624"/>
            <a:ext cx="64008" cy="1097280"/>
          </a:xfrm>
          <a:prstGeom prst="rect">
            <a:avLst/>
          </a:prstGeom>
          <a:solidFill>
            <a:srgbClr val="EF476F"/>
          </a:solidFill>
          <a:ln w="12700">
            <a:solidFill>
              <a:srgbClr val="EF476F"/>
            </a:solidFill>
            <a:prstDash val="solid"/>
          </a:ln>
        </p:spPr>
      </p:sp>
      <p:sp>
        <p:nvSpPr>
          <p:cNvPr id="23" name="Text 21"/>
          <p:cNvSpPr/>
          <p:nvPr/>
        </p:nvSpPr>
        <p:spPr>
          <a:xfrm>
            <a:off x="457200" y="3941064"/>
            <a:ext cx="3977640" cy="274320"/>
          </a:xfrm>
          <a:prstGeom prst="rect">
            <a:avLst/>
          </a:prstGeom>
          <a:noFill/>
          <a:ln/>
        </p:spPr>
        <p:txBody>
          <a:bodyPr wrap="square" lIns="0" tIns="0" rIns="0" bIns="0" rtlCol="0" anchor="ctr"/>
          <a:lstStyle/>
          <a:p>
            <a:pPr indent="0" marL="0">
              <a:buNone/>
            </a:pPr>
            <a:r>
              <a:rPr lang="en-US" sz="1100" b="1" dirty="0">
                <a:solidFill>
                  <a:srgbClr val="0D1B4B"/>
                </a:solidFill>
              </a:rPr>
              <a:t>How are agent actions logged?</a:t>
            </a:r>
            <a:endParaRPr lang="en-US" sz="1100" dirty="0"/>
          </a:p>
        </p:txBody>
      </p:sp>
      <p:sp>
        <p:nvSpPr>
          <p:cNvPr id="24" name="Text 22"/>
          <p:cNvSpPr/>
          <p:nvPr/>
        </p:nvSpPr>
        <p:spPr>
          <a:xfrm>
            <a:off x="457200" y="4251960"/>
            <a:ext cx="3977640" cy="621792"/>
          </a:xfrm>
          <a:prstGeom prst="rect">
            <a:avLst/>
          </a:prstGeom>
          <a:noFill/>
          <a:ln/>
        </p:spPr>
        <p:txBody>
          <a:bodyPr wrap="square" lIns="0" tIns="0" rIns="0" bIns="0" rtlCol="0" anchor="ctr"/>
          <a:lstStyle/>
          <a:p>
            <a:pPr indent="0" marL="0">
              <a:lnSpc>
                <a:spcPct val="140000"/>
              </a:lnSpc>
              <a:buNone/>
            </a:pPr>
            <a:r>
              <a:rPr lang="en-US" sz="1000" dirty="0">
                <a:solidFill>
                  <a:srgbClr val="4A5568"/>
                </a:solidFill>
              </a:rPr>
              <a:t>Every query, every draft, every recommendation, every rule applied — recorded with timestamp, agent identity, and the human who approved the outcome.</a:t>
            </a:r>
            <a:endParaRPr lang="en-US" sz="1000" dirty="0"/>
          </a:p>
        </p:txBody>
      </p:sp>
      <p:sp>
        <p:nvSpPr>
          <p:cNvPr id="25" name="Shape 23"/>
          <p:cNvSpPr/>
          <p:nvPr/>
        </p:nvSpPr>
        <p:spPr>
          <a:xfrm>
            <a:off x="4800600" y="3849624"/>
            <a:ext cx="4251960" cy="1097280"/>
          </a:xfrm>
          <a:prstGeom prst="rect">
            <a:avLst/>
          </a:prstGeom>
          <a:solidFill>
            <a:srgbClr val="FFFFFF"/>
          </a:solidFill>
          <a:ln w="6350">
            <a:solidFill>
              <a:srgbClr val="DDEEFF"/>
            </a:solidFill>
            <a:prstDash val="solid"/>
          </a:ln>
          <a:effectLst>
            <a:outerShdw sx="100000" sy="100000" kx="0" ky="0" algn="bl" rotWithShape="0" blurRad="101600" dist="38100" dir="8100000">
              <a:srgbClr val="000033">
                <a:alpha val="10000"/>
              </a:srgbClr>
            </a:outerShdw>
          </a:effectLst>
        </p:spPr>
      </p:sp>
      <p:sp>
        <p:nvSpPr>
          <p:cNvPr id="26" name="Shape 24"/>
          <p:cNvSpPr/>
          <p:nvPr/>
        </p:nvSpPr>
        <p:spPr>
          <a:xfrm>
            <a:off x="4800600" y="3849624"/>
            <a:ext cx="64008" cy="1097280"/>
          </a:xfrm>
          <a:prstGeom prst="rect">
            <a:avLst/>
          </a:prstGeom>
          <a:solidFill>
            <a:srgbClr val="7B5EA7"/>
          </a:solidFill>
          <a:ln w="12700">
            <a:solidFill>
              <a:srgbClr val="7B5EA7"/>
            </a:solidFill>
            <a:prstDash val="solid"/>
          </a:ln>
        </p:spPr>
      </p:sp>
      <p:sp>
        <p:nvSpPr>
          <p:cNvPr id="27" name="Text 25"/>
          <p:cNvSpPr/>
          <p:nvPr/>
        </p:nvSpPr>
        <p:spPr>
          <a:xfrm>
            <a:off x="4983480" y="3941064"/>
            <a:ext cx="3977640" cy="274320"/>
          </a:xfrm>
          <a:prstGeom prst="rect">
            <a:avLst/>
          </a:prstGeom>
          <a:noFill/>
          <a:ln/>
        </p:spPr>
        <p:txBody>
          <a:bodyPr wrap="square" lIns="0" tIns="0" rIns="0" bIns="0" rtlCol="0" anchor="ctr"/>
          <a:lstStyle/>
          <a:p>
            <a:pPr indent="0" marL="0">
              <a:buNone/>
            </a:pPr>
            <a:r>
              <a:rPr lang="en-US" sz="1100" b="1" dirty="0">
                <a:solidFill>
                  <a:srgbClr val="0D1B4B"/>
                </a:solidFill>
              </a:rPr>
              <a:t>How are exceptions handled?</a:t>
            </a:r>
            <a:endParaRPr lang="en-US" sz="1100" dirty="0"/>
          </a:p>
        </p:txBody>
      </p:sp>
      <p:sp>
        <p:nvSpPr>
          <p:cNvPr id="28" name="Text 26"/>
          <p:cNvSpPr/>
          <p:nvPr/>
        </p:nvSpPr>
        <p:spPr>
          <a:xfrm>
            <a:off x="4983480" y="4251960"/>
            <a:ext cx="3977640" cy="621792"/>
          </a:xfrm>
          <a:prstGeom prst="rect">
            <a:avLst/>
          </a:prstGeom>
          <a:noFill/>
          <a:ln/>
        </p:spPr>
        <p:txBody>
          <a:bodyPr wrap="square" lIns="0" tIns="0" rIns="0" bIns="0" rtlCol="0" anchor="ctr"/>
          <a:lstStyle/>
          <a:p>
            <a:pPr indent="0" marL="0">
              <a:lnSpc>
                <a:spcPct val="140000"/>
              </a:lnSpc>
              <a:buNone/>
            </a:pPr>
            <a:r>
              <a:rPr lang="en-US" sz="1000" dirty="0">
                <a:solidFill>
                  <a:srgbClr val="4A5568"/>
                </a:solidFill>
              </a:rPr>
              <a:t>Agent escalates to a human reviewer. No autonomous override of a policy boundary. Exception decisions are logged and feed back into the guardrail library.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4B"/>
        </a:solidFill>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600" b="1" dirty="0">
                <a:solidFill>
                  <a:srgbClr val="FFFFFF"/>
                </a:solidFill>
              </a:rPr>
              <a:t>What success looks like</a:t>
            </a:r>
            <a:endParaRPr lang="en-US" sz="2600" dirty="0"/>
          </a:p>
        </p:txBody>
      </p:sp>
      <p:sp>
        <p:nvSpPr>
          <p:cNvPr id="3" name="Text 1"/>
          <p:cNvSpPr/>
          <p:nvPr/>
        </p:nvSpPr>
        <p:spPr>
          <a:xfrm>
            <a:off x="457200" y="768096"/>
            <a:ext cx="8229600" cy="292608"/>
          </a:xfrm>
          <a:prstGeom prst="rect">
            <a:avLst/>
          </a:prstGeom>
          <a:noFill/>
          <a:ln/>
        </p:spPr>
        <p:txBody>
          <a:bodyPr wrap="square" lIns="0" tIns="0" rIns="0" bIns="0" rtlCol="0" anchor="ctr"/>
          <a:lstStyle/>
          <a:p>
            <a:pPr indent="0" marL="0">
              <a:buNone/>
            </a:pPr>
            <a:r>
              <a:rPr lang="en-US" sz="1300" dirty="0">
                <a:solidFill>
                  <a:srgbClr val="C8D4F0"/>
                </a:solidFill>
              </a:rPr>
              <a:t>Two horizons — the architecture programme, and the agentic extension.</a:t>
            </a:r>
            <a:endParaRPr lang="en-US" sz="1300" dirty="0"/>
          </a:p>
        </p:txBody>
      </p:sp>
      <p:sp>
        <p:nvSpPr>
          <p:cNvPr id="4" name="Shape 2"/>
          <p:cNvSpPr/>
          <p:nvPr/>
        </p:nvSpPr>
        <p:spPr>
          <a:xfrm>
            <a:off x="274320" y="1170432"/>
            <a:ext cx="4114800" cy="3749040"/>
          </a:xfrm>
          <a:prstGeom prst="rect">
            <a:avLst/>
          </a:prstGeom>
          <a:solidFill>
            <a:srgbClr val="152060"/>
          </a:solidFill>
          <a:ln w="9525">
            <a:solidFill>
              <a:srgbClr val="00B4D8"/>
            </a:solidFill>
            <a:prstDash val="solid"/>
          </a:ln>
        </p:spPr>
      </p:sp>
      <p:sp>
        <p:nvSpPr>
          <p:cNvPr id="5" name="Shape 3"/>
          <p:cNvSpPr/>
          <p:nvPr/>
        </p:nvSpPr>
        <p:spPr>
          <a:xfrm>
            <a:off x="274320" y="1170432"/>
            <a:ext cx="4114800" cy="457200"/>
          </a:xfrm>
          <a:prstGeom prst="rect">
            <a:avLst/>
          </a:prstGeom>
          <a:solidFill>
            <a:srgbClr val="00B4D8"/>
          </a:solidFill>
          <a:ln w="12700">
            <a:solidFill>
              <a:srgbClr val="00B4D8"/>
            </a:solidFill>
            <a:prstDash val="solid"/>
          </a:ln>
        </p:spPr>
      </p:sp>
      <p:sp>
        <p:nvSpPr>
          <p:cNvPr id="6" name="Text 4"/>
          <p:cNvSpPr/>
          <p:nvPr/>
        </p:nvSpPr>
        <p:spPr>
          <a:xfrm>
            <a:off x="411480" y="1170432"/>
            <a:ext cx="3840480" cy="457200"/>
          </a:xfrm>
          <a:prstGeom prst="rect">
            <a:avLst/>
          </a:prstGeom>
          <a:noFill/>
          <a:ln/>
        </p:spPr>
        <p:txBody>
          <a:bodyPr wrap="square" lIns="0" tIns="0" rIns="0" bIns="0" rtlCol="0" anchor="ctr"/>
          <a:lstStyle/>
          <a:p>
            <a:pPr indent="0" marL="0">
              <a:buNone/>
            </a:pPr>
            <a:r>
              <a:rPr lang="en-US" sz="1300" b="1" dirty="0">
                <a:solidFill>
                  <a:srgbClr val="FFFFFF"/>
                </a:solidFill>
              </a:rPr>
              <a:t>Architecture programme</a:t>
            </a:r>
            <a:endParaRPr lang="en-US" sz="1300" dirty="0"/>
          </a:p>
        </p:txBody>
      </p:sp>
      <p:sp>
        <p:nvSpPr>
          <p:cNvPr id="7" name="Shape 5"/>
          <p:cNvSpPr/>
          <p:nvPr/>
        </p:nvSpPr>
        <p:spPr>
          <a:xfrm>
            <a:off x="457200" y="1764792"/>
            <a:ext cx="182880" cy="182880"/>
          </a:xfrm>
          <a:prstGeom prst="ellipse">
            <a:avLst/>
          </a:prstGeom>
          <a:solidFill>
            <a:srgbClr val="00B4D8"/>
          </a:solidFill>
          <a:ln w="12700">
            <a:solidFill>
              <a:srgbClr val="00B4D8"/>
            </a:solidFill>
            <a:prstDash val="solid"/>
          </a:ln>
        </p:spPr>
      </p:sp>
      <p:sp>
        <p:nvSpPr>
          <p:cNvPr id="8" name="Text 6"/>
          <p:cNvSpPr/>
          <p:nvPr/>
        </p:nvSpPr>
        <p:spPr>
          <a:xfrm>
            <a:off x="713232" y="1737360"/>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Architects reuse approved components instead of starting from scratch</a:t>
            </a:r>
            <a:endParaRPr lang="en-US" sz="1050" dirty="0"/>
          </a:p>
        </p:txBody>
      </p:sp>
      <p:sp>
        <p:nvSpPr>
          <p:cNvPr id="9" name="Shape 7"/>
          <p:cNvSpPr/>
          <p:nvPr/>
        </p:nvSpPr>
        <p:spPr>
          <a:xfrm>
            <a:off x="457200" y="2295144"/>
            <a:ext cx="182880" cy="182880"/>
          </a:xfrm>
          <a:prstGeom prst="ellipse">
            <a:avLst/>
          </a:prstGeom>
          <a:solidFill>
            <a:srgbClr val="00B4D8"/>
          </a:solidFill>
          <a:ln w="12700">
            <a:solidFill>
              <a:srgbClr val="00B4D8"/>
            </a:solidFill>
            <a:prstDash val="solid"/>
          </a:ln>
        </p:spPr>
      </p:sp>
      <p:sp>
        <p:nvSpPr>
          <p:cNvPr id="10" name="Text 8"/>
          <p:cNvSpPr/>
          <p:nvPr/>
        </p:nvSpPr>
        <p:spPr>
          <a:xfrm>
            <a:off x="713232" y="2267712"/>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Business and technology teams share a common language</a:t>
            </a:r>
            <a:endParaRPr lang="en-US" sz="1050" dirty="0"/>
          </a:p>
        </p:txBody>
      </p:sp>
      <p:sp>
        <p:nvSpPr>
          <p:cNvPr id="11" name="Shape 9"/>
          <p:cNvSpPr/>
          <p:nvPr/>
        </p:nvSpPr>
        <p:spPr>
          <a:xfrm>
            <a:off x="457200" y="2825496"/>
            <a:ext cx="182880" cy="182880"/>
          </a:xfrm>
          <a:prstGeom prst="ellipse">
            <a:avLst/>
          </a:prstGeom>
          <a:solidFill>
            <a:srgbClr val="00B4D8"/>
          </a:solidFill>
          <a:ln w="12700">
            <a:solidFill>
              <a:srgbClr val="00B4D8"/>
            </a:solidFill>
            <a:prstDash val="solid"/>
          </a:ln>
        </p:spPr>
      </p:sp>
      <p:sp>
        <p:nvSpPr>
          <p:cNvPr id="12" name="Text 10"/>
          <p:cNvSpPr/>
          <p:nvPr/>
        </p:nvSpPr>
        <p:spPr>
          <a:xfrm>
            <a:off x="713232" y="2798064"/>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Architectural decisions are traceable and easier to govern</a:t>
            </a:r>
            <a:endParaRPr lang="en-US" sz="1050" dirty="0"/>
          </a:p>
        </p:txBody>
      </p:sp>
      <p:sp>
        <p:nvSpPr>
          <p:cNvPr id="13" name="Shape 11"/>
          <p:cNvSpPr/>
          <p:nvPr/>
        </p:nvSpPr>
        <p:spPr>
          <a:xfrm>
            <a:off x="457200" y="3355848"/>
            <a:ext cx="182880" cy="182880"/>
          </a:xfrm>
          <a:prstGeom prst="ellipse">
            <a:avLst/>
          </a:prstGeom>
          <a:solidFill>
            <a:srgbClr val="00B4D8"/>
          </a:solidFill>
          <a:ln w="12700">
            <a:solidFill>
              <a:srgbClr val="00B4D8"/>
            </a:solidFill>
            <a:prstDash val="solid"/>
          </a:ln>
        </p:spPr>
      </p:sp>
      <p:sp>
        <p:nvSpPr>
          <p:cNvPr id="14" name="Text 12"/>
          <p:cNvSpPr/>
          <p:nvPr/>
        </p:nvSpPr>
        <p:spPr>
          <a:xfrm>
            <a:off x="713232" y="3328416"/>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Confluence becomes a collaboration layer, not the system of record</a:t>
            </a:r>
            <a:endParaRPr lang="en-US" sz="1050" dirty="0"/>
          </a:p>
        </p:txBody>
      </p:sp>
      <p:sp>
        <p:nvSpPr>
          <p:cNvPr id="15" name="Shape 13"/>
          <p:cNvSpPr/>
          <p:nvPr/>
        </p:nvSpPr>
        <p:spPr>
          <a:xfrm>
            <a:off x="457200" y="3886200"/>
            <a:ext cx="182880" cy="182880"/>
          </a:xfrm>
          <a:prstGeom prst="ellipse">
            <a:avLst/>
          </a:prstGeom>
          <a:solidFill>
            <a:srgbClr val="00B4D8"/>
          </a:solidFill>
          <a:ln w="12700">
            <a:solidFill>
              <a:srgbClr val="00B4D8"/>
            </a:solidFill>
            <a:prstDash val="solid"/>
          </a:ln>
        </p:spPr>
      </p:sp>
      <p:sp>
        <p:nvSpPr>
          <p:cNvPr id="16" name="Text 14"/>
          <p:cNvSpPr/>
          <p:nvPr/>
        </p:nvSpPr>
        <p:spPr>
          <a:xfrm>
            <a:off x="713232" y="3858768"/>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Architecture reviews take days, not weeks, for standard patterns</a:t>
            </a:r>
            <a:endParaRPr lang="en-US" sz="1050" dirty="0"/>
          </a:p>
        </p:txBody>
      </p:sp>
      <p:sp>
        <p:nvSpPr>
          <p:cNvPr id="17" name="Shape 15"/>
          <p:cNvSpPr/>
          <p:nvPr/>
        </p:nvSpPr>
        <p:spPr>
          <a:xfrm>
            <a:off x="4754880" y="1170432"/>
            <a:ext cx="4114800" cy="3749040"/>
          </a:xfrm>
          <a:prstGeom prst="rect">
            <a:avLst/>
          </a:prstGeom>
          <a:solidFill>
            <a:srgbClr val="152060"/>
          </a:solidFill>
          <a:ln w="9525">
            <a:solidFill>
              <a:srgbClr val="06D6A0"/>
            </a:solidFill>
            <a:prstDash val="solid"/>
          </a:ln>
        </p:spPr>
      </p:sp>
      <p:sp>
        <p:nvSpPr>
          <p:cNvPr id="18" name="Shape 16"/>
          <p:cNvSpPr/>
          <p:nvPr/>
        </p:nvSpPr>
        <p:spPr>
          <a:xfrm>
            <a:off x="4754880" y="1170432"/>
            <a:ext cx="4114800" cy="457200"/>
          </a:xfrm>
          <a:prstGeom prst="rect">
            <a:avLst/>
          </a:prstGeom>
          <a:solidFill>
            <a:srgbClr val="06D6A0"/>
          </a:solidFill>
          <a:ln w="12700">
            <a:solidFill>
              <a:srgbClr val="06D6A0"/>
            </a:solidFill>
            <a:prstDash val="solid"/>
          </a:ln>
        </p:spPr>
      </p:sp>
      <p:sp>
        <p:nvSpPr>
          <p:cNvPr id="19" name="Text 17"/>
          <p:cNvSpPr/>
          <p:nvPr/>
        </p:nvSpPr>
        <p:spPr>
          <a:xfrm>
            <a:off x="4892040" y="1170432"/>
            <a:ext cx="3840480" cy="457200"/>
          </a:xfrm>
          <a:prstGeom prst="rect">
            <a:avLst/>
          </a:prstGeom>
          <a:noFill/>
          <a:ln/>
        </p:spPr>
        <p:txBody>
          <a:bodyPr wrap="square" lIns="0" tIns="0" rIns="0" bIns="0" rtlCol="0" anchor="ctr"/>
          <a:lstStyle/>
          <a:p>
            <a:pPr indent="0" marL="0">
              <a:buNone/>
            </a:pPr>
            <a:r>
              <a:rPr lang="en-US" sz="1300" b="1" dirty="0">
                <a:solidFill>
                  <a:srgbClr val="FFFFFF"/>
                </a:solidFill>
              </a:rPr>
              <a:t>The agentic extension</a:t>
            </a:r>
            <a:endParaRPr lang="en-US" sz="1300" dirty="0"/>
          </a:p>
        </p:txBody>
      </p:sp>
      <p:sp>
        <p:nvSpPr>
          <p:cNvPr id="20" name="Shape 18"/>
          <p:cNvSpPr/>
          <p:nvPr/>
        </p:nvSpPr>
        <p:spPr>
          <a:xfrm>
            <a:off x="4937760" y="1764792"/>
            <a:ext cx="182880" cy="182880"/>
          </a:xfrm>
          <a:prstGeom prst="ellipse">
            <a:avLst/>
          </a:prstGeom>
          <a:solidFill>
            <a:srgbClr val="06D6A0"/>
          </a:solidFill>
          <a:ln w="12700">
            <a:solidFill>
              <a:srgbClr val="06D6A0"/>
            </a:solidFill>
            <a:prstDash val="solid"/>
          </a:ln>
        </p:spPr>
      </p:sp>
      <p:sp>
        <p:nvSpPr>
          <p:cNvPr id="21" name="Text 19"/>
          <p:cNvSpPr/>
          <p:nvPr/>
        </p:nvSpPr>
        <p:spPr>
          <a:xfrm>
            <a:off x="5193792" y="1737360"/>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Architecture content is reusable by both people and machines</a:t>
            </a:r>
            <a:endParaRPr lang="en-US" sz="1050" dirty="0"/>
          </a:p>
        </p:txBody>
      </p:sp>
      <p:sp>
        <p:nvSpPr>
          <p:cNvPr id="22" name="Shape 20"/>
          <p:cNvSpPr/>
          <p:nvPr/>
        </p:nvSpPr>
        <p:spPr>
          <a:xfrm>
            <a:off x="4937760" y="2295144"/>
            <a:ext cx="182880" cy="182880"/>
          </a:xfrm>
          <a:prstGeom prst="ellipse">
            <a:avLst/>
          </a:prstGeom>
          <a:solidFill>
            <a:srgbClr val="06D6A0"/>
          </a:solidFill>
          <a:ln w="12700">
            <a:solidFill>
              <a:srgbClr val="06D6A0"/>
            </a:solidFill>
            <a:prstDash val="solid"/>
          </a:ln>
        </p:spPr>
      </p:sp>
      <p:sp>
        <p:nvSpPr>
          <p:cNvPr id="23" name="Text 21"/>
          <p:cNvSpPr/>
          <p:nvPr/>
        </p:nvSpPr>
        <p:spPr>
          <a:xfrm>
            <a:off x="5193792" y="2267712"/>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Agents assist with design using approved enterprise assets</a:t>
            </a:r>
            <a:endParaRPr lang="en-US" sz="1050" dirty="0"/>
          </a:p>
        </p:txBody>
      </p:sp>
      <p:sp>
        <p:nvSpPr>
          <p:cNvPr id="24" name="Shape 22"/>
          <p:cNvSpPr/>
          <p:nvPr/>
        </p:nvSpPr>
        <p:spPr>
          <a:xfrm>
            <a:off x="4937760" y="2825496"/>
            <a:ext cx="182880" cy="182880"/>
          </a:xfrm>
          <a:prstGeom prst="ellipse">
            <a:avLst/>
          </a:prstGeom>
          <a:solidFill>
            <a:srgbClr val="06D6A0"/>
          </a:solidFill>
          <a:ln w="12700">
            <a:solidFill>
              <a:srgbClr val="06D6A0"/>
            </a:solidFill>
            <a:prstDash val="solid"/>
          </a:ln>
        </p:spPr>
      </p:sp>
      <p:sp>
        <p:nvSpPr>
          <p:cNvPr id="25" name="Text 23"/>
          <p:cNvSpPr/>
          <p:nvPr/>
        </p:nvSpPr>
        <p:spPr>
          <a:xfrm>
            <a:off x="5193792" y="2798064"/>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Policies are machine-checkable — governance does not depend on manual review alone</a:t>
            </a:r>
            <a:endParaRPr lang="en-US" sz="1050" dirty="0"/>
          </a:p>
        </p:txBody>
      </p:sp>
      <p:sp>
        <p:nvSpPr>
          <p:cNvPr id="26" name="Shape 24"/>
          <p:cNvSpPr/>
          <p:nvPr/>
        </p:nvSpPr>
        <p:spPr>
          <a:xfrm>
            <a:off x="4937760" y="3355848"/>
            <a:ext cx="182880" cy="182880"/>
          </a:xfrm>
          <a:prstGeom prst="ellipse">
            <a:avLst/>
          </a:prstGeom>
          <a:solidFill>
            <a:srgbClr val="06D6A0"/>
          </a:solidFill>
          <a:ln w="12700">
            <a:solidFill>
              <a:srgbClr val="06D6A0"/>
            </a:solidFill>
            <a:prstDash val="solid"/>
          </a:ln>
        </p:spPr>
      </p:sp>
      <p:sp>
        <p:nvSpPr>
          <p:cNvPr id="27" name="Text 25"/>
          <p:cNvSpPr/>
          <p:nvPr/>
        </p:nvSpPr>
        <p:spPr>
          <a:xfrm>
            <a:off x="5193792" y="3328416"/>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Human approval is focused on exceptions and high-risk decisions</a:t>
            </a:r>
            <a:endParaRPr lang="en-US" sz="1050" dirty="0"/>
          </a:p>
        </p:txBody>
      </p:sp>
      <p:sp>
        <p:nvSpPr>
          <p:cNvPr id="28" name="Shape 26"/>
          <p:cNvSpPr/>
          <p:nvPr/>
        </p:nvSpPr>
        <p:spPr>
          <a:xfrm>
            <a:off x="4937760" y="3886200"/>
            <a:ext cx="182880" cy="182880"/>
          </a:xfrm>
          <a:prstGeom prst="ellipse">
            <a:avLst/>
          </a:prstGeom>
          <a:solidFill>
            <a:srgbClr val="06D6A0"/>
          </a:solidFill>
          <a:ln w="12700">
            <a:solidFill>
              <a:srgbClr val="06D6A0"/>
            </a:solidFill>
            <a:prstDash val="solid"/>
          </a:ln>
        </p:spPr>
      </p:sp>
      <p:sp>
        <p:nvSpPr>
          <p:cNvPr id="29" name="Text 27"/>
          <p:cNvSpPr/>
          <p:nvPr/>
        </p:nvSpPr>
        <p:spPr>
          <a:xfrm>
            <a:off x="5193792" y="3858768"/>
            <a:ext cx="3547872" cy="438912"/>
          </a:xfrm>
          <a:prstGeom prst="rect">
            <a:avLst/>
          </a:prstGeom>
          <a:noFill/>
          <a:ln/>
        </p:spPr>
        <p:txBody>
          <a:bodyPr wrap="square" lIns="0" tIns="0" rIns="0" bIns="0" rtlCol="0" anchor="ctr"/>
          <a:lstStyle/>
          <a:p>
            <a:pPr indent="0" marL="0">
              <a:lnSpc>
                <a:spcPct val="135000"/>
              </a:lnSpc>
              <a:buNone/>
            </a:pPr>
            <a:r>
              <a:rPr lang="en-US" sz="1050" dirty="0">
                <a:solidFill>
                  <a:srgbClr val="C8D4F0"/>
                </a:solidFill>
              </a:rPr>
              <a:t>The firm scales architecture without scaling manual effort at the same rate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00B4D8"/>
          </a:solidFill>
          <a:ln w="12700">
            <a:solidFill>
              <a:srgbClr val="00B4D8"/>
            </a:solidFill>
            <a:prstDash val="solid"/>
          </a:ln>
        </p:spPr>
      </p:sp>
      <p:sp>
        <p:nvSpPr>
          <p:cNvPr id="3" name="Shape 1"/>
          <p:cNvSpPr/>
          <p:nvPr/>
        </p:nvSpPr>
        <p:spPr>
          <a:xfrm>
            <a:off x="411480" y="0"/>
            <a:ext cx="137160" cy="5143500"/>
          </a:xfrm>
          <a:prstGeom prst="rect">
            <a:avLst/>
          </a:prstGeom>
          <a:solidFill>
            <a:srgbClr val="2351C8"/>
          </a:solidFill>
          <a:ln w="12700">
            <a:solidFill>
              <a:srgbClr val="2351C8"/>
            </a:solidFill>
            <a:prstDash val="solid"/>
          </a:ln>
        </p:spPr>
      </p:sp>
      <p:sp>
        <p:nvSpPr>
          <p:cNvPr id="4" name="Text 2"/>
          <p:cNvSpPr/>
          <p:nvPr/>
        </p:nvSpPr>
        <p:spPr>
          <a:xfrm>
            <a:off x="731520" y="548640"/>
            <a:ext cx="8046720" cy="347472"/>
          </a:xfrm>
          <a:prstGeom prst="rect">
            <a:avLst/>
          </a:prstGeom>
          <a:noFill/>
          <a:ln/>
        </p:spPr>
        <p:txBody>
          <a:bodyPr wrap="square" lIns="0" tIns="0" rIns="0" bIns="0" rtlCol="0" anchor="ctr"/>
          <a:lstStyle/>
          <a:p>
            <a:pPr indent="0" marL="0">
              <a:buNone/>
            </a:pPr>
            <a:r>
              <a:rPr lang="en-US" sz="1100" b="1" spc="300" kern="0" dirty="0">
                <a:solidFill>
                  <a:srgbClr val="00B4D8"/>
                </a:solidFill>
              </a:rPr>
              <a:t>Executive summary</a:t>
            </a:r>
            <a:endParaRPr lang="en-US" sz="1100" dirty="0"/>
          </a:p>
        </p:txBody>
      </p:sp>
      <p:sp>
        <p:nvSpPr>
          <p:cNvPr id="5" name="Shape 3"/>
          <p:cNvSpPr/>
          <p:nvPr/>
        </p:nvSpPr>
        <p:spPr>
          <a:xfrm>
            <a:off x="731520" y="987552"/>
            <a:ext cx="8046720" cy="1325880"/>
          </a:xfrm>
          <a:prstGeom prst="rect">
            <a:avLst/>
          </a:prstGeom>
          <a:solidFill>
            <a:srgbClr val="152060"/>
          </a:solidFill>
          <a:ln w="6350">
            <a:solidFill>
              <a:srgbClr val="00B4D8"/>
            </a:solidFill>
            <a:prstDash val="solid"/>
          </a:ln>
        </p:spPr>
      </p:sp>
      <p:sp>
        <p:nvSpPr>
          <p:cNvPr id="6" name="Text 4"/>
          <p:cNvSpPr/>
          <p:nvPr/>
        </p:nvSpPr>
        <p:spPr>
          <a:xfrm>
            <a:off x="896112" y="1078992"/>
            <a:ext cx="2743200" cy="274320"/>
          </a:xfrm>
          <a:prstGeom prst="rect">
            <a:avLst/>
          </a:prstGeom>
          <a:noFill/>
          <a:ln/>
        </p:spPr>
        <p:txBody>
          <a:bodyPr wrap="square" lIns="0" tIns="0" rIns="0" bIns="0" rtlCol="0" anchor="ctr"/>
          <a:lstStyle/>
          <a:p>
            <a:pPr indent="0" marL="0">
              <a:buNone/>
            </a:pPr>
            <a:r>
              <a:rPr lang="en-US" sz="1100" b="1" dirty="0">
                <a:solidFill>
                  <a:srgbClr val="00B4D8"/>
                </a:solidFill>
              </a:rPr>
              <a:t>The architecture programme</a:t>
            </a:r>
            <a:endParaRPr lang="en-US" sz="1100" dirty="0"/>
          </a:p>
        </p:txBody>
      </p:sp>
      <p:sp>
        <p:nvSpPr>
          <p:cNvPr id="7" name="Text 5"/>
          <p:cNvSpPr/>
          <p:nvPr/>
        </p:nvSpPr>
        <p:spPr>
          <a:xfrm>
            <a:off x="896112" y="1389888"/>
            <a:ext cx="7680960" cy="804672"/>
          </a:xfrm>
          <a:prstGeom prst="rect">
            <a:avLst/>
          </a:prstGeom>
          <a:noFill/>
          <a:ln/>
        </p:spPr>
        <p:txBody>
          <a:bodyPr wrap="square" lIns="0" tIns="0" rIns="0" bIns="0" rtlCol="0" anchor="ctr"/>
          <a:lstStyle/>
          <a:p>
            <a:pPr indent="0" marL="0">
              <a:lnSpc>
                <a:spcPct val="150000"/>
              </a:lnSpc>
              <a:buNone/>
            </a:pPr>
            <a:r>
              <a:rPr lang="en-US" sz="1100" dirty="0">
                <a:solidFill>
                  <a:srgbClr val="C8D4F0"/>
                </a:solidFill>
              </a:rPr>
              <a:t>This initiative transforms architecture from static documentation into a reusable enterprise design asset. Every project draws from the same approved library. Standards are consistent. Governance is traceable. The architecture function becomes a multiplier for delivery, not a bottleneck.</a:t>
            </a:r>
            <a:endParaRPr lang="en-US" sz="1100" dirty="0"/>
          </a:p>
        </p:txBody>
      </p:sp>
      <p:sp>
        <p:nvSpPr>
          <p:cNvPr id="8" name="Shape 6"/>
          <p:cNvSpPr/>
          <p:nvPr/>
        </p:nvSpPr>
        <p:spPr>
          <a:xfrm>
            <a:off x="731520" y="2450592"/>
            <a:ext cx="8046720" cy="1325880"/>
          </a:xfrm>
          <a:prstGeom prst="rect">
            <a:avLst/>
          </a:prstGeom>
          <a:solidFill>
            <a:srgbClr val="152060"/>
          </a:solidFill>
          <a:ln w="6350">
            <a:solidFill>
              <a:srgbClr val="06D6A0"/>
            </a:solidFill>
            <a:prstDash val="solid"/>
          </a:ln>
        </p:spPr>
      </p:sp>
      <p:sp>
        <p:nvSpPr>
          <p:cNvPr id="9" name="Text 7"/>
          <p:cNvSpPr/>
          <p:nvPr/>
        </p:nvSpPr>
        <p:spPr>
          <a:xfrm>
            <a:off x="896112" y="2542032"/>
            <a:ext cx="2743200" cy="274320"/>
          </a:xfrm>
          <a:prstGeom prst="rect">
            <a:avLst/>
          </a:prstGeom>
          <a:noFill/>
          <a:ln/>
        </p:spPr>
        <p:txBody>
          <a:bodyPr wrap="square" lIns="0" tIns="0" rIns="0" bIns="0" rtlCol="0" anchor="ctr"/>
          <a:lstStyle/>
          <a:p>
            <a:pPr indent="0" marL="0">
              <a:buNone/>
            </a:pPr>
            <a:r>
              <a:rPr lang="en-US" sz="1100" b="1" dirty="0">
                <a:solidFill>
                  <a:srgbClr val="06D6A0"/>
                </a:solidFill>
              </a:rPr>
              <a:t>The agentic extension</a:t>
            </a:r>
            <a:endParaRPr lang="en-US" sz="1100" dirty="0"/>
          </a:p>
        </p:txBody>
      </p:sp>
      <p:sp>
        <p:nvSpPr>
          <p:cNvPr id="10" name="Text 8"/>
          <p:cNvSpPr/>
          <p:nvPr/>
        </p:nvSpPr>
        <p:spPr>
          <a:xfrm>
            <a:off x="896112" y="2852928"/>
            <a:ext cx="7680960" cy="804672"/>
          </a:xfrm>
          <a:prstGeom prst="rect">
            <a:avLst/>
          </a:prstGeom>
          <a:noFill/>
          <a:ln/>
        </p:spPr>
        <p:txBody>
          <a:bodyPr wrap="square" lIns="0" tIns="0" rIns="0" bIns="0" rtlCol="0" anchor="ctr"/>
          <a:lstStyle/>
          <a:p>
            <a:pPr indent="0" marL="0">
              <a:lnSpc>
                <a:spcPct val="150000"/>
              </a:lnSpc>
              <a:buNone/>
            </a:pPr>
            <a:r>
              <a:rPr lang="en-US" sz="1100" dirty="0">
                <a:solidFill>
                  <a:srgbClr val="C8D4F0"/>
                </a:solidFill>
              </a:rPr>
              <a:t>The agentic extension turns that asset base into a governed execution layer where agents can safely assist with design, validation, and coordination of enterprise change. Architecture knowledge scales without scaling the number of architects. Humans own the decisions. Agents do the heavy lifting.</a:t>
            </a:r>
            <a:endParaRPr lang="en-US" sz="1100" dirty="0"/>
          </a:p>
        </p:txBody>
      </p:sp>
      <p:sp>
        <p:nvSpPr>
          <p:cNvPr id="11" name="Shape 9"/>
          <p:cNvSpPr/>
          <p:nvPr/>
        </p:nvSpPr>
        <p:spPr>
          <a:xfrm>
            <a:off x="731520" y="3931920"/>
            <a:ext cx="1508760" cy="292608"/>
          </a:xfrm>
          <a:prstGeom prst="rect">
            <a:avLst/>
          </a:prstGeom>
          <a:solidFill>
            <a:srgbClr val="1A2B6D"/>
          </a:solidFill>
          <a:ln w="6350">
            <a:solidFill>
              <a:srgbClr val="00B4D8"/>
            </a:solidFill>
            <a:prstDash val="solid"/>
          </a:ln>
        </p:spPr>
      </p:sp>
      <p:sp>
        <p:nvSpPr>
          <p:cNvPr id="12" name="Text 10"/>
          <p:cNvSpPr/>
          <p:nvPr/>
        </p:nvSpPr>
        <p:spPr>
          <a:xfrm>
            <a:off x="731520" y="3931920"/>
            <a:ext cx="1508760" cy="292608"/>
          </a:xfrm>
          <a:prstGeom prst="rect">
            <a:avLst/>
          </a:prstGeom>
          <a:noFill/>
          <a:ln/>
        </p:spPr>
        <p:txBody>
          <a:bodyPr wrap="square" lIns="0" tIns="0" rIns="0" bIns="0" rtlCol="0" anchor="ctr"/>
          <a:lstStyle/>
          <a:p>
            <a:pPr algn="ctr" indent="0" marL="0">
              <a:buNone/>
            </a:pPr>
            <a:r>
              <a:rPr lang="en-US" sz="900" dirty="0">
                <a:solidFill>
                  <a:srgbClr val="00B4D8"/>
                </a:solidFill>
              </a:rPr>
              <a:t>7 delivery phases</a:t>
            </a:r>
            <a:endParaRPr lang="en-US" sz="900" dirty="0"/>
          </a:p>
        </p:txBody>
      </p:sp>
      <p:sp>
        <p:nvSpPr>
          <p:cNvPr id="13" name="Shape 11"/>
          <p:cNvSpPr/>
          <p:nvPr/>
        </p:nvSpPr>
        <p:spPr>
          <a:xfrm>
            <a:off x="2359152" y="3931920"/>
            <a:ext cx="1508760" cy="292608"/>
          </a:xfrm>
          <a:prstGeom prst="rect">
            <a:avLst/>
          </a:prstGeom>
          <a:solidFill>
            <a:srgbClr val="1A2B6D"/>
          </a:solidFill>
          <a:ln w="6350">
            <a:solidFill>
              <a:srgbClr val="00B4D8"/>
            </a:solidFill>
            <a:prstDash val="solid"/>
          </a:ln>
        </p:spPr>
      </p:sp>
      <p:sp>
        <p:nvSpPr>
          <p:cNvPr id="14" name="Text 12"/>
          <p:cNvSpPr/>
          <p:nvPr/>
        </p:nvSpPr>
        <p:spPr>
          <a:xfrm>
            <a:off x="2359152" y="3931920"/>
            <a:ext cx="1508760" cy="292608"/>
          </a:xfrm>
          <a:prstGeom prst="rect">
            <a:avLst/>
          </a:prstGeom>
          <a:noFill/>
          <a:ln/>
        </p:spPr>
        <p:txBody>
          <a:bodyPr wrap="square" lIns="0" tIns="0" rIns="0" bIns="0" rtlCol="0" anchor="ctr"/>
          <a:lstStyle/>
          <a:p>
            <a:pPr algn="ctr" indent="0" marL="0">
              <a:buNone/>
            </a:pPr>
            <a:r>
              <a:rPr lang="en-US" sz="900" dirty="0">
                <a:solidFill>
                  <a:srgbClr val="00B4D8"/>
                </a:solidFill>
              </a:rPr>
              <a:t>6 content workstreams</a:t>
            </a:r>
            <a:endParaRPr lang="en-US" sz="900" dirty="0"/>
          </a:p>
        </p:txBody>
      </p:sp>
      <p:sp>
        <p:nvSpPr>
          <p:cNvPr id="15" name="Shape 13"/>
          <p:cNvSpPr/>
          <p:nvPr/>
        </p:nvSpPr>
        <p:spPr>
          <a:xfrm>
            <a:off x="3986784" y="3931920"/>
            <a:ext cx="1508760" cy="292608"/>
          </a:xfrm>
          <a:prstGeom prst="rect">
            <a:avLst/>
          </a:prstGeom>
          <a:solidFill>
            <a:srgbClr val="1A2B6D"/>
          </a:solidFill>
          <a:ln w="6350">
            <a:solidFill>
              <a:srgbClr val="00B4D8"/>
            </a:solidFill>
            <a:prstDash val="solid"/>
          </a:ln>
        </p:spPr>
      </p:sp>
      <p:sp>
        <p:nvSpPr>
          <p:cNvPr id="16" name="Text 14"/>
          <p:cNvSpPr/>
          <p:nvPr/>
        </p:nvSpPr>
        <p:spPr>
          <a:xfrm>
            <a:off x="3986784" y="3931920"/>
            <a:ext cx="1508760" cy="292608"/>
          </a:xfrm>
          <a:prstGeom prst="rect">
            <a:avLst/>
          </a:prstGeom>
          <a:noFill/>
          <a:ln/>
        </p:spPr>
        <p:txBody>
          <a:bodyPr wrap="square" lIns="0" tIns="0" rIns="0" bIns="0" rtlCol="0" anchor="ctr"/>
          <a:lstStyle/>
          <a:p>
            <a:pPr algn="ctr" indent="0" marL="0">
              <a:buNone/>
            </a:pPr>
            <a:r>
              <a:rPr lang="en-US" sz="900" dirty="0">
                <a:solidFill>
                  <a:srgbClr val="00B4D8"/>
                </a:solidFill>
              </a:rPr>
              <a:t>5 agent capabilities</a:t>
            </a:r>
            <a:endParaRPr lang="en-US" sz="900" dirty="0"/>
          </a:p>
        </p:txBody>
      </p:sp>
      <p:sp>
        <p:nvSpPr>
          <p:cNvPr id="17" name="Shape 15"/>
          <p:cNvSpPr/>
          <p:nvPr/>
        </p:nvSpPr>
        <p:spPr>
          <a:xfrm>
            <a:off x="5614416" y="3931920"/>
            <a:ext cx="1508760" cy="292608"/>
          </a:xfrm>
          <a:prstGeom prst="rect">
            <a:avLst/>
          </a:prstGeom>
          <a:solidFill>
            <a:srgbClr val="1A2B6D"/>
          </a:solidFill>
          <a:ln w="6350">
            <a:solidFill>
              <a:srgbClr val="00B4D8"/>
            </a:solidFill>
            <a:prstDash val="solid"/>
          </a:ln>
        </p:spPr>
      </p:sp>
      <p:sp>
        <p:nvSpPr>
          <p:cNvPr id="18" name="Text 16"/>
          <p:cNvSpPr/>
          <p:nvPr/>
        </p:nvSpPr>
        <p:spPr>
          <a:xfrm>
            <a:off x="5614416" y="3931920"/>
            <a:ext cx="1508760" cy="292608"/>
          </a:xfrm>
          <a:prstGeom prst="rect">
            <a:avLst/>
          </a:prstGeom>
          <a:noFill/>
          <a:ln/>
        </p:spPr>
        <p:txBody>
          <a:bodyPr wrap="square" lIns="0" tIns="0" rIns="0" bIns="0" rtlCol="0" anchor="ctr"/>
          <a:lstStyle/>
          <a:p>
            <a:pPr algn="ctr" indent="0" marL="0">
              <a:buNone/>
            </a:pPr>
            <a:r>
              <a:rPr lang="en-US" sz="900" dirty="0">
                <a:solidFill>
                  <a:srgbClr val="00B4D8"/>
                </a:solidFill>
              </a:rPr>
              <a:t>One shared asset base</a:t>
            </a:r>
            <a:endParaRPr lang="en-US" sz="900" dirty="0"/>
          </a:p>
        </p:txBody>
      </p:sp>
      <p:sp>
        <p:nvSpPr>
          <p:cNvPr id="19" name="Shape 17"/>
          <p:cNvSpPr/>
          <p:nvPr/>
        </p:nvSpPr>
        <p:spPr>
          <a:xfrm>
            <a:off x="7242048" y="3931920"/>
            <a:ext cx="1508760" cy="292608"/>
          </a:xfrm>
          <a:prstGeom prst="rect">
            <a:avLst/>
          </a:prstGeom>
          <a:solidFill>
            <a:srgbClr val="1A2B6D"/>
          </a:solidFill>
          <a:ln w="6350">
            <a:solidFill>
              <a:srgbClr val="00B4D8"/>
            </a:solidFill>
            <a:prstDash val="solid"/>
          </a:ln>
        </p:spPr>
      </p:sp>
      <p:sp>
        <p:nvSpPr>
          <p:cNvPr id="20" name="Text 18"/>
          <p:cNvSpPr/>
          <p:nvPr/>
        </p:nvSpPr>
        <p:spPr>
          <a:xfrm>
            <a:off x="7242048" y="3931920"/>
            <a:ext cx="1508760" cy="292608"/>
          </a:xfrm>
          <a:prstGeom prst="rect">
            <a:avLst/>
          </a:prstGeom>
          <a:noFill/>
          <a:ln/>
        </p:spPr>
        <p:txBody>
          <a:bodyPr wrap="square" lIns="0" tIns="0" rIns="0" bIns="0" rtlCol="0" anchor="ctr"/>
          <a:lstStyle/>
          <a:p>
            <a:pPr algn="ctr" indent="0" marL="0">
              <a:buNone/>
            </a:pPr>
            <a:r>
              <a:rPr lang="en-US" sz="900" dirty="0">
                <a:solidFill>
                  <a:srgbClr val="00B4D8"/>
                </a:solidFill>
              </a:rPr>
              <a:t>Governance by design</a:t>
            </a:r>
            <a:endParaRPr lang="en-US" sz="900" dirty="0"/>
          </a:p>
        </p:txBody>
      </p:sp>
      <p:sp>
        <p:nvSpPr>
          <p:cNvPr id="21" name="Text 19"/>
          <p:cNvSpPr/>
          <p:nvPr/>
        </p:nvSpPr>
        <p:spPr>
          <a:xfrm>
            <a:off x="731520" y="4407408"/>
            <a:ext cx="8046720" cy="502920"/>
          </a:xfrm>
          <a:prstGeom prst="rect">
            <a:avLst/>
          </a:prstGeom>
          <a:noFill/>
          <a:ln/>
        </p:spPr>
        <p:txBody>
          <a:bodyPr wrap="square" lIns="0" tIns="0" rIns="0" bIns="0" rtlCol="0" anchor="ctr"/>
          <a:lstStyle/>
          <a:p>
            <a:pPr indent="0" marL="0">
              <a:lnSpc>
                <a:spcPct val="140000"/>
              </a:lnSpc>
              <a:buNone/>
            </a:pPr>
            <a:r>
              <a:rPr lang="en-US" sz="1300" i="1" dirty="0">
                <a:solidFill>
                  <a:srgbClr val="8899BB"/>
                </a:solidFill>
              </a:rPr>
              <a:t>From static pages to a shared enterprise design asset — the foundation for everything that follows, including AI.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Architecture — From Documentation to Design Asset</dc:title>
  <dc:subject>PptxGenJS Presentation</dc:subject>
  <dc:creator>Data &amp; AI Architecture</dc:creator>
  <cp:lastModifiedBy>Data &amp; AI Architecture</cp:lastModifiedBy>
  <cp:revision>1</cp:revision>
  <dcterms:created xsi:type="dcterms:W3CDTF">2026-04-27T05:55:27Z</dcterms:created>
  <dcterms:modified xsi:type="dcterms:W3CDTF">2026-04-27T05:55:27Z</dcterms:modified>
</cp:coreProperties>
</file>