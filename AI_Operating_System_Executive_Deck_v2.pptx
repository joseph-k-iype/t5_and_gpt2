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Cumulative engineering hours saved (YTD)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engineering hours saved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60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</c:v>
                </c:pt>
                <c:pt idx="1">
                  <c:v>1100</c:v>
                </c:pt>
                <c:pt idx="2">
                  <c:v>1900</c:v>
                </c:pt>
                <c:pt idx="3">
                  <c:v>3000</c:v>
                </c:pt>
                <c:pt idx="4">
                  <c:v>4200</c:v>
                </c:pt>
                <c:pt idx="5">
                  <c:v>5600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63-A547-8BEC-75C431F4C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56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every AI project should make the next one faster. Swap in the platform's working name if one is agreed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version. Three anchors: sized problem, live foundation, priced ask with a named decision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with a concrete duplication story. The footnote is now clear of the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'how big is the problem?'. The model is deliberately simple and conservative — walk through the four factors, then invite Finance to pressure-test the assumptions in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number: time-to-delivery. Top row status quo, bottom row the same idea through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Volume, regulation, agentic AI. The EU AI Act reference is the strongest external forcing function — lead with it if the room is compliance-minded.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The behavioural goal: 'check the platform first' becomes a habit, then part of the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a node in one graph — that is what powers duplicate detection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'is this built or proposed?': the inventory and agentic search are live; the five NEXT capabilities are what the funding delivers.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graveyard before someone in the room does. The answer in every row is a mechanism, not an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1–6 clockwise so the loop reads instantly. The economic point: increasing returns, not flat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future-state line maps to a capability on the capabilities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value driver carries the KPI it will be judged by — pre-answers 'how will we know it worked?'.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real people per column before presenting. Sponsors column is dark — that's where this audience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'Reviewed once, inherited by every reuse' is the governance efficiency argument — call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is dark because habit is the destination — embedded in intake, definition-of-done and governance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at strategy level for this audience — the day-by-day grid with series names lives in Appendix A1 for anyone who wants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Recognition uses channels that already exist — no new HR process is being proposed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to the Agent Skill Marketplace governance framework: gated pipeline, manifest standard, policy-as-code. 'Helping evidence readiness' is deliberate wording — agree final phrasing with Legal/Compliance.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mitigation is a mechanism already shown earlier in the deck — this slide proves the design anticipated its own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illustrative but internally consistent: 7 duplicates x ~800 hrs = 5,600 hrs YTD; annualised ~11,200 hrs x $120 = ~$1.3m. Leadership sees ROI metrics, never vanity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callout signals discipline: this team expects to be measured. It also de-risks the funding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asks, each with a named decision owner. Ask 2 is the behavioural unlock. The $0.7m is indicative — confirm the costed number with Finance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principle, then return to the three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material — go here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names are working titles — the content lead can rebrand without changing the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pressure-test slide. Each assumption names how to validate it — invite Finance to replace them and re-run the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503920" y="1005840"/>
            <a:ext cx="1126998" cy="729234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30918" y="1005840"/>
            <a:ext cx="1126998" cy="92811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962388" y="1933956"/>
            <a:ext cx="795528" cy="86182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967978" y="2795778"/>
            <a:ext cx="994410" cy="19888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735074"/>
            <a:ext cx="464058" cy="125958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57916" y="1933956"/>
            <a:ext cx="795528" cy="59664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962388" y="2530602"/>
            <a:ext cx="1591056" cy="26517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0918" y="1005840"/>
            <a:ext cx="331470" cy="1789938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4591" y="1615745"/>
            <a:ext cx="238658" cy="238658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9511589" y="886511"/>
            <a:ext cx="238658" cy="238658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38587" y="1814627"/>
            <a:ext cx="238658" cy="238658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3" name="Shape 11"/>
          <p:cNvSpPr/>
          <p:nvPr/>
        </p:nvSpPr>
        <p:spPr>
          <a:xfrm>
            <a:off x="9843059" y="2676449"/>
            <a:ext cx="238658" cy="238658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848649" y="2875331"/>
            <a:ext cx="238658" cy="238658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4115" y="2411273"/>
            <a:ext cx="238658" cy="238658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6" name="Shape 14"/>
          <p:cNvSpPr/>
          <p:nvPr/>
        </p:nvSpPr>
        <p:spPr>
          <a:xfrm flipH="1">
            <a:off x="9692640" y="4206240"/>
            <a:ext cx="777240" cy="50292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69880" y="4206240"/>
            <a:ext cx="777240" cy="6400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0698480" y="4846320"/>
            <a:ext cx="548640" cy="59436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0012680" y="5440680"/>
            <a:ext cx="685800" cy="13716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4709160"/>
            <a:ext cx="320040" cy="8686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47120" y="4846320"/>
            <a:ext cx="548640" cy="4114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10698480" y="5257800"/>
            <a:ext cx="1097280" cy="1828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4206240"/>
            <a:ext cx="228600" cy="123444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10344" y="462686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87584" y="412394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16184" y="535838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28" name="Shape 26"/>
          <p:cNvSpPr/>
          <p:nvPr/>
        </p:nvSpPr>
        <p:spPr>
          <a:xfrm>
            <a:off x="9930384" y="549554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13464" y="517550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STRATEGY PROPOSAL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21945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</a:t>
            </a: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lang="en-US" sz="5400" dirty="0"/>
          </a:p>
        </p:txBody>
      </p:sp>
      <p:sp>
        <p:nvSpPr>
          <p:cNvPr id="32" name="Text 30"/>
          <p:cNvSpPr/>
          <p:nvPr/>
        </p:nvSpPr>
        <p:spPr>
          <a:xfrm>
            <a:off x="82296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enterprise AI through discovery, reuse and collective intelligence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Architecture   |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to make every AI project faster than the last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knowledge is fragmented across business units. Teams unknowingly rebuild use cases, skills and data pipelines that already exist — an estimated $2m+ of duplicated effort each year (illustrative; model on p.4).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3575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E"/>
          </a:solidFill>
          <a:ln/>
        </p:spPr>
      </p:sp>
      <p:sp>
        <p:nvSpPr>
          <p:cNvPr id="10" name="Shape 7"/>
          <p:cNvSpPr/>
          <p:nvPr/>
        </p:nvSpPr>
        <p:spPr>
          <a:xfrm>
            <a:off x="4693615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016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615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93615" y="320040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live group-wide AI use case inventory and its agentic search into a full operating layer: duplicate detection, skill and data product recommendations, and expert routing for every initiative.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9851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51855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952" y="21590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855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18550" y="320040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sponsorship; a “search-first” checkpoint in AI intake, owned by the AI Governance Forum; and ~$0.7m indicative year-one funding, reviewed at a day-90 gate.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 </a:t>
            </a:r>
            <a:r>
              <a:rPr lang="en-US" sz="13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repository — the operating system through which the firm plans, reuses and governs AI.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 doesn't know what it already knows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0" cy="416052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found independently building the same document-summarisation capability in one internal review*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34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duplicated build is paid for twice: once in engineering effort, again in model risk, governance and maintenance.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17373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9" name="Shape 7"/>
          <p:cNvSpPr/>
          <p:nvPr/>
        </p:nvSpPr>
        <p:spPr>
          <a:xfrm>
            <a:off x="5239512" y="197510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09397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24728" y="20208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builds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39512" y="257860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AI use cases are rebuilt across business units with no visibility of each other.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66760" y="17373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14" name="Shape 11"/>
          <p:cNvSpPr/>
          <p:nvPr/>
        </p:nvSpPr>
        <p:spPr>
          <a:xfrm>
            <a:off x="8622792" y="197510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2093976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08008" y="20208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knowledge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622792" y="257860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Architectures, skills and lessons learned stay locked inside individual projects and teams.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83480" y="38862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19" name="Shape 15"/>
          <p:cNvSpPr/>
          <p:nvPr/>
        </p:nvSpPr>
        <p:spPr>
          <a:xfrm>
            <a:off x="5239512" y="41239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424281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24728" y="4169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discovery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39512" y="47274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prior art, data products or the right expert takes weeks of asking around.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66760" y="38862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22792" y="41239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424281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08008" y="4169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governance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622792" y="47274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duplicate initiative re-runs model risk, privacy and compliance reviews from scratch.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*Illustrative example — replace with a real case from the firm's AI use case inventory before presenting.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is a seven-figure annual cost — before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initiatives active across the group per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34056" y="2743200"/>
            <a:ext cx="173736" cy="0"/>
          </a:xfrm>
          <a:prstGeom prst="line">
            <a:avLst/>
          </a:prstGeom>
          <a:noFill/>
          <a:ln w="25400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44368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20116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145536" y="2606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substantially overlap with something already built or in flight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9784" y="2743200"/>
            <a:ext cx="173736" cy="0"/>
          </a:xfrm>
          <a:prstGeom prst="line">
            <a:avLst/>
          </a:prstGeom>
          <a:noFill/>
          <a:ln w="25400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0096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20116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541264" y="2606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builds per year, at ~800 engineering hours each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25512" y="2743200"/>
            <a:ext cx="173736" cy="0"/>
          </a:xfrm>
          <a:prstGeom prst="line">
            <a:avLst/>
          </a:prstGeom>
          <a:noFill/>
          <a:ln w="25400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35824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20116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~14,400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936992" y="2606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hours spent rebuilding what exists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31552" y="182880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241280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duplicated build cost / yr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41B4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690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$2m+ addressable annually 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repeated governance reviews, duplicated data pipelines and double-run maintenance are included — before counting the option value of faster delivery.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model at a blended $120/hr fully-loaded rate. Assumptions, sensitivities and sources to validate: Appendix A2.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eight weeks of rebuilding to two weeks of assembling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BUILD FROM SCRATCH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31136" y="2583180"/>
            <a:ext cx="182880" cy="0"/>
          </a:xfrm>
          <a:prstGeom prst="line">
            <a:avLst/>
          </a:prstGeom>
          <a:noFill/>
          <a:ln w="22225">
            <a:solidFill>
              <a:srgbClr val="AEB6C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32304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from zero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583180"/>
            <a:ext cx="182880" cy="0"/>
          </a:xfrm>
          <a:prstGeom prst="line">
            <a:avLst/>
          </a:prstGeom>
          <a:noFill/>
          <a:ln w="22225">
            <a:solidFill>
              <a:srgbClr val="AEB6C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5968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prep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98464" y="2583180"/>
            <a:ext cx="182880" cy="0"/>
          </a:xfrm>
          <a:prstGeom prst="line">
            <a:avLst/>
          </a:prstGeom>
          <a:noFill/>
          <a:ln w="22225">
            <a:solidFill>
              <a:srgbClr val="AEB6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9632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82128" y="2583180"/>
            <a:ext cx="182880" cy="0"/>
          </a:xfrm>
          <a:prstGeom prst="line">
            <a:avLst/>
          </a:prstGeom>
          <a:noFill/>
          <a:ln w="22225">
            <a:solidFill>
              <a:srgbClr val="AEB6C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83296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65792" y="2583180"/>
            <a:ext cx="182880" cy="0"/>
          </a:xfrm>
          <a:prstGeom prst="line">
            <a:avLst/>
          </a:prstGeom>
          <a:noFill/>
          <a:ln w="22225">
            <a:solidFill>
              <a:srgbClr val="AEB6C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196596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0574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(~8 wks)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PLATFORM — SEARCH FIRST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31136" y="4823460"/>
            <a:ext cx="1828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432304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523744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platform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4823460"/>
            <a:ext cx="1828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15968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407408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skills &amp; data products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98464" y="4823460"/>
            <a:ext cx="1828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99632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&amp; adapt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82128" y="4823460"/>
            <a:ext cx="1828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83296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 approved patterns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65792" y="4823460"/>
            <a:ext cx="1828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66960" y="4206240"/>
            <a:ext cx="166420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0" y="4297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(~2 wks)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~75% </a:t>
            </a: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time-to-delivery when initiatives start from existing assets instead of a blank page (illustrative).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costs compound with every initiative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930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64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 is accelerating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148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function is commissioning AI work. Without shared discovery, duplication grows quadratically with the number of initiatives — each new team can repeat any previous team's work.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341180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scrutiny is rising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71600" y="363016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AI Act, alongside GDPR, DPDPA, MAS TRM and FCA expectations, raises the bar for a complete, current view of where AI is used, on what data and under which controls. A living inventory is becoming a compliance asset, not a convenience.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89313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raises the stakes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71600" y="511149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and data products are precisely the kind of assets that compound when reused — and fragment fastest when they are not catalogued from day one.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326880" y="822960"/>
            <a:ext cx="932688" cy="603504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59568" y="822960"/>
            <a:ext cx="932688" cy="76809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533888" y="1591056"/>
            <a:ext cx="658368" cy="71323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710928" y="2304288"/>
            <a:ext cx="822960" cy="16459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426464"/>
            <a:ext cx="384048" cy="104241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1591056"/>
            <a:ext cx="658368" cy="49377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533888" y="2084832"/>
            <a:ext cx="1316736" cy="21945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59568" y="822960"/>
            <a:ext cx="274320" cy="1481328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8125" y="1327709"/>
            <a:ext cx="197510" cy="197510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813" y="724205"/>
            <a:ext cx="197510" cy="197510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93501" y="1492301"/>
            <a:ext cx="197510" cy="19751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35133" y="2205533"/>
            <a:ext cx="197510" cy="197510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12173" y="2370125"/>
            <a:ext cx="197510" cy="197510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51869" y="1986077"/>
            <a:ext cx="197510" cy="197510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firm's collective AI memory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anyone builds anything with AI, they check the platform — and find the use cases, skills, data products and people that already exist.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2976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263070"/>
          </a:solidFill>
          <a:ln w="9525">
            <a:solidFill>
              <a:srgbClr val="3A4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642616" y="4686300"/>
            <a:ext cx="25603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71800" y="42976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263070"/>
          </a:solidFill>
          <a:ln w="9525">
            <a:solidFill>
              <a:srgbClr val="3A4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91456" y="4686300"/>
            <a:ext cx="25603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42976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263070"/>
          </a:solidFill>
          <a:ln w="9525">
            <a:solidFill>
              <a:srgbClr val="3A4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faster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0296" y="4686300"/>
            <a:ext cx="25603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42976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263070"/>
          </a:solidFill>
          <a:ln w="9525">
            <a:solidFill>
              <a:srgbClr val="3A44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89136" y="4686300"/>
            <a:ext cx="25603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18320" y="42976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263070"/>
          </a:solidFill>
          <a:ln w="9525">
            <a:solidFill>
              <a:srgbClr val="3A44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cycle through this loop makes the next project faster — knowledge becomes a compounding enterprise asset.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graph of the firm's AI knowledge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2354580"/>
            <a:ext cx="228600" cy="162306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909060"/>
            <a:ext cx="228600" cy="6858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200400" y="3977640"/>
            <a:ext cx="228600" cy="148590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897880" y="2354580"/>
            <a:ext cx="502920" cy="162306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897880" y="3909060"/>
            <a:ext cx="502920" cy="6858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3977640"/>
            <a:ext cx="502920" cy="1485900"/>
          </a:xfrm>
          <a:prstGeom prst="line">
            <a:avLst/>
          </a:prstGeom>
          <a:noFill/>
          <a:ln w="15875">
            <a:solidFill>
              <a:srgbClr val="9FB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34518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34518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Knowledge Graph</a:t>
            </a:r>
            <a:endParaRPr lang="en-US" sz="15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+ agentic recommendations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1965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1259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244852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91056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35204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6804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379933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91056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14400" y="5074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42416" y="52349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535381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91056" y="5074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0" y="1965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28816" y="21259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224485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77456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&amp; owners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0" y="35204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28816" y="36804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379933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77456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architectures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400800" y="5074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EF4FE"/>
          </a:solidFill>
          <a:ln w="9525">
            <a:solidFill>
              <a:srgbClr val="D8DFE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28816" y="52349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535381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77456" y="5074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controls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732520" y="397764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9281160" y="2377440"/>
            <a:ext cx="2331720" cy="3200400"/>
          </a:xfrm>
          <a:prstGeom prst="roundRect">
            <a:avLst>
              <a:gd name="adj" fmla="val 3137"/>
            </a:avLst>
          </a:prstGeom>
          <a:solidFill>
            <a:srgbClr val="141B45"/>
          </a:solidFill>
          <a:ln/>
        </p:spPr>
      </p:sp>
      <p:sp>
        <p:nvSpPr>
          <p:cNvPr id="38" name="Text 30"/>
          <p:cNvSpPr/>
          <p:nvPr/>
        </p:nvSpPr>
        <p:spPr>
          <a:xfrm>
            <a:off x="950976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9509760" y="3108960"/>
            <a:ext cx="196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delivery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duplicate spend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governance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AI estate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foundation that is already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 today: </a:t>
            </a: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group-wide AI use case inventory with agentic search. Roadmap capabilities extend that live foundation — this is an upgrade, not a greenfield build.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287097"/>
            <a:ext cx="272125" cy="272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37560" y="23042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2304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28163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visibility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1821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group-wide view of the AI estate for leadership, governance forums and regulators — the inventory in production today.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3575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7895" y="21396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296" y="2287097"/>
            <a:ext cx="272125" cy="27212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62495" y="23042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62495" y="2304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647895" y="28163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47895" y="31821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overlap between a proposed use case and everything already built or in flight — before budget is committed.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98510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20" name="Shape 16"/>
          <p:cNvSpPr/>
          <p:nvPr/>
        </p:nvSpPr>
        <p:spPr>
          <a:xfrm>
            <a:off x="8472830" y="21396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232" y="2287097"/>
            <a:ext cx="272125" cy="2721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987430" y="23042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987430" y="2304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472830" y="28163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recommendations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72830" y="31821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reusable agent skills from the marketplace that match the problem being described.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27" name="Shape 22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337560" y="4498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337560" y="4498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22960" y="50109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discovery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22960" y="53766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governed, production-ready data products relevant to the use case, with owners and access paths.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373575" y="4114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34" name="Shape 28"/>
          <p:cNvSpPr/>
          <p:nvPr/>
        </p:nvSpPr>
        <p:spPr>
          <a:xfrm>
            <a:off x="4647895" y="43342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296" y="4481657"/>
            <a:ext cx="272125" cy="27212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162495" y="4498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162495" y="4498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4647895" y="50109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routing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4647895" y="53766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teams to the people who have solved similar problems — architects, data owners, model risk reviewers.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198510" y="4114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</p:spPr>
      </p:sp>
      <p:sp>
        <p:nvSpPr>
          <p:cNvPr id="41" name="Shape 34"/>
          <p:cNvSpPr/>
          <p:nvPr/>
        </p:nvSpPr>
        <p:spPr>
          <a:xfrm>
            <a:off x="8472830" y="43342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232" y="4481657"/>
            <a:ext cx="272125" cy="27212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987430" y="4498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0987430" y="4498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8472830" y="50109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library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8472830" y="53766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patterns and approved designs, so new solutions start from firm standards, not blank canvases.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succeeds where past catalogues quietly died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CATALOGUES DIE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63640" y="173736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DIFFERENT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3F4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86000"/>
            <a:ext cx="457200" cy="457200"/>
          </a:xfrm>
          <a:prstGeom prst="ellipse">
            <a:avLst/>
          </a:prstGeom>
          <a:solidFill>
            <a:srgbClr val="E5E7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404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03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pages decay and lose trust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514600"/>
            <a:ext cx="402336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63640" y="2103120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EEF4FE"/>
          </a:solidFill>
          <a:ln/>
        </p:spPr>
      </p:sp>
      <p:sp>
        <p:nvSpPr>
          <p:cNvPr id="12" name="Shape 9"/>
          <p:cNvSpPr/>
          <p:nvPr/>
        </p:nvSpPr>
        <p:spPr>
          <a:xfrm>
            <a:off x="6428232" y="2286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4048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asset has a named owner, a lifecycle gate and automated staleness checks — decay is detected, not discovered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3F4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246120"/>
            <a:ext cx="457200" cy="457200"/>
          </a:xfrm>
          <a:prstGeom prst="ellipse">
            <a:avLst/>
          </a:prstGeom>
          <a:solidFill>
            <a:srgbClr val="E5E7E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3649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reason to come back after launch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60720" y="3474720"/>
            <a:ext cx="402336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263640" y="3063240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EEF4FE"/>
          </a:solidFill>
          <a:ln/>
        </p:spPr>
      </p:sp>
      <p:sp>
        <p:nvSpPr>
          <p:cNvPr id="21" name="Shape 16"/>
          <p:cNvSpPr/>
          <p:nvPr/>
        </p:nvSpPr>
        <p:spPr>
          <a:xfrm>
            <a:off x="6428232" y="32461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36499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search answers real project questions, and the intake checkpoint puts the platform in the path of every new initiative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3F4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206240"/>
            <a:ext cx="457200" cy="457200"/>
          </a:xfrm>
          <a:prstGeom prst="ellipse">
            <a:avLst/>
          </a:prstGeom>
          <a:solidFill>
            <a:srgbClr val="E5E7E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3251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023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unrewarded extra work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760720" y="4434840"/>
            <a:ext cx="402336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263640" y="4023360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EEF4FE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32511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4023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is part of definition-of-done, auto-templated from project artefacts, and visibly credited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48640" y="498348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3F4F7"/>
          </a:solidFill>
          <a:ln/>
        </p:spPr>
      </p:sp>
      <p:sp>
        <p:nvSpPr>
          <p:cNvPr id="34" name="Shape 26"/>
          <p:cNvSpPr/>
          <p:nvPr/>
        </p:nvSpPr>
        <p:spPr>
          <a:xfrm>
            <a:off x="713232" y="5166360"/>
            <a:ext cx="457200" cy="457200"/>
          </a:xfrm>
          <a:prstGeom prst="ellipse">
            <a:avLst/>
          </a:prstGeom>
          <a:solidFill>
            <a:srgbClr val="E5E7EC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28523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2588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accountable when it drifts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760720" y="5394960"/>
            <a:ext cx="402336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263640" y="4983480"/>
            <a:ext cx="5376672" cy="822960"/>
          </a:xfrm>
          <a:prstGeom prst="roundRect">
            <a:avLst>
              <a:gd name="adj" fmla="val 7778"/>
            </a:avLst>
          </a:prstGeom>
          <a:solidFill>
            <a:srgbClr val="EEF4FE"/>
          </a:solidFill>
          <a:ln/>
        </p:spPr>
      </p:sp>
      <p:sp>
        <p:nvSpPr>
          <p:cNvPr id="39" name="Shape 30"/>
          <p:cNvSpPr/>
          <p:nvPr/>
        </p:nvSpPr>
        <p:spPr>
          <a:xfrm>
            <a:off x="6428232" y="5166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528523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040880" y="4983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funded product team with SLAs — and platform metrics on a standing governance-forum agenda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structural difference: past catalogues relied on goodwill. This one is wired into intake, definition-of-done and governance reporting.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makes the platform smarter — and stickier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62057" y="2577694"/>
            <a:ext cx="454547" cy="262433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01022" y="3852367"/>
            <a:ext cx="0" cy="524866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4562057" y="5389474"/>
            <a:ext cx="454547" cy="262433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38676" y="5389474"/>
            <a:ext cx="454547" cy="262433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54258" y="3852367"/>
            <a:ext cx="0" cy="524866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938676" y="2577694"/>
            <a:ext cx="454547" cy="262433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324612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246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86100" y="187452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9252" y="187452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58084" y="174650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8084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482" y="281178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634" y="28117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existing assets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81466" y="268376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466" y="26837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482" y="468630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634" y="46863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skills &amp;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81466" y="455828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466" y="45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86100" y="562356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9252" y="562356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faster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58084" y="549554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8084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2718" y="468630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35870" y="46863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what was built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334702" y="455828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4702" y="45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2718" y="2811780"/>
            <a:ext cx="1783080" cy="731520"/>
          </a:xfrm>
          <a:prstGeom prst="roundRect">
            <a:avLst>
              <a:gd name="adj" fmla="val 11250"/>
            </a:avLst>
          </a:prstGeom>
          <a:solidFill>
            <a:srgbClr val="EEF4FE"/>
          </a:solidFill>
          <a:ln w="12700">
            <a:solidFill>
              <a:srgbClr val="9FBC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5870" y="28117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grows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34702" y="2683764"/>
            <a:ext cx="310896" cy="31089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34702" y="26837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863840" y="2377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published project enriches the knowledge graph, so search and duplicate detection get sharper with use.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recommendations shorten the next delivery, which motivates the next publication.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 mean value grows faster than user count — the platform gets harder to work without.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FUTURE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tribal knowledge to an operating discipline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7490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17830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prior work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around; rely on who you know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one platform; duplicate check in minutes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92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 build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299923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page, new pipelines, new patterns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299923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from approved skills, data products, architectures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0390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knowledge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49040" y="38039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decks and wikis that decay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803904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searchable assets published at delivery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085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49040" y="46085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Re-reviewed from scratch per project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0" y="460857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controls and reusable evidence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132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view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5413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manual surveys of AI activity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541324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portfolio dashboard of the AI estate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value drivers leadership can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5328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initiatives stopped before funding; engineering hours redirected to net-new value.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91640" y="33832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prevented · hours saved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EEF4F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06640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25328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assemble from reusable skills and data products instead of building from scratch.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06640" y="33832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 </a:t>
            </a:r>
            <a:r>
              <a:rPr lang="en-US" sz="1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Time-to-delivery reduction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4315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AI at scale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773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 case visible, owned and control-mapped — audit and regulator ready by default.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91640" y="5623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 </a:t>
            </a:r>
            <a:r>
              <a:rPr lang="en-US" sz="1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estate inventoried &amp; owned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EEF4F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06640" y="4315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knowledge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06640" y="4773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 survives attrition and reorganisations; each project raises the baseline.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5623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 </a:t>
            </a:r>
            <a:r>
              <a:rPr lang="en-US" sz="11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rate per new project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sponsors, who promotes, who builds, who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29968"/>
            <a:ext cx="566928" cy="566928"/>
          </a:xfrm>
          <a:prstGeom prst="ellipse">
            <a:avLst/>
          </a:prstGeom>
          <a:solidFill>
            <a:srgbClr val="3240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1773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direction &amp; fund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AI leadership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Forum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unit MDs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11" name="Shape 8"/>
          <p:cNvSpPr/>
          <p:nvPr/>
        </p:nvSpPr>
        <p:spPr>
          <a:xfrm>
            <a:off x="3694176" y="2029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577" y="217736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94176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pull &amp; trust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94176" y="35204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Architecture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team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&amp; domain leads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Champions network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1072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17" name="Shape 13"/>
          <p:cNvSpPr/>
          <p:nvPr/>
        </p:nvSpPr>
        <p:spPr>
          <a:xfrm>
            <a:off x="6565392" y="2029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93" y="217736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65392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565392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the platform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565392" y="35204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knowledge engineers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engineering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community lead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62288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EF4FE"/>
          </a:solidFill>
          <a:ln/>
        </p:spPr>
      </p:sp>
      <p:sp>
        <p:nvSpPr>
          <p:cNvPr id="23" name="Shape 18"/>
          <p:cNvSpPr/>
          <p:nvPr/>
        </p:nvSpPr>
        <p:spPr>
          <a:xfrm>
            <a:off x="9436608" y="2029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4009" y="217736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36608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436608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&amp; consume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436608" y="35204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&amp; data scientists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&amp; compliance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project team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flows left to right: sponsorship creates air cover, promoters create local trust, the community creates the flywheel.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for every asset, decision and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391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83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23360" y="1783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strategy and funding; mandate the search-first checkpoint in AI intake; unblock cross-BU adoption.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8318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077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product team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023360" y="2651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roadmap, knowledge graph quality, duplicate-detection accuracy and platform SLAs.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45186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7764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5204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owners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023360" y="35204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skill, data product and use case has a named owner accountable for accuracy, lifecycle and support.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32054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6451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3891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partners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023360" y="4389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AI, model risk and compliance review assets once; approvals are inherited by every reuse.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18922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5138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2578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Champions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023360" y="52578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respected practitioners across BUs with early access; run local demos and feed back adoption blockers.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adoption as change management, not communications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EF4F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11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0632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with wins, not features: real stories of duplication found and time saved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the catalogue with 50+ high-quality use cases, skills and data products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 message: “search before you build”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78808" y="3749040"/>
            <a:ext cx="173736" cy="0"/>
          </a:xfrm>
          <a:prstGeom prst="line">
            <a:avLst/>
          </a:prstGeom>
          <a:noFill/>
          <a:ln w="25400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3575" y="178308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EF4FE"/>
          </a:solidFill>
          <a:ln/>
        </p:spPr>
      </p:sp>
      <p:sp>
        <p:nvSpPr>
          <p:cNvPr id="11" name="Text 9"/>
          <p:cNvSpPr/>
          <p:nvPr/>
        </p:nvSpPr>
        <p:spPr>
          <a:xfrm>
            <a:off x="4666183" y="2011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6183" y="2286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6183" y="26974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5–10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6183" y="30632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content engine and AI Office Hours create recurring touchpoints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Champions demo real reuse inside their own business units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Recognition: contributors credited in every story their assets appear 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3743" y="3749040"/>
            <a:ext cx="173736" cy="0"/>
          </a:xfrm>
          <a:prstGeom prst="line">
            <a:avLst/>
          </a:prstGeom>
          <a:noFill/>
          <a:ln w="25400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8510" y="178308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91118" y="2011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91118" y="22860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91118" y="26974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11+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91118" y="30632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Search-first checkpoint embedded in AI intake and funding gates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to the platform becomes part of definition-of-done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metrics reported in governance forums as standing agenda item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editorial rhythm that keeps the platform alive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</a:t>
            </a:r>
            <a:r>
              <a:rPr lang="en-US" sz="13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 wins, not features. Every piece of content is a reuse story — and after six months the archive itself becomes a searchable AI encyclopedia.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EEF4F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47912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1089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series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352044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formats readers learn to expect: myth-busting, skill spotlights, architecture breakdowns and a use-case-of-the-week with ROI.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3575" y="20574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EEF4FE"/>
          </a:solidFill>
          <a:ln/>
        </p:spPr>
      </p:sp>
      <p:sp>
        <p:nvSpPr>
          <p:cNvPr id="11" name="Shape 8"/>
          <p:cNvSpPr/>
          <p:nvPr/>
        </p:nvSpPr>
        <p:spPr>
          <a:xfrm>
            <a:off x="4666183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584" y="24791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6183" y="31089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6183" y="352044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minute episodes, never hour-long demos: “60-second skill” walk-throughs and “build less” before/after stories.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8510" y="20574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EEF4FE"/>
          </a:solidFill>
          <a:ln/>
        </p:spPr>
      </p:sp>
      <p:sp>
        <p:nvSpPr>
          <p:cNvPr id="16" name="Shape 12"/>
          <p:cNvSpPr/>
          <p:nvPr/>
        </p:nvSpPr>
        <p:spPr>
          <a:xfrm>
            <a:off x="849111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20" y="247912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1118" y="31089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clinics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1118" y="352044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Office Hours on Zoom: teams pitch an idea, we run a live duplicate search and they leave with assets and owners.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41B45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AI Report (savings, reuse, duplicates prevented) + Top Contributors + practitioner interview.   Full weekly calendar: Appendix A1.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&amp; RECOGNITION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spreads through people, not announcements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EF4F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773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Champions network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respected practitioners nominated across business units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to new capabilities; direct line to the product team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in content with real project outcomes from their own BU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trust spreads adoption far faster than top-down mandates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30952" cy="3977640"/>
          </a:xfrm>
          <a:prstGeom prst="roundRect">
            <a:avLst>
              <a:gd name="adj" fmla="val 1839"/>
            </a:avLst>
          </a:prstGeom>
          <a:solidFill>
            <a:srgbClr val="EEF4FE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29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217736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contribution visible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2940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Leaderboards: most-reused skills, most-viewed use cases, most helpful reviews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tied to identity: Skill Creator, Knowledge Builder, AI Architect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 made explicit: “your 3 published skills were reused 18 times”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surfaced through existing recognition and awards channels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is only safe if every asset is governed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49424" y="2308860"/>
            <a:ext cx="16459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32304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05456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308860"/>
            <a:ext cx="16459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5968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assigned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16752" y="2308860"/>
            <a:ext cx="16459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99632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&amp; risk review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0416" y="2308860"/>
            <a:ext cx="16459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83296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448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84080" y="2308860"/>
            <a:ext cx="164592" cy="0"/>
          </a:xfrm>
          <a:prstGeom prst="line">
            <a:avLst/>
          </a:prstGeom>
          <a:noFill/>
          <a:ln w="22225">
            <a:solidFill>
              <a:srgbClr val="9FBC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66960" y="1874520"/>
            <a:ext cx="1682496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0112" y="18745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&amp; retired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LIFECYCLE — every skill, data product and use case passes one gated pipeline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EF4FE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76472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17320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by contract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22960" y="43159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manifests describe every asset — inputs, outputs, data lineage, intended use — enforced automatically at submission.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73575" y="3429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EF4FE"/>
          </a:solidFill>
          <a:ln/>
        </p:spPr>
      </p:sp>
      <p:sp>
        <p:nvSpPr>
          <p:cNvPr id="28" name="Shape 25"/>
          <p:cNvSpPr/>
          <p:nvPr/>
        </p:nvSpPr>
        <p:spPr>
          <a:xfrm>
            <a:off x="4647895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767" y="3776472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42255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built in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4647895" y="43159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risk, privacy and compliance reviews happen once per asset; every reuse inherits the approval and its evidence trail.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198510" y="3429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EF4FE"/>
          </a:solidFill>
          <a:ln/>
        </p:spPr>
      </p:sp>
      <p:sp>
        <p:nvSpPr>
          <p:cNvPr id="33" name="Shape 29"/>
          <p:cNvSpPr/>
          <p:nvPr/>
        </p:nvSpPr>
        <p:spPr>
          <a:xfrm>
            <a:off x="847283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2" y="3776472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067190" y="37307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Regulator-ready estate</a:t>
            </a:r>
            <a:endParaRPr lang="en-US" sz="1450" dirty="0"/>
          </a:p>
        </p:txBody>
      </p:sp>
      <p:sp>
        <p:nvSpPr>
          <p:cNvPr id="36" name="Text 31"/>
          <p:cNvSpPr/>
          <p:nvPr/>
        </p:nvSpPr>
        <p:spPr>
          <a:xfrm>
            <a:off x="8472830" y="43159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doubles as the firm's living AI inventory — helping evidence readiness under the EU AI Act, GDPR, DPDPA, MAS TRM and FCA regimes.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— and what's designed in to prevent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235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39572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14884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stalls once launch novelty fades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214884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structural, not voluntary: intake checkpoint, definition-of-done, and a hard day-90 gate review against the dashboard.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84932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821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93522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content goes stale and loses trust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23560" y="2935224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owner per asset; lifecycle gate with automated staleness checks; publishing embedded in project close-out.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71316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9684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7216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 false positives frustrate teams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23560" y="3721608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(not blocking) for the first 90 days; detection precision tracked and reported as a platform KPI.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45770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7548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450799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overlap with existing catalogues and tools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23560" y="4507992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as the connective layer over existing repositories, not a replacement; owner alignment brokered at the AI Governance Forum.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244084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54223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54126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529437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seen as unrewarded extra work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623560" y="5294376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templates auto-generated from project artefacts; contribution credited through existing recognition channels.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leadership will see every month  (illustrative)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rate on new AI projects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9856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/>
        </p:spPr>
      </p:sp>
      <p:sp>
        <p:nvSpPr>
          <p:cNvPr id="8" name="Text 6"/>
          <p:cNvSpPr/>
          <p:nvPr/>
        </p:nvSpPr>
        <p:spPr>
          <a:xfrm>
            <a:off x="3648456" y="1920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48456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builds prevented year-to-date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20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–5.2 wks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19672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time-to-delivery reduction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62288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390888" y="1920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90888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cost avoidance run-rate</a:t>
            </a:r>
            <a:endParaRPr lang="en-US" sz="11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520440"/>
          <a:ext cx="67665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589520" y="3520440"/>
            <a:ext cx="4050792" cy="260604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to leadership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863840" y="411480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activity: savings, speed, duplicates prevented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units onboarded and % of AI estate inventoried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reused skills and data products by value delivered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1996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reconcile to the sizing model on p.4: 7 of ~18 annual duplicates caught (≈50% year-one capture), ≈800 hrs each, $120/hr blended.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sponsorship to enterprise habit in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831336" cy="0"/>
          </a:xfrm>
          <a:prstGeom prst="line">
            <a:avLst/>
          </a:prstGeom>
          <a:noFill/>
          <a:ln w="19050">
            <a:solidFill>
              <a:srgbClr val="9FBC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9092"/>
            <a:ext cx="173736" cy="1737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128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sponsorship &amp; name AI Champions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catalogue: 50+ curated use cases, skills, data products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duplicate detection on the live inventory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2 business units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575" y="1965960"/>
            <a:ext cx="3831336" cy="0"/>
          </a:xfrm>
          <a:prstGeom prst="line">
            <a:avLst/>
          </a:prstGeom>
          <a:noFill/>
          <a:ln w="19050">
            <a:solidFill>
              <a:srgbClr val="9FB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575" y="1879092"/>
            <a:ext cx="173736" cy="1737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73575" y="22128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73575" y="2596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73575" y="2971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weekly content engine &amp; AI Office Hours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Duplicate Detector stories published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programme live (leaderboards, badges)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3 further business units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8510" y="1965960"/>
            <a:ext cx="3611880" cy="0"/>
          </a:xfrm>
          <a:prstGeom prst="line">
            <a:avLst/>
          </a:prstGeom>
          <a:noFill/>
          <a:ln w="19050">
            <a:solidFill>
              <a:srgbClr val="9FB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8510" y="1879092"/>
            <a:ext cx="173736" cy="17373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198510" y="22128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8510" y="2596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98510" y="2971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Search-first checkpoint added to AI intake process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added to project definition-of-done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Executive AI Report to leadership forums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plan &amp; FY27 funding case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41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Day-90 gate: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reviews the executive dashboard and takes an explicit continue / scale / stop decision — funding beyond 90 days is earned, not assumed.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decisions that unlock the flywheel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7647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122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owner: </a:t>
            </a:r>
            <a:r>
              <a:rPr lang="en-US" sz="10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AI leadership &amp; business unit MDs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sponsorship and a named champion per business unit — a visible leadership signal that reuse is the expected path.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the checkpoint</a:t>
            </a:r>
            <a:r>
              <a:rPr lang="en-US" sz="1150" i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the decision that changes behaviour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5753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owner: </a:t>
            </a:r>
            <a:r>
              <a:rPr lang="en-US" sz="10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Forum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00200" y="3840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“search-first” step in AI intake and funding gates: no new AI initiative approved without a platform duplicate check.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6908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year 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503834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owner: </a:t>
            </a:r>
            <a:r>
              <a:rPr lang="en-US" sz="105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 executive &amp; Finance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5303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~$0.7m indicative year-one cost (4–5 FTE core team plus content production; breakdown in Appendix A2) — an estimated 2–3× return against the sized duplication pool, reviewed at the day-90 gate.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052560" y="685800"/>
            <a:ext cx="893826" cy="578358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6386" y="685800"/>
            <a:ext cx="893826" cy="73609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209276" y="1421892"/>
            <a:ext cx="630936" cy="683514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420606" y="2105406"/>
            <a:ext cx="788670" cy="157734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1264158"/>
            <a:ext cx="368046" cy="99898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0212" y="1421892"/>
            <a:ext cx="630936" cy="47320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209276" y="1895094"/>
            <a:ext cx="1261872" cy="210312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46386" y="685800"/>
            <a:ext cx="262890" cy="1419606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57920" y="1169518"/>
            <a:ext cx="189281" cy="189281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9851746" y="591160"/>
            <a:ext cx="189281" cy="189281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45572" y="1327252"/>
            <a:ext cx="189281" cy="189281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4636" y="2010766"/>
            <a:ext cx="189281" cy="189281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5966" y="2168500"/>
            <a:ext cx="189281" cy="189281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76508" y="1800454"/>
            <a:ext cx="189281" cy="189281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AI project must make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one faster.”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checking the platform becomes the firm's reflex, AI knowledge stops leaking away between projects — and starts compounding.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Architecture   |   Discussion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418320" y="4480560"/>
            <a:ext cx="777240" cy="50292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480560"/>
            <a:ext cx="777240" cy="6400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424160" y="5120640"/>
            <a:ext cx="548640" cy="59436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738360" y="5715000"/>
            <a:ext cx="685800" cy="13716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4983480"/>
            <a:ext cx="320040" cy="8686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5120640"/>
            <a:ext cx="548640" cy="4114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424160" y="5532120"/>
            <a:ext cx="1097280" cy="18288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4480560"/>
            <a:ext cx="228600" cy="123444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6024" y="490118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13264" y="439826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90504" y="5038344"/>
            <a:ext cx="164592" cy="164592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41864" y="563270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6064" y="576986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9144" y="5449824"/>
            <a:ext cx="164592" cy="164592"/>
          </a:xfrm>
          <a:prstGeom prst="ellipse">
            <a:avLst/>
          </a:prstGeom>
          <a:solidFill>
            <a:srgbClr val="9FBC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F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— Weekly content calendar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— Sizing assumptions &amp; indicative year-one cost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content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Myth Monday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83480" y="1737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blog busting one AI misconception with what already exists internally.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4984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28316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5877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Spotlight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25877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reusable skill: inputs, outputs, owner, where it's used, time saved.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0" y="258775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+ 60-sec video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78708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47872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478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4381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Hours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83480" y="34381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clinic: teams pitch ideas, we search for duplicates and reusable assets on the spot.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49840" y="343814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29100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98264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9826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28853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Breakdown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983480" y="428853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end-to-end: problem, data, models, agents, deployment, outcome.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149840" y="428853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+ video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79492"/>
            <a:ext cx="11091672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48656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24865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of the Week + Duplicate Detector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983480" y="51389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delivered use case with ROI — plus this week's duplication caught and merged.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49840" y="513892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 </a:t>
            </a:r>
            <a:r>
              <a:rPr lang="en-US" sz="120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AI Report (savings, reuse, duplicates prevented) + Top Contributors feature + practitioner interview.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assumptions &amp; indicative year-one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model assumptions (illustrative)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initiatives active per year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70832" y="22402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the inventory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54406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98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substantially overlapping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28986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70832" y="289864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via duplicate-detection pilot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4406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570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hours per duplicated build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55701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70832" y="3557016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3–5 recent projects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54406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153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fully-loaded rate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421538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$120/hr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70832" y="4215384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with Finance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54406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737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Year-one duplicate capture rate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487375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70832" y="4873752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ramp assumption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~18 duplicated builds × ~800 hrs × $120 ≈ $1.7m direct; $2m+ including repeated governance and maintenance.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year-one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0" y="2240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&amp; engineering team (4–5 FTE)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469880" y="22402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~$0.55m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2852928"/>
            <a:ext cx="52120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8986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 &amp; community lead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469880" y="28986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~$0.10m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0" y="3511296"/>
            <a:ext cx="5212080" cy="0"/>
          </a:xfrm>
          <a:prstGeom prst="line">
            <a:avLst/>
          </a:prstGeom>
          <a:noFill/>
          <a:ln w="9525">
            <a:solidFill>
              <a:srgbClr val="D8DF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5570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run costs (infra, tooling)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469880" y="3557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~$0.05m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0" y="434340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3434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~$0.7m total  →  2–3× year-one return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~50% capture of the sized duplication pool; upside from speed and governance efficiency not included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indicative placeholders for Finance validation — not a costed budget.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 |  Executive Strategy Proposal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3719</Words>
  <Application>Microsoft Macintosh PowerPoint</Application>
  <PresentationFormat>Widescreen</PresentationFormat>
  <Paragraphs>505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K Iype</cp:lastModifiedBy>
  <cp:revision>2</cp:revision>
  <dcterms:created xsi:type="dcterms:W3CDTF">2026-07-23T04:32:13Z</dcterms:created>
  <dcterms:modified xsi:type="dcterms:W3CDTF">2026-07-23T04:48:49Z</dcterms:modified>
</cp:coreProperties>
</file>