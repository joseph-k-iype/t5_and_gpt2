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ef808636854fad" /><Relationship Type="http://schemas.openxmlformats.org/officeDocument/2006/relationships/extended-properties" Target="/docProps/app.xml" Id="Rbc2379a8a2a24870" /><Relationship Type="http://schemas.openxmlformats.org/officeDocument/2006/relationships/officeDocument" Target="/ppt/presentation.xml" Id="Rf430c82456d14a11" /></Relationships>
</file>

<file path=ppt/presentation.xml><?xml version="1.0" encoding="utf-8"?>
<p:presentation xmlns:p="http://schemas.openxmlformats.org/presentationml/2006/main">
  <p:sldMasterIdLst>
    <p:sldMasterId xmlns:r="http://schemas.openxmlformats.org/officeDocument/2006/relationships" id="2147483648" r:id="R9c18f3ca776c441c"/>
  </p:sldMasterIdLst>
  <p:notesMasterIdLst>
    <p:notesMasterId xmlns:r="http://schemas.openxmlformats.org/officeDocument/2006/relationships" r:id="R6d0840d671ad4d47"/>
  </p:notesMasterIdLst>
  <p:sldIdLst>
    <p:sldId xmlns:r="http://schemas.openxmlformats.org/officeDocument/2006/relationships" id="256" r:id="Rf700d182aac549b2"/>
    <p:sldId xmlns:r="http://schemas.openxmlformats.org/officeDocument/2006/relationships" id="257" r:id="R5ba3b5eb454f4861"/>
    <p:sldId xmlns:r="http://schemas.openxmlformats.org/officeDocument/2006/relationships" id="258" r:id="Rbc977bcf67cb4451"/>
    <p:sldId xmlns:r="http://schemas.openxmlformats.org/officeDocument/2006/relationships" id="259" r:id="R02ae2281e4b84582"/>
    <p:sldId xmlns:r="http://schemas.openxmlformats.org/officeDocument/2006/relationships" id="260" r:id="R1654057b3dba4336"/>
    <p:sldId xmlns:r="http://schemas.openxmlformats.org/officeDocument/2006/relationships" id="261" r:id="Rab6d5db802fc4091"/>
    <p:sldId xmlns:r="http://schemas.openxmlformats.org/officeDocument/2006/relationships" id="262" r:id="Rd636afa9dfd646bd"/>
    <p:sldId xmlns:r="http://schemas.openxmlformats.org/officeDocument/2006/relationships" id="263" r:id="R3e727c9e35b943cc"/>
    <p:sldId xmlns:r="http://schemas.openxmlformats.org/officeDocument/2006/relationships" id="264" r:id="R255af4730d8845ed"/>
    <p:sldId xmlns:r="http://schemas.openxmlformats.org/officeDocument/2006/relationships" id="265" r:id="R61dc18079e324769"/>
    <p:sldId xmlns:r="http://schemas.openxmlformats.org/officeDocument/2006/relationships" id="266" r:id="R083f726d0e4742dc"/>
    <p:sldId xmlns:r="http://schemas.openxmlformats.org/officeDocument/2006/relationships" id="267" r:id="R460130cca54e4d8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a1e3ef1e444a3e" /><Relationship Type="http://schemas.openxmlformats.org/officeDocument/2006/relationships/slideMaster" Target="/ppt/slideMasters/slideMaster1.xml" Id="R9c18f3ca776c441c" /><Relationship Type="http://schemas.openxmlformats.org/officeDocument/2006/relationships/notesMaster" Target="/ppt/notesMasters/notesMaster1.xml" Id="R6d0840d671ad4d47" /><Relationship Type="http://schemas.openxmlformats.org/officeDocument/2006/relationships/presProps" Target="/ppt/presProps.xml" Id="R2ed4528af27a442f" /><Relationship Type="http://schemas.openxmlformats.org/officeDocument/2006/relationships/tableStyles" Target="/ppt/tableStyles.xml" Id="Rec550ea15ab64e6a" /><Relationship Type="http://schemas.openxmlformats.org/officeDocument/2006/relationships/slide" Target="/ppt/slides/slide1.xml" Id="Rf700d182aac549b2" /><Relationship Type="http://schemas.openxmlformats.org/officeDocument/2006/relationships/slide" Target="/ppt/slides/slide2.xml" Id="R5ba3b5eb454f4861" /><Relationship Type="http://schemas.openxmlformats.org/officeDocument/2006/relationships/slide" Target="/ppt/slides/slide3.xml" Id="Rbc977bcf67cb4451" /><Relationship Type="http://schemas.openxmlformats.org/officeDocument/2006/relationships/slide" Target="/ppt/slides/slide4.xml" Id="R02ae2281e4b84582" /><Relationship Type="http://schemas.openxmlformats.org/officeDocument/2006/relationships/slide" Target="/ppt/slides/slide5.xml" Id="R1654057b3dba4336" /><Relationship Type="http://schemas.openxmlformats.org/officeDocument/2006/relationships/slide" Target="/ppt/slides/slide6.xml" Id="Rab6d5db802fc4091" /><Relationship Type="http://schemas.openxmlformats.org/officeDocument/2006/relationships/slide" Target="/ppt/slides/slide7.xml" Id="Rd636afa9dfd646bd" /><Relationship Type="http://schemas.openxmlformats.org/officeDocument/2006/relationships/slide" Target="/ppt/slides/slide8.xml" Id="R3e727c9e35b943cc" /><Relationship Type="http://schemas.openxmlformats.org/officeDocument/2006/relationships/slide" Target="/ppt/slides/slide9.xml" Id="R255af4730d8845ed" /><Relationship Type="http://schemas.openxmlformats.org/officeDocument/2006/relationships/slide" Target="/ppt/slides/slide10.xml" Id="R61dc18079e324769" /><Relationship Type="http://schemas.openxmlformats.org/officeDocument/2006/relationships/slide" Target="/ppt/slides/slide11.xml" Id="R083f726d0e4742dc" /><Relationship Type="http://schemas.openxmlformats.org/officeDocument/2006/relationships/slide" Target="/ppt/slides/slide12.xml" Id="R460130cca54e4d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ba3574d7fe4d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902ef35b9f428c" /><Relationship Type="http://schemas.openxmlformats.org/officeDocument/2006/relationships/notesMaster" Target="/ppt/notesMasters/notesMaster1.xml" Id="R60b150fe2c3948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b13a974fb74f98" /><Relationship Type="http://schemas.openxmlformats.org/officeDocument/2006/relationships/notesMaster" Target="/ppt/notesMasters/notesMaster1.xml" Id="R9bb6a0aad1ba4a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902d173e874332" /><Relationship Type="http://schemas.openxmlformats.org/officeDocument/2006/relationships/notesMaster" Target="/ppt/notesMasters/notesMaster1.xml" Id="R80054508602e42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da51c8be7d417f" /><Relationship Type="http://schemas.openxmlformats.org/officeDocument/2006/relationships/notesMaster" Target="/ppt/notesMasters/notesMaster1.xml" Id="Rc7bfde2273ff43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f1ae6d9ee44ad8" /><Relationship Type="http://schemas.openxmlformats.org/officeDocument/2006/relationships/notesMaster" Target="/ppt/notesMasters/notesMaster1.xml" Id="Rbe451dfd19544b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d726bebaac454c" /><Relationship Type="http://schemas.openxmlformats.org/officeDocument/2006/relationships/notesMaster" Target="/ppt/notesMasters/notesMaster1.xml" Id="R537811998d474e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688d8c301a46d5" /><Relationship Type="http://schemas.openxmlformats.org/officeDocument/2006/relationships/notesMaster" Target="/ppt/notesMasters/notesMaster1.xml" Id="Ra4eb14d5695749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47bf4a142444b2" /><Relationship Type="http://schemas.openxmlformats.org/officeDocument/2006/relationships/notesMaster" Target="/ppt/notesMasters/notesMaster1.xml" Id="R44b932f4c0044d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b0b50db0ee46b2" /><Relationship Type="http://schemas.openxmlformats.org/officeDocument/2006/relationships/notesMaster" Target="/ppt/notesMasters/notesMaster1.xml" Id="R6f27a3513c1444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90c75f244c440a" /><Relationship Type="http://schemas.openxmlformats.org/officeDocument/2006/relationships/notesMaster" Target="/ppt/notesMasters/notesMaster1.xml" Id="R4e1eca722d4443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90817e23614805" /><Relationship Type="http://schemas.openxmlformats.org/officeDocument/2006/relationships/notesMaster" Target="/ppt/notesMasters/notesMaster1.xml" Id="R318fcb55e3194f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a8718a170a4a30" /><Relationship Type="http://schemas.openxmlformats.org/officeDocument/2006/relationships/notesMaster" Target="/ppt/notesMasters/notesMaster1.xml" Id="R5beb12c2010a4c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is a reusable platform for maintaining context across systems and agent sessions. The graph provides common subject identity and explicit relationships between physical resources, source claims, definitions, evidence, registered capabilities and shared work. It supports developer tools, consumer experiences and organization workbenches through the same core. Models and chat clients can change without forcing a team to rebuild every definition or abandon its investigation history. The intended executive outcome is a maintained context asset with a clear owner and an inspectable basis for agent work. Disconnected identity and meaning create repeated integration work. Evidence separated from conclusions makes review harder. Client-specific memory loses continuity, while changed sources can leave old assessments circulating without visible consequences. Business value needs validation in a bounded pilot rather than a platform-wide rollout.</a:t>
            </a:r>
          </a:p>
          <a:p xmlns:a="http://schemas.openxmlformats.org/drawingml/2006/main">
            <a:r>
              <a:t/>
            </a:r>
          </a:p>
          <a:p xmlns:a="http://schemas.openxmlformats.org/drawingml/2006/main">
            <a:r>
              <a:t>The brand metaphor is one semantic core connecting separate knowledge planes. This is a generated conceptual illustration, not a product image or evidence of a deployed system. Generated using the built-in image_gen tool. Workspace asset: artifacts/executive/assets/semantic-core-hero.png. Prompt: a white ceramic semantic core linked by one vermilion thread to five etched glass planes representing records, documents, meaning, evidence and work, photographed on warm ivory in a Swiss editorial style. No words, logos, neon or floating spheres.</a:t>
            </a:r>
          </a:p>
          <a:p xmlns:a="http://schemas.openxmlformats.org/drawingml/2006/main">
            <a:r>
              <a:t/>
            </a:r>
          </a:p>
          <a:p xmlns:a="http://schemas.openxmlformats.org/drawingml/2006/main">
            <a:r>
              <a:t>Visual reference credits: 12ui corpus reference set 20261012-0, https://12ui.com. Generated visual references used as design inspiration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is the relationship authority, not a replacement for every source system. Ingestion adapters capture structured records, knowledge bundles and document versions, then stage mappings for validation and steward review. Core ontology types compose with namespaced domain modules such as software.security and finance.us_disputes. Reviewed bindings relate those types to physical resource descriptors and source-owned analytical definitions. Google OKF is a portable Markdown knowledge format. Frictionless descriptors represent packaged data resources. dbt and MetricFlow preserve analytical definition ownership and compile reviewed queries. Source and result bytes live in an S3-compatible artifact store such as MinIO or an equivalent deployment choice. Redis supplies cache and work delivery while the graph retains authoritative jobs, revisions and dependencies. A context and capability API serves clients through MCP and HTTP. GraphRAG-SDK assists retrieval and candidate extraction, while LangChain, LlamaIndex, Graphiti, Cognee and QueryWeaver are integration targets subject to the same scope and review contract. Each workspace uses an isolated graph. Derived artifacts inherit input restrictions. A local rollout can start with one mutation coordinator before designing production coordination. Open formats do not eliminate upstream deployment and licence review.</a:t>
            </a:r>
          </a:p>
          <a:p xmlns:a="http://schemas.openxmlformats.org/drawingml/2006/main">
            <a:r>
              <a:t/>
            </a:r>
          </a:p>
          <a:p xmlns:a="http://schemas.openxmlformats.org/drawingml/2006/main">
            <a:r>
              <a:t>Sources and design references</a:t>
            </a:r>
          </a:p>
          <a:p xmlns:a="http://schemas.openxmlformats.org/drawingml/2006/main">
            <a:r>
              <a:t>https://github.com/GoogleCloudPlatform/open-knowledge-format/blob/main/SPEC.md</a:t>
            </a:r>
          </a:p>
          <a:p xmlns:a="http://schemas.openxmlformats.org/drawingml/2006/main">
            <a:r>
              <a:t>https://datapackage.org/standard/data-package/</a:t>
            </a:r>
          </a:p>
          <a:p xmlns:a="http://schemas.openxmlformats.org/drawingml/2006/main">
            <a:r>
              <a:t>https://docs.getdbt.com/docs/build/semantic-models</a:t>
            </a:r>
          </a:p>
          <a:p xmlns:a="http://schemas.openxmlformats.org/drawingml/2006/main">
            <a:r>
              <a:t>https://github.com/FalkorDB/GraphRAG-SDK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customer workspace has six connected product areas. The knowledge catalogue lets customers discover reusable concepts, datasets, documents, procedures and context packs, with owners, versions, source evidence and review status. The knowledge builder maps structured and unstructured sources into a governed context pack, binds identities to ontology types and previews validation before publication. Reauthoring helps customers revise Markdown knowledge, mappings and procedures through reviewed source patches. It preserves attribution, distinguishes generated material from authored knowledge and shows the dependents affected by a change. The ontology area maintains core and domain modules, allowed entity types, predicates, endpoints and identity rules. Additive proposals require steward review, while changes to established meanings require a migration. Agent integrations expose the same scoped context and capability contract through MCP and HTTP, so customers can connect different copilots and harnesses. Memory preserves semantic assertions, session experience, approved procedures, findings and pending tasks. Handoffs retain their receipt, constraints and unresolved questions when another helper resumes. All six areas share graph identities and dependency references rather than maintaining competing semantic authorities. Catalogue visibility and exports respect source scope. Reauthoring does not silently accept model output, and a successful handoff does not establish the truth of its claims. The intended customer benefits are easier discovery, reusable context preparation, safer knowledge maintenance, consistent meanings, client choice and continuity. These are proposed benefits to measure through the pilot. The interface is an illustrative product view rather than an existing product 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workflow connects governance, retrieval, execution and memory. Sources are immutable versions with explicit locators. Deterministic identifiers resolve exact matches, while similarity only proposes candidates. Models may suggest mappings, assertions or ontology additions, but a steward reviews admission. Approval means an attributed assertion is available in governed context, not that a disputed allegation becomes true. A context request resolves anchors, applies workspace and case scope, then selects assertions and bounded supporting evidence. If required support is unavailable or exceeds the context budget, the package reports incompleteness. The receipt preserves the chosen versions and selection reasons. A registered capability uses typed parameters and authorized captured inputs, and retains its output evidence. Agents record episodic findings separately from governed semantic assertions and approved procedures. A handoff transfers responsibility with its constraints and open questions. Corrections create new versions and mark only the declared dependents as stale. Shortest paths, centrality and connected-component tools can assist review over authorized projections. Structural importance cannot establish factual credibility. Cypher and the FalkorDB Browser provide inspection surfaces with a separate administrator boundary.</a:t>
            </a:r>
          </a:p>
          <a:p xmlns:a="http://schemas.openxmlformats.org/drawingml/2006/main">
            <a:r>
              <a:t/>
            </a:r>
          </a:p>
          <a:p xmlns:a="http://schemas.openxmlformats.org/drawingml/2006/main">
            <a:r>
              <a:t>Sources and design references</a:t>
            </a:r>
          </a:p>
          <a:p xmlns:a="http://schemas.openxmlformats.org/drawingml/2006/main">
            <a:r>
              <a:t>https://docs.falkordb.com/algorithms/</a:t>
            </a:r>
          </a:p>
          <a:p xmlns:a="http://schemas.openxmlformats.org/drawingml/2006/main">
            <a:r>
              <a:t>https://docs.falkordb.com/cypher/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applications should demonstrate platform reuse rather than two disconnected products. An OSS pack connects a package version, advisory record, deployment configuration and maintainer assessment. A consumer financial-dispute pack connects transactions, correspondence, source guidance and a case timeline. Both use the core Source, Entity, Assertion, Evidence and Task model. Their domain terms and relationships belong to namespaced modules and declarative mappings. The software workflow organizes security evidence and uncertainty without certifying exploitability or applying autonomous remediation. The financial workflow preserves competing statements and missing evidence without deciding legal deadlines or refund entitlement. Public complaint metadata provides category context and never joins to private individual identities. Synthetic examples are suitable for demonstrations of contradiction and access scope. A later heat-service pack can connect a service registry to changing seasonal notices and test temporal context. Consumer experiences can hide ontology complexity behind a clear timeline, while maintainers and enterprise reviewers use the workbench to inspect support and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case is a set of hypotheses. A shared contract and portable domain modules may reduce duplicated integration work. Retained receipts, evidence and handoffs may reduce the time to resume an investigation. Declared dependencies and source locators may make review and correction faster. Portable knowledge and run bundles may lower the effort of changing clients or providers. These outcomes have costs in ontology curation, source maintenance, adapter reliability, query latency and operational controls. Establish a baseline using comparable investigations and source material. Connect two clients so continuity is part of the test, then include a source correction, unresolved conflict and restart. Measure engineering effort per additional client, time to resume, evidence resolution, reviewer effort, access failures and operating cost. The product proposal combines a self-hosted core with consumer or organizational experiences. Potential commercial offerings include managed operation, supported connectors, integration services and domain-pack stewardship, subject to customer validation and licence review. The requested decision is to sponsor a bounded pilot with a named business owner and domain steward. Expand only if its net value justifies maintaining the shared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Customers discover concepts, datasets, documents, procedures and context packs without reconstructing which source owns each definition.</a:t>
            </a:r>
          </a:p>
          <a:p xmlns:a="http://schemas.openxmlformats.org/drawingml/2006/main">
            <a:r>
              <a:t/>
            </a:r>
          </a:p>
          <a:p xmlns:a="http://schemas.openxmlformats.org/drawingml/2006/main">
            <a:r>
              <a:t>Customer actions</a:t>
            </a:r>
          </a:p>
          <a:p xmlns:a="http://schemas.openxmlformats.org/drawingml/2006/main">
            <a:r>
              <a:t>Search by subject, domain, asset type or owner.</a:t>
            </a:r>
          </a:p>
          <a:p xmlns:a="http://schemas.openxmlformats.org/drawingml/2006/main">
            <a:r>
              <a:t>Inspect linked evidence, versions, review state and freshness.</a:t>
            </a:r>
          </a:p>
          <a:p xmlns:a="http://schemas.openxmlformats.org/drawingml/2006/main">
            <a:r>
              <a:t>Follow relationships to definitions, capabilities and pending work.</a:t>
            </a:r>
          </a:p>
          <a:p xmlns:a="http://schemas.openxmlformats.org/drawingml/2006/main">
            <a:r>
              <a:t/>
            </a:r>
          </a:p>
          <a:p xmlns:a="http://schemas.openxmlformats.org/drawingml/2006/main">
            <a:r>
              <a:t>Graph role and example</a:t>
            </a:r>
          </a:p>
          <a:p xmlns:a="http://schemas.openxmlformats.org/drawingml/2006/main">
            <a:r>
              <a:t>A maintainer opens a deployment asset and follows its package, advisory, assessment and open task.</a:t>
            </a:r>
          </a:p>
          <a:p xmlns:a="http://schemas.openxmlformats.org/drawingml/2006/main">
            <a:r>
              <a:t/>
            </a:r>
          </a:p>
          <a:p xmlns:a="http://schemas.openxmlformats.org/drawingml/2006/main">
            <a:r>
              <a:t>Expected benefit</a:t>
            </a:r>
          </a:p>
          <a:p xmlns:a="http://schemas.openxmlformats.org/drawingml/2006/main">
            <a:r>
              <a:t>A reusable asset view preserves meaning and provenance. Customer value is easier discovery and fewer repeated source searches.</a:t>
            </a:r>
          </a:p>
          <a:p xmlns:a="http://schemas.openxmlformats.org/drawingml/2006/main">
            <a:r>
              <a:t/>
            </a:r>
          </a:p>
          <a:p xmlns:a="http://schemas.openxmlformats.org/drawingml/2006/main">
            <a:r>
              <a:t>Governance</a:t>
            </a:r>
          </a:p>
          <a:p xmlns:a="http://schemas.openxmlformats.org/drawingml/2006/main">
            <a:r>
              <a:t>Catalogue search, metadata, backlinks and export must respect the caller’s source and case scopes.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Customers bind records and document passages to shared subject identities, ontology types and evidence requirements before publishing.</a:t>
            </a:r>
          </a:p>
          <a:p xmlns:a="http://schemas.openxmlformats.org/drawingml/2006/main">
            <a:r>
              <a:t/>
            </a:r>
          </a:p>
          <a:p xmlns:a="http://schemas.openxmlformats.org/drawingml/2006/main">
            <a:r>
              <a:t>Customer actions</a:t>
            </a:r>
          </a:p>
          <a:p xmlns:a="http://schemas.openxmlformats.org/drawingml/2006/main">
            <a:r>
              <a:t>Capture sources and pin their exact module versions.</a:t>
            </a:r>
          </a:p>
          <a:p xmlns:a="http://schemas.openxmlformats.org/drawingml/2006/main">
            <a:r>
              <a:t>Map fields and source spans to typed assertions and identities.</a:t>
            </a:r>
          </a:p>
          <a:p xmlns:a="http://schemas.openxmlformats.org/drawingml/2006/main">
            <a:r>
              <a:t>Preview validation and obtain steward review before publication.</a:t>
            </a:r>
          </a:p>
          <a:p xmlns:a="http://schemas.openxmlformats.org/drawingml/2006/main">
            <a:r>
              <a:t/>
            </a:r>
          </a:p>
          <a:p xmlns:a="http://schemas.openxmlformats.org/drawingml/2006/main">
            <a:r>
              <a:t>Graph role and example</a:t>
            </a:r>
          </a:p>
          <a:p xmlns:a="http://schemas.openxmlformats.org/drawingml/2006/main">
            <a:r>
              <a:t>A builder binds package inventory and advisory text to the same deployment without silently merging similar names.</a:t>
            </a:r>
          </a:p>
          <a:p xmlns:a="http://schemas.openxmlformats.org/drawingml/2006/main">
            <a:r>
              <a:t/>
            </a:r>
          </a:p>
          <a:p xmlns:a="http://schemas.openxmlformats.org/drawingml/2006/main">
            <a:r>
              <a:t>Expected benefit</a:t>
            </a:r>
          </a:p>
          <a:p xmlns:a="http://schemas.openxmlformats.org/drawingml/2006/main">
            <a:r>
              <a:t>A versioned context pack combines reviewed meanings, source evidence and approved procedures. Customer value is reusable preparation across clients.</a:t>
            </a:r>
          </a:p>
          <a:p xmlns:a="http://schemas.openxmlformats.org/drawingml/2006/main">
            <a:r>
              <a:t/>
            </a:r>
          </a:p>
          <a:p xmlns:a="http://schemas.openxmlformats.org/drawingml/2006/main">
            <a:r>
              <a:t>Governance</a:t>
            </a:r>
          </a:p>
          <a:p xmlns:a="http://schemas.openxmlformats.org/drawingml/2006/main">
            <a:r>
              <a:t>Models propose mappings and extractions. Invalid batches remain staged and do not partially enter active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workspace separates authored knowledge from generated descriptions and lets a steward compare proposed revisions with their supporting sources.</a:t>
            </a:r>
          </a:p>
          <a:p xmlns:a="http://schemas.openxmlformats.org/drawingml/2006/main">
            <a:r>
              <a:t/>
            </a:r>
          </a:p>
          <a:p xmlns:a="http://schemas.openxmlformats.org/drawingml/2006/main">
            <a:r>
              <a:t>Customer actions</a:t>
            </a:r>
          </a:p>
          <a:p xmlns:a="http://schemas.openxmlformats.org/drawingml/2006/main">
            <a:r>
              <a:t>Edit Markdown knowledge, mappings or approved procedures.</a:t>
            </a:r>
          </a:p>
          <a:p xmlns:a="http://schemas.openxmlformats.org/drawingml/2006/main">
            <a:r>
              <a:t>Compare the proposed diff with source spans and validation.</a:t>
            </a:r>
          </a:p>
          <a:p xmlns:a="http://schemas.openxmlformats.org/drawingml/2006/main">
            <a:r>
              <a:t>Publish a new version and inspect affected receipts and tasks.</a:t>
            </a:r>
          </a:p>
          <a:p xmlns:a="http://schemas.openxmlformats.org/drawingml/2006/main">
            <a:r>
              <a:t/>
            </a:r>
          </a:p>
          <a:p xmlns:a="http://schemas.openxmlformats.org/drawingml/2006/main">
            <a:r>
              <a:t>Graph role and example</a:t>
            </a:r>
          </a:p>
          <a:p xmlns:a="http://schemas.openxmlformats.org/drawingml/2006/main">
            <a:r>
              <a:t>A corrected deployment assumption produces a new version and identifies the assessment that needs refreshed evidence.</a:t>
            </a:r>
          </a:p>
          <a:p xmlns:a="http://schemas.openxmlformats.org/drawingml/2006/main">
            <a:r>
              <a:t/>
            </a:r>
          </a:p>
          <a:p xmlns:a="http://schemas.openxmlformats.org/drawingml/2006/main">
            <a:r>
              <a:t>Expected benefit</a:t>
            </a:r>
          </a:p>
          <a:p xmlns:a="http://schemas.openxmlformats.org/drawingml/2006/main">
            <a:r>
              <a:t>Knowledge can evolve without silently overwriting history. Customer value is clearer maintenance and focused review of affected conclusions.</a:t>
            </a:r>
          </a:p>
          <a:p xmlns:a="http://schemas.openxmlformats.org/drawingml/2006/main">
            <a:r>
              <a:t/>
            </a:r>
          </a:p>
          <a:p xmlns:a="http://schemas.openxmlformats.org/drawingml/2006/main">
            <a:r>
              <a:t>Governance</a:t>
            </a:r>
          </a:p>
          <a:p xmlns:a="http://schemas.openxmlformats.org/drawingml/2006/main">
            <a:r>
              <a:t>Source-owned definitions remain canonical. Ontology reinterpretations require migration, and model output never activates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Customers compose curated modules with domain extensions while preserving shared concepts and explicit namespaces.</a:t>
            </a:r>
          </a:p>
          <a:p xmlns:a="http://schemas.openxmlformats.org/drawingml/2006/main">
            <a:r>
              <a:t/>
            </a:r>
          </a:p>
          <a:p xmlns:a="http://schemas.openxmlformats.org/drawingml/2006/main">
            <a:r>
              <a:t>Customer actions</a:t>
            </a:r>
          </a:p>
          <a:p xmlns:a="http://schemas.openxmlformats.org/drawingml/2006/main">
            <a:r>
              <a:t>Inspect allowed types, properties, predicates and endpoints.</a:t>
            </a:r>
          </a:p>
          <a:p xmlns:a="http://schemas.openxmlformats.org/drawingml/2006/main">
            <a:r>
              <a:t>Review proposed additions with evidence and affected records.</a:t>
            </a:r>
          </a:p>
          <a:p xmlns:a="http://schemas.openxmlformats.org/drawingml/2006/main">
            <a:r>
              <a:t>Pin exact module versions and plan semantic migrations.</a:t>
            </a:r>
          </a:p>
          <a:p xmlns:a="http://schemas.openxmlformats.org/drawingml/2006/main">
            <a:r>
              <a:t/>
            </a:r>
          </a:p>
          <a:p xmlns:a="http://schemas.openxmlformats.org/drawingml/2006/main">
            <a:r>
              <a:t>Graph role and example</a:t>
            </a:r>
          </a:p>
          <a:p xmlns:a="http://schemas.openxmlformats.org/drawingml/2006/main">
            <a:r>
              <a:t>The core Entity, Source, Assertion and Task types compose with software.security or finance.us_disputes modules.</a:t>
            </a:r>
          </a:p>
          <a:p xmlns:a="http://schemas.openxmlformats.org/drawingml/2006/main">
            <a:r>
              <a:t/>
            </a:r>
          </a:p>
          <a:p xmlns:a="http://schemas.openxmlformats.org/drawingml/2006/main">
            <a:r>
              <a:t>Expected benefit</a:t>
            </a:r>
          </a:p>
          <a:p xmlns:a="http://schemas.openxmlformats.org/drawingml/2006/main">
            <a:r>
              <a:t>Shared definitions reduce ambiguous interpretation across sources and agents. Customer value is consistent terminology and explicit governance.</a:t>
            </a:r>
          </a:p>
          <a:p xmlns:a="http://schemas.openxmlformats.org/drawingml/2006/main">
            <a:r>
              <a:t/>
            </a:r>
          </a:p>
          <a:p xmlns:a="http://schemas.openxmlformats.org/drawingml/2006/main">
            <a:r>
              <a:t>Governance</a:t>
            </a:r>
          </a:p>
          <a:p xmlns:a="http://schemas.openxmlformats.org/drawingml/2006/main">
            <a:r>
              <a:t>Additive proposals require steward activation. Changes to established meanings, identity rules or required fields need explicit migration.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Customers connect multiple clients to a common contract for context, evidence, candidate knowledge, memory and handoffs.</a:t>
            </a:r>
          </a:p>
          <a:p xmlns:a="http://schemas.openxmlformats.org/drawingml/2006/main">
            <a:r>
              <a:t/>
            </a:r>
          </a:p>
          <a:p xmlns:a="http://schemas.openxmlformats.org/drawingml/2006/main">
            <a:r>
              <a:t>Customer actions</a:t>
            </a:r>
          </a:p>
          <a:p xmlns:a="http://schemas.openxmlformats.org/drawingml/2006/main">
            <a:r>
              <a:t>Configure a scoped client identity and permitted tools.</a:t>
            </a:r>
          </a:p>
          <a:p xmlns:a="http://schemas.openxmlformats.org/drawingml/2006/main">
            <a:r>
              <a:t>Retrieve a receipt and inspect evidence before acting.</a:t>
            </a:r>
          </a:p>
          <a:p xmlns:a="http://schemas.openxmlformats.org/drawingml/2006/main">
            <a:r>
              <a:t>Record findings and transfer tasks with explicit instructions.</a:t>
            </a:r>
          </a:p>
          <a:p xmlns:a="http://schemas.openxmlformats.org/drawingml/2006/main">
            <a:r>
              <a:t/>
            </a:r>
          </a:p>
          <a:p xmlns:a="http://schemas.openxmlformats.org/drawingml/2006/main">
            <a:r>
              <a:t>Graph role and example</a:t>
            </a:r>
          </a:p>
          <a:p xmlns:a="http://schemas.openxmlformats.org/drawingml/2006/main">
            <a:r>
              <a:t>Codex CLI, OpenCode and Claude Code are harness targets. Framework and memory adapters use the same governed contract.</a:t>
            </a:r>
          </a:p>
          <a:p xmlns:a="http://schemas.openxmlformats.org/drawingml/2006/main">
            <a:r>
              <a:t/>
            </a:r>
          </a:p>
          <a:p xmlns:a="http://schemas.openxmlformats.org/drawingml/2006/main">
            <a:r>
              <a:t>Expected benefit</a:t>
            </a:r>
          </a:p>
          <a:p xmlns:a="http://schemas.openxmlformats.org/drawingml/2006/main">
            <a:r>
              <a:t>Knowledge and unfinished work travel across clients without depending on one chat transcript. Customer value is client choice and less repeated integration.</a:t>
            </a:r>
          </a:p>
          <a:p xmlns:a="http://schemas.openxmlformats.org/drawingml/2006/main">
            <a:r>
              <a:t/>
            </a:r>
          </a:p>
          <a:p xmlns:a="http://schemas.openxmlformats.org/drawingml/2006/main">
            <a:r>
              <a:t>Governance</a:t>
            </a:r>
          </a:p>
          <a:p xmlns:a="http://schemas.openxmlformats.org/drawingml/2006/main">
            <a:r>
              <a:t>The principal determines workspace and access. Agent arguments cannot select another tenant, and activation remains steward-only.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Customers distinguish accepted assertions from observations and summaries, and retain approved procedures separately from unfinished task state.</a:t>
            </a:r>
          </a:p>
          <a:p xmlns:a="http://schemas.openxmlformats.org/drawingml/2006/main">
            <a:r>
              <a:t/>
            </a:r>
          </a:p>
          <a:p xmlns:a="http://schemas.openxmlformats.org/drawingml/2006/main">
            <a:r>
              <a:t>Customer actions</a:t>
            </a:r>
          </a:p>
          <a:p xmlns:a="http://schemas.openxmlformats.org/drawingml/2006/main">
            <a:r>
              <a:t>Save findings, attempts and unanswered questions with support.</a:t>
            </a:r>
          </a:p>
          <a:p xmlns:a="http://schemas.openxmlformats.org/drawingml/2006/main">
            <a:r>
              <a:t>Reopen receipts and checkpoints after a session restart.</a:t>
            </a:r>
          </a:p>
          <a:p xmlns:a="http://schemas.openxmlformats.org/drawingml/2006/main">
            <a:r>
              <a:t>Accept a handoff with constraints, ownership and the next step.</a:t>
            </a:r>
          </a:p>
          <a:p xmlns:a="http://schemas.openxmlformats.org/drawingml/2006/main">
            <a:r>
              <a:t/>
            </a:r>
          </a:p>
          <a:p xmlns:a="http://schemas.openxmlformats.org/drawingml/2006/main">
            <a:r>
              <a:t>Graph role and example</a:t>
            </a:r>
          </a:p>
          <a:p xmlns:a="http://schemas.openxmlformats.org/drawingml/2006/main">
            <a:r>
              <a:t>A support team receives a private dispute timeline with a receipt and missing-evidence task, without exposing it to public readers.</a:t>
            </a:r>
          </a:p>
          <a:p xmlns:a="http://schemas.openxmlformats.org/drawingml/2006/main">
            <a:r>
              <a:t/>
            </a:r>
          </a:p>
          <a:p xmlns:a="http://schemas.openxmlformats.org/drawingml/2006/main">
            <a:r>
              <a:t>Expected benefit</a:t>
            </a:r>
          </a:p>
          <a:p xmlns:a="http://schemas.openxmlformats.org/drawingml/2006/main">
            <a:r>
              <a:t>An investigation resumes with its history and uncertainty intact. Customer value is continuity and fewer repeated explanations.</a:t>
            </a:r>
          </a:p>
          <a:p xmlns:a="http://schemas.openxmlformats.org/drawingml/2006/main">
            <a:r>
              <a:t/>
            </a:r>
          </a:p>
          <a:p xmlns:a="http://schemas.openxmlformats.org/drawingml/2006/main">
            <a:r>
              <a:t>Governance</a:t>
            </a:r>
          </a:p>
          <a:p xmlns:a="http://schemas.openxmlformats.org/drawingml/2006/main">
            <a:r>
              <a:t>Derived memory inherits source restrictions. Corrections mark declared dependents stale, and handoff acceptance does not approve factual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804fb3215c41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4abcf21cef44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d80873844e4b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70173cc1844a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a2f3a282d3245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6ce9b514e94d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3781AD-4C1E-4885-B0C1-472FB181EB1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965724-177F-4573-A80F-33CF989E8C3D}"/>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939D8A-FD23-4222-94B6-B29209168415}"/>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ED8FB4-BBFB-4912-B9F9-18A599DAEC0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D1A114-7CE6-4374-84F3-826224AC445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C30BC7-69F6-439D-9431-583D35003F7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9BE042-8C5D-42A1-B5D0-28B4EBC5F06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81B1A7D-46E1-4C8E-88E9-518A7E3669CE}"/>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7FC8DC-B710-4991-8DF1-E564D5D346F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15941C-C881-4E0B-A5D5-05A8685E283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8d93df97a44160" /><Relationship Type="http://schemas.openxmlformats.org/officeDocument/2006/relationships/slideLayout" Target="/ppt/slideLayouts/slideLayout1.xml" Id="R3563a021b74447f0" /><Relationship Type="http://schemas.openxmlformats.org/officeDocument/2006/relationships/slideLayout" Target="/ppt/slideLayouts/slideLayout2.xml" Id="R8e8c982d7b934a00" /><Relationship Type="http://schemas.openxmlformats.org/officeDocument/2006/relationships/slideLayout" Target="/ppt/slideLayouts/slideLayout3.xml" Id="Rd85c1bf90c4948ed" /><Relationship Type="http://schemas.openxmlformats.org/officeDocument/2006/relationships/slideLayout" Target="/ppt/slideLayouts/slideLayout4.xml" Id="R03fcc86662994fab" /><Relationship Type="http://schemas.openxmlformats.org/officeDocument/2006/relationships/slideLayout" Target="/ppt/slideLayouts/slideLayout5.xml" Id="Rdbd79dad61d44729" /><Relationship Type="http://schemas.openxmlformats.org/officeDocument/2006/relationships/slideLayout" Target="/ppt/slideLayouts/slideLayout6.xml" Id="R2f95081adf2b4e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63a021b74447f0"/>
    <p:sldLayoutId xmlns:r="http://schemas.openxmlformats.org/officeDocument/2006/relationships" id="2147483650" r:id="R8e8c982d7b934a00"/>
    <p:sldLayoutId xmlns:r="http://schemas.openxmlformats.org/officeDocument/2006/relationships" id="2147483651" r:id="Rd85c1bf90c4948ed"/>
    <p:sldLayoutId xmlns:r="http://schemas.openxmlformats.org/officeDocument/2006/relationships" id="2147483652" r:id="R03fcc86662994fab"/>
    <p:sldLayoutId xmlns:r="http://schemas.openxmlformats.org/officeDocument/2006/relationships" id="2147483653" r:id="Rdbd79dad61d44729"/>
    <p:sldLayoutId xmlns:r="http://schemas.openxmlformats.org/officeDocument/2006/relationships" id="2147483654" r:id="R2f95081adf2b4e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6.xml" Id="R0da36fadc1cd4423" /><ns0:Relationship Type="http://schemas.openxmlformats.org/officeDocument/2006/relationships/image" Target="/ppt/media/image.png" Id="R06252b99e424474d" /><ns0:Relationship Type="http://schemas.openxmlformats.org/officeDocument/2006/relationships/notesSlide" Target="/ppt/notesSlides/notesSlide1.xml" Id="R3610c6fb6f324f71"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6.xml" Id="R0ad27e387ddf45b6" /><ns0:Relationship Type="http://schemas.openxmlformats.org/officeDocument/2006/relationships/notesSlide" Target="/ppt/notesSlides/notesSlide2.xml" Id="R41760307521b42d6"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6.xml" Id="R51c6a773d9ba4393" /><ns0:Relationship Type="http://schemas.openxmlformats.org/officeDocument/2006/relationships/slide" Target="slide7.xml" Id="R0be476392d7b4888" /><ns0:Relationship Type="http://schemas.openxmlformats.org/officeDocument/2006/relationships/slide" Target="slide8.xml" Id="Rb5a236fbead94178" /><ns0:Relationship Type="http://schemas.openxmlformats.org/officeDocument/2006/relationships/slide" Target="slide9.xml" Id="Re4095868f8a0412b" /><ns0:Relationship Type="http://schemas.openxmlformats.org/officeDocument/2006/relationships/slide" Target="slide10.xml" Id="Rcb8c0c4dc1a74a36" /><ns0:Relationship Type="http://schemas.openxmlformats.org/officeDocument/2006/relationships/slide" Target="slide11.xml" Id="Rb0b5f50454204ede" /><ns0:Relationship Type="http://schemas.openxmlformats.org/officeDocument/2006/relationships/slide" Target="slide12.xml" Id="Rb5129a0abb324f2c" /><ns0:Relationship Type="http://schemas.openxmlformats.org/officeDocument/2006/relationships/slide" Target="slide7.xml" Id="R71a6f69008eb441a" /><ns0:Relationship Type="http://schemas.openxmlformats.org/officeDocument/2006/relationships/slide" Target="slide8.xml" Id="R40bcf1a535534d90" /><ns0:Relationship Type="http://schemas.openxmlformats.org/officeDocument/2006/relationships/slide" Target="slide9.xml" Id="R3b9cd51e5e8b4286" /><ns0:Relationship Type="http://schemas.openxmlformats.org/officeDocument/2006/relationships/slide" Target="slide10.xml" Id="R6f7766c4e3bb4ac9" /><ns0:Relationship Type="http://schemas.openxmlformats.org/officeDocument/2006/relationships/slide" Target="slide11.xml" Id="R3cb2a05cbc3f42fb" /><ns0:Relationship Type="http://schemas.openxmlformats.org/officeDocument/2006/relationships/slide" Target="slide12.xml" Id="Rbd0f4dc51b124a3b" /><ns0:Relationship Type="http://schemas.openxmlformats.org/officeDocument/2006/relationships/notesSlide" Target="/ppt/notesSlides/notesSlide3.xml" Id="R52e6198cea714ccf"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6.xml" Id="Rd838671d0ef14392" /><ns0:Relationship Type="http://schemas.openxmlformats.org/officeDocument/2006/relationships/notesSlide" Target="/ppt/notesSlides/notesSlide4.xml" Id="R804073d35cc849d7"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6.xml" Id="Rebd7ef4f20284c76" /><ns0:Relationship Type="http://schemas.openxmlformats.org/officeDocument/2006/relationships/notesSlide" Target="/ppt/notesSlides/notesSlide5.xml" Id="Rb6b62c4307cc4858"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8d1574f04f374d1f" /><ns0:Relationship Type="http://schemas.openxmlformats.org/officeDocument/2006/relationships/notesSlide" Target="/ppt/notesSlides/notesSlide6.xml" Id="Raa03c9440fa74332"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6.xml" Id="R5511bfdec4aa4051" /><ns0:Relationship Type="http://schemas.openxmlformats.org/officeDocument/2006/relationships/slide" Target="slide7.xml" Id="Rfd6935e71e514000" /><ns0:Relationship Type="http://schemas.openxmlformats.org/officeDocument/2006/relationships/slide" Target="slide8.xml" Id="Rd3c5708c2a0c4d1b" /><ns0:Relationship Type="http://schemas.openxmlformats.org/officeDocument/2006/relationships/slide" Target="slide9.xml" Id="Rdf0e9f059c1d471a" /><ns0:Relationship Type="http://schemas.openxmlformats.org/officeDocument/2006/relationships/slide" Target="slide10.xml" Id="Rd43046a3f98049ba" /><ns0:Relationship Type="http://schemas.openxmlformats.org/officeDocument/2006/relationships/slide" Target="slide11.xml" Id="R02588808e14a478a" /><ns0:Relationship Type="http://schemas.openxmlformats.org/officeDocument/2006/relationships/slide" Target="slide12.xml" Id="R5a3a3636532b4396" /><ns0:Relationship Type="http://schemas.openxmlformats.org/officeDocument/2006/relationships/slide" Target="slide3.xml" Id="R6894b8732e2443ac" /><ns0:Relationship Type="http://schemas.openxmlformats.org/officeDocument/2006/relationships/slide" Target="slide3.xml" Id="Raf63acd1ea7c45de" /><ns0:Relationship Type="http://schemas.openxmlformats.org/officeDocument/2006/relationships/notesSlide" Target="/ppt/notesSlides/notesSlide7.xml" Id="R8b8fee3531a244ae"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27b686ea512a4c0f" /><ns0:Relationship Type="http://schemas.openxmlformats.org/officeDocument/2006/relationships/slide" Target="slide7.xml" Id="Race9377d2bc34d70" /><ns0:Relationship Type="http://schemas.openxmlformats.org/officeDocument/2006/relationships/slide" Target="slide8.xml" Id="Rb69ca8e759984127" /><ns0:Relationship Type="http://schemas.openxmlformats.org/officeDocument/2006/relationships/slide" Target="slide9.xml" Id="R4e635505f3944fbf" /><ns0:Relationship Type="http://schemas.openxmlformats.org/officeDocument/2006/relationships/slide" Target="slide10.xml" Id="Rbe5482473b4644ff" /><ns0:Relationship Type="http://schemas.openxmlformats.org/officeDocument/2006/relationships/slide" Target="slide11.xml" Id="R732f95810a024844" /><ns0:Relationship Type="http://schemas.openxmlformats.org/officeDocument/2006/relationships/slide" Target="slide12.xml" Id="Rbf145e83215a49db" /><ns0:Relationship Type="http://schemas.openxmlformats.org/officeDocument/2006/relationships/slide" Target="slide3.xml" Id="R40f58641ebc54ed6" /><ns0:Relationship Type="http://schemas.openxmlformats.org/officeDocument/2006/relationships/slide" Target="slide3.xml" Id="R7b2cc4ef91674b6b" /><ns0:Relationship Type="http://schemas.openxmlformats.org/officeDocument/2006/relationships/notesSlide" Target="/ppt/notesSlides/notesSlide8.xml" Id="Ra296bba277994be2"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395a51189b3c4083" /><ns0:Relationship Type="http://schemas.openxmlformats.org/officeDocument/2006/relationships/slide" Target="slide7.xml" Id="R29dd0b8525c24b07" /><ns0:Relationship Type="http://schemas.openxmlformats.org/officeDocument/2006/relationships/slide" Target="slide8.xml" Id="R07b0bcbc74ac4030" /><ns0:Relationship Type="http://schemas.openxmlformats.org/officeDocument/2006/relationships/slide" Target="slide9.xml" Id="R8c4999de59c640f8" /><ns0:Relationship Type="http://schemas.openxmlformats.org/officeDocument/2006/relationships/slide" Target="slide10.xml" Id="Ra1b836358e494578" /><ns0:Relationship Type="http://schemas.openxmlformats.org/officeDocument/2006/relationships/slide" Target="slide11.xml" Id="R46b43b60e5c04866" /><ns0:Relationship Type="http://schemas.openxmlformats.org/officeDocument/2006/relationships/slide" Target="slide12.xml" Id="Rcd60e051d15943e7" /><ns0:Relationship Type="http://schemas.openxmlformats.org/officeDocument/2006/relationships/slide" Target="slide3.xml" Id="R023779b145404169" /><ns0:Relationship Type="http://schemas.openxmlformats.org/officeDocument/2006/relationships/slide" Target="slide3.xml" Id="R7c876d42409b4bbc" /><ns0:Relationship Type="http://schemas.openxmlformats.org/officeDocument/2006/relationships/notesSlide" Target="/ppt/notesSlides/notesSlide9.xml" Id="R7ac8aa228c9b470b"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6.xml" Id="R7e231c4b7a984aa6" /><ns0:Relationship Type="http://schemas.openxmlformats.org/officeDocument/2006/relationships/slide" Target="slide7.xml" Id="Rab1083d9c5854324" /><ns0:Relationship Type="http://schemas.openxmlformats.org/officeDocument/2006/relationships/slide" Target="slide8.xml" Id="R194514e0d6a2482d" /><ns0:Relationship Type="http://schemas.openxmlformats.org/officeDocument/2006/relationships/slide" Target="slide9.xml" Id="R57788f24c57b4c4d" /><ns0:Relationship Type="http://schemas.openxmlformats.org/officeDocument/2006/relationships/slide" Target="slide10.xml" Id="Rdfb4217af3a44670" /><ns0:Relationship Type="http://schemas.openxmlformats.org/officeDocument/2006/relationships/slide" Target="slide11.xml" Id="R188cc6aafdcf4544" /><ns0:Relationship Type="http://schemas.openxmlformats.org/officeDocument/2006/relationships/slide" Target="slide12.xml" Id="R3841de1154364928" /><ns0:Relationship Type="http://schemas.openxmlformats.org/officeDocument/2006/relationships/slide" Target="slide3.xml" Id="R691e2a8a44a742f5" /><ns0:Relationship Type="http://schemas.openxmlformats.org/officeDocument/2006/relationships/slide" Target="slide3.xml" Id="Rc1f40e1afa844229" /><ns0:Relationship Type="http://schemas.openxmlformats.org/officeDocument/2006/relationships/notesSlide" Target="/ppt/notesSlides/notesSlide10.xml" Id="R002446650e5742be"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6.xml" Id="R22f069e7b7054fc8" /><ns0:Relationship Type="http://schemas.openxmlformats.org/officeDocument/2006/relationships/slide" Target="slide7.xml" Id="Rb6293955dd1941b1" /><ns0:Relationship Type="http://schemas.openxmlformats.org/officeDocument/2006/relationships/slide" Target="slide8.xml" Id="Rc54c81af90fc460c" /><ns0:Relationship Type="http://schemas.openxmlformats.org/officeDocument/2006/relationships/slide" Target="slide9.xml" Id="R8477c9e148d2467e" /><ns0:Relationship Type="http://schemas.openxmlformats.org/officeDocument/2006/relationships/slide" Target="slide10.xml" Id="R9c0763a135434861" /><ns0:Relationship Type="http://schemas.openxmlformats.org/officeDocument/2006/relationships/slide" Target="slide11.xml" Id="R87cd5d4acc284dbd" /><ns0:Relationship Type="http://schemas.openxmlformats.org/officeDocument/2006/relationships/slide" Target="slide12.xml" Id="R2d1c5365189342e6" /><ns0:Relationship Type="http://schemas.openxmlformats.org/officeDocument/2006/relationships/slide" Target="slide3.xml" Id="Rcd346705f1494c60" /><ns0:Relationship Type="http://schemas.openxmlformats.org/officeDocument/2006/relationships/slide" Target="slide3.xml" Id="R7fa401e308e64e7a" /><ns0:Relationship Type="http://schemas.openxmlformats.org/officeDocument/2006/relationships/notesSlide" Target="/ppt/notesSlides/notesSlide11.xml" Id="Rc304245ea6e0412a"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6.xml" Id="Rb5b798d529cf417b" /><ns0:Relationship Type="http://schemas.openxmlformats.org/officeDocument/2006/relationships/slide" Target="slide7.xml" Id="Rf89ff26d49274eb7" /><ns0:Relationship Type="http://schemas.openxmlformats.org/officeDocument/2006/relationships/slide" Target="slide8.xml" Id="R2853715533ac4cec" /><ns0:Relationship Type="http://schemas.openxmlformats.org/officeDocument/2006/relationships/slide" Target="slide9.xml" Id="R2243395b055e46ba" /><ns0:Relationship Type="http://schemas.openxmlformats.org/officeDocument/2006/relationships/slide" Target="slide10.xml" Id="Rb6646735976e4723" /><ns0:Relationship Type="http://schemas.openxmlformats.org/officeDocument/2006/relationships/slide" Target="slide11.xml" Id="R24aca3c70c824b11" /><ns0:Relationship Type="http://schemas.openxmlformats.org/officeDocument/2006/relationships/slide" Target="slide12.xml" Id="Re71c8d937c004545" /><ns0:Relationship Type="http://schemas.openxmlformats.org/officeDocument/2006/relationships/slide" Target="slide3.xml" Id="Rac4ddece22e6416b" /><ns0:Relationship Type="http://schemas.openxmlformats.org/officeDocument/2006/relationships/slide" Target="slide3.xml" Id="Rc9ad5534518a49ca" /><ns0:Relationship Type="http://schemas.openxmlformats.org/officeDocument/2006/relationships/notesSlide" Target="/ppt/notesSlides/notesSlide12.xml" Id="R785aa304d5614f43" /></ns0: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4F2EE"/>
        </a:solidFill>
      </p:bgPr>
    </p:bg>
    <p:spTree>
      <p:nvGrpSpPr>
        <p:cNvPr id="1" name=""/>
        <p:cNvGrpSpPr/>
        <p:nvPr/>
      </p:nvGrpSpPr>
      <p:grpSpPr>
        <a:xfrm/>
      </p:grpSpPr>
      <p:sp>
        <p:nvSpPr>
          <p:cNvPr id="9" name="text-1">
            <a:extLst>
              <a:ext uri="{FF2B5EF4-FFF2-40B4-BE49-F238E27FC236}">
                <ns2:creationId id="{05AFF7F0-9085-489E-B568-8F6B7782EB97}"/>
              </a:ext>
            </a:extLst>
          </p:cNvPr>
          <p:cNvSpPr>
            <a:spLocks noGrp="1"/>
          </p:cNvSpPr>
          <p:nvPr/>
        </p:nvSpPr>
        <p:spPr>
          <a:xfrm>
            <a:off x="609600" y="847725"/>
            <a:ext cx="8096250" cy="1905000"/>
          </a:xfrm>
          <a:prstGeom prst="rect">
            <a:avLst/>
          </a:prstGeom>
          <a:noFill/>
          <a:ln w="0">
            <a:noFill/>
          </a:ln>
        </p:spPr>
        <p:txBody>
          <a:bodyPr wrap="square" lIns="0" tIns="0" rIns="0" bIns="0" anchor="t">
            <a:noAutofit/>
          </a:bodyPr>
          <a:lstStyle>
            <a:defPPr algn="l">
              <a:defRPr sz="5700" b="0">
                <a:solidFill>
                  <a:srgbClr val="C9433C"/>
                </a:solidFill>
                <a:latin typeface="Helvetica Neue"/>
                <a:ea typeface="Helvetica Neue"/>
                <a:cs typeface="Helvetica Neue"/>
              </a:defRPr>
            </a:defPPr>
          </a:lstStyle>
          <a:p>
            <a:pPr algn="l">
              <a:lnSpc>
                <a:spcPct val="113000"/>
              </a:lnSpc>
              <a:buNone/>
              <a:defRPr sz="5700" b="0">
                <a:solidFill>
                  <a:srgbClr val="C9433C"/>
                </a:solidFill>
                <a:latin typeface="Helvetica Neue"/>
                <a:ea typeface="Helvetica Neue"/>
                <a:cs typeface="Helvetica Neue"/>
              </a:defRPr>
            </a:pPr>
            <a:r>
              <a:rPr sz="5700" b="0">
                <a:solidFill>
                  <a:srgbClr val="C9433C"/>
                </a:solidFill>
                <a:latin typeface="Helvetica Neue"/>
                <a:ea typeface="Helvetica Neue"/>
                <a:cs typeface="Helvetica Neue"/>
              </a:rPr>
              <a:t>Unified Context</a:t>
            </a:r>
          </a:p>
          <a:p>
            <a:pPr algn="l">
              <a:lnSpc>
                <a:spcPct val="113000"/>
              </a:lnSpc>
              <a:buNone/>
              <a:defRPr sz="5700" b="0">
                <a:solidFill>
                  <a:srgbClr val="C9433C"/>
                </a:solidFill>
                <a:latin typeface="Helvetica Neue"/>
                <a:ea typeface="Helvetica Neue"/>
                <a:cs typeface="Helvetica Neue"/>
              </a:defRPr>
            </a:pPr>
            <a:r>
              <a:rPr sz="5700" b="0">
                <a:solidFill>
                  <a:srgbClr val="C9433C"/>
                </a:solidFill>
                <a:latin typeface="Helvetica Neue"/>
                <a:ea typeface="Helvetica Neue"/>
                <a:cs typeface="Helvetica Neue"/>
              </a:rPr>
              <a:t>Graph Platform</a:t>
            </a:r>
          </a:p>
        </p:txBody>
      </p:sp>
      <p:sp>
        <p:nvSpPr>
          <p:cNvPr id="2" name="text-2">
            <a:extLst>
              <a:ext uri="{FF2B5EF4-FFF2-40B4-BE49-F238E27FC236}">
                <ns2:creationId id="{95FB1F33-DE5E-44AA-B6AC-69EE392D1B8B}"/>
              </a:ext>
            </a:extLst>
          </p:cNvPr>
          <p:cNvSpPr>
            <a:spLocks noGrp="1"/>
          </p:cNvSpPr>
          <p:nvPr/>
        </p:nvSpPr>
        <p:spPr>
          <a:xfrm>
            <a:off x="657225" y="3143250"/>
            <a:ext cx="7800975" cy="952500"/>
          </a:xfrm>
          <a:prstGeom prst="rect">
            <a:avLst/>
          </a:prstGeom>
          <a:noFill/>
          <a:ln w="0">
            <a:noFill/>
          </a:ln>
        </p:spPr>
        <p:txBody>
          <a:bodyPr wrap="square" lIns="0" tIns="0" rIns="0" bIns="0" anchor="t">
            <a:noAutofit/>
          </a:bodyPr>
          <a:lstStyle>
            <a:defPPr algn="l">
              <a:defRPr sz="2550" b="0">
                <a:solidFill>
                  <a:srgbClr val="252524"/>
                </a:solidFill>
                <a:latin typeface="Helvetica Neue"/>
                <a:ea typeface="Helvetica Neue"/>
                <a:cs typeface="Helvetica Neue"/>
              </a:defRPr>
            </a:defPPr>
          </a:lstStyle>
          <a:p>
            <a:pPr algn="l">
              <a:lnSpc>
                <a:spcPct val="113000"/>
              </a:lnSpc>
              <a:buNone/>
              <a:defRPr sz="2550" b="0">
                <a:solidFill>
                  <a:srgbClr val="252524"/>
                </a:solidFill>
                <a:latin typeface="Helvetica Neue"/>
                <a:ea typeface="Helvetica Neue"/>
                <a:cs typeface="Helvetica Neue"/>
              </a:defRPr>
            </a:pPr>
            <a:r>
              <a:rPr sz="2550" b="0">
                <a:solidFill>
                  <a:srgbClr val="252524"/>
                </a:solidFill>
                <a:latin typeface="Helvetica Neue"/>
                <a:ea typeface="Helvetica Neue"/>
                <a:cs typeface="Helvetica Neue"/>
              </a:rPr>
              <a:t>A governed semantic layer for data,</a:t>
            </a:r>
          </a:p>
          <a:p>
            <a:pPr algn="l">
              <a:lnSpc>
                <a:spcPct val="113000"/>
              </a:lnSpc>
              <a:buNone/>
              <a:defRPr sz="2550" b="0">
                <a:solidFill>
                  <a:srgbClr val="252524"/>
                </a:solidFill>
                <a:latin typeface="Helvetica Neue"/>
                <a:ea typeface="Helvetica Neue"/>
                <a:cs typeface="Helvetica Neue"/>
              </a:defRPr>
            </a:pPr>
            <a:r>
              <a:rPr sz="2550" b="0">
                <a:solidFill>
                  <a:srgbClr val="252524"/>
                </a:solidFill>
                <a:latin typeface="Helvetica Neue"/>
                <a:ea typeface="Helvetica Neue"/>
                <a:cs typeface="Helvetica Neue"/>
              </a:rPr>
              <a:t>knowledge and agent work</a:t>
            </a:r>
          </a:p>
        </p:txBody>
      </p:sp>
      <p:sp>
        <p:nvSpPr>
          <p:cNvPr id="3" name="text-3">
            <a:extLst>
              <a:ext uri="{FF2B5EF4-FFF2-40B4-BE49-F238E27FC236}">
                <ns2:creationId id="{F8458297-B6DC-4BE2-8B96-4C9DA86BFFDE}"/>
              </a:ext>
            </a:extLst>
          </p:cNvPr>
          <p:cNvSpPr>
            <a:spLocks noGrp="1"/>
          </p:cNvSpPr>
          <p:nvPr/>
        </p:nvSpPr>
        <p:spPr>
          <a:xfrm>
            <a:off x="657225" y="4524375"/>
            <a:ext cx="7686675" cy="1428750"/>
          </a:xfrm>
          <a:prstGeom prst="rect">
            <a:avLst/>
          </a:prstGeom>
          <a:noFill/>
          <a:ln w="0">
            <a:noFill/>
          </a:ln>
        </p:spPr>
        <p:txBody>
          <a:bodyPr wrap="square" lIns="0" tIns="0" rIns="0" bIns="0" anchor="t">
            <a:noAutofit/>
          </a:bodyPr>
          <a:lstStyle>
            <a:defPPr algn="l">
              <a:defRPr sz="2100" b="0">
                <a:solidFill>
                  <a:srgbClr val="686560"/>
                </a:solidFill>
                <a:latin typeface="Helvetica Neue"/>
                <a:ea typeface="Helvetica Neue"/>
                <a:cs typeface="Helvetica Neue"/>
              </a:defRPr>
            </a:defPPr>
          </a:lstStyle>
          <a:p>
            <a:pPr algn="l">
              <a:lnSpc>
                <a:spcPct val="113000"/>
              </a:lnSpc>
              <a:buNone/>
              <a:defRPr sz="2100" b="0">
                <a:solidFill>
                  <a:srgbClr val="686560"/>
                </a:solidFill>
                <a:latin typeface="Helvetica Neue"/>
                <a:ea typeface="Helvetica Neue"/>
                <a:cs typeface="Helvetica Neue"/>
              </a:defRPr>
            </a:pPr>
            <a:r>
              <a:rPr sz="2100" b="0">
                <a:solidFill>
                  <a:srgbClr val="686560"/>
                </a:solidFill>
                <a:latin typeface="Helvetica Neue"/>
                <a:ea typeface="Helvetica Neue"/>
                <a:cs typeface="Helvetica Neue"/>
              </a:rPr>
              <a:t>Organizations already have records, documents and analytical definitions. Their agents still reconstruct how those assets relate, which evidence is current and what a previous session left unfinished.</a:t>
            </a:r>
          </a:p>
        </p:txBody>
      </p:sp>
      <p:sp>
        <p:nvSpPr>
          <p:cNvPr id="4" name="text-4">
            <a:extLst>
              <a:ext uri="{FF2B5EF4-FFF2-40B4-BE49-F238E27FC236}">
                <ns2:creationId id="{6F05BC43-D63D-463F-8633-D33A8CEBF9C0}"/>
              </a:ext>
            </a:extLst>
          </p:cNvPr>
          <p:cNvSpPr>
            <a:spLocks noGrp="1"/>
          </p:cNvSpPr>
          <p:nvPr/>
        </p:nvSpPr>
        <p:spPr>
          <a:xfrm>
            <a:off x="657225" y="6191250"/>
            <a:ext cx="7686675" cy="1314450"/>
          </a:xfrm>
          <a:prstGeom prst="rect">
            <a:avLst/>
          </a:prstGeom>
          <a:noFill/>
          <a:ln w="0">
            <a:noFill/>
          </a:ln>
        </p:spPr>
        <p:txBody>
          <a:bodyPr wrap="square" lIns="0" tIns="0" rIns="0" bIns="0" anchor="t">
            <a:noAutofit/>
          </a:bodyPr>
          <a:lstStyle>
            <a:defPPr algn="l">
              <a:defRPr sz="2100" b="0">
                <a:solidFill>
                  <a:srgbClr val="252524"/>
                </a:solidFill>
                <a:latin typeface="Helvetica Neue"/>
                <a:ea typeface="Helvetica Neue"/>
                <a:cs typeface="Helvetica Neue"/>
              </a:defRPr>
            </a:defPPr>
          </a:lstStyle>
          <a:p>
            <a:pPr algn="l">
              <a:lnSpc>
                <a:spcPct val="113000"/>
              </a:lnSpc>
              <a:buNone/>
              <a:defRPr sz="2100" b="0">
                <a:solidFill>
                  <a:srgbClr val="252524"/>
                </a:solidFill>
                <a:latin typeface="Helvetica Neue"/>
                <a:ea typeface="Helvetica Neue"/>
                <a:cs typeface="Helvetica Neue"/>
              </a:defRPr>
            </a:pPr>
            <a:r>
              <a:rPr sz="2100" b="0">
                <a:solidFill>
                  <a:srgbClr val="252524"/>
                </a:solidFill>
                <a:latin typeface="Helvetica Neue"/>
                <a:ea typeface="Helvetica Neue"/>
                <a:cs typeface="Helvetica Neue"/>
              </a:rPr>
              <a:t>The proposal connects those assets in a shared graph so different copilots can use the same meanings, inspect support and resume a task with its unresolved questions intact.</a:t>
            </a:r>
          </a:p>
        </p:txBody>
      </p:sp>
      <p:pic>
        <p:nvPicPr>
          <p:cNvPr id="5" name="">
            <a:extLst>
              <a:ext uri="{FF2B5EF4-FFF2-40B4-BE49-F238E27FC236}">
                <ns2:creationId id="{5AF41159-4804-40AF-B2E9-2F6A1BB3C84D}"/>
              </a:ext>
            </a:extLst>
          </p:cNvPr>
          <p:cNvPicPr>
            <a:picLocks noChangeAspect="1"/>
          </p:cNvPicPr>
          <p:nvPr/>
        </p:nvPicPr>
        <p:blipFill>
          <a:blip r:embed="R06252b99e424474d"/>
          <a:stretch/>
        </p:blipFill>
        <p:spPr>
          <a:xfrm>
            <a:off x="8896350" y="1290638"/>
            <a:ext cx="5734050" cy="5734050"/>
          </a:xfrm>
          <a:prstGeom prst="rect">
            <a:avLst/>
          </a:prstGeom>
        </p:spPr>
      </p:pic>
      <p:sp>
        <p:nvSpPr>
          <p:cNvPr id="6" name="shape-5">
            <a:extLst>
              <a:ext uri="{FF2B5EF4-FFF2-40B4-BE49-F238E27FC236}">
                <ns2:creationId id="{20F97813-9960-46C1-8B86-BE6E7CEFE7F0}"/>
              </a:ext>
            </a:extLst>
          </p:cNvPr>
          <p:cNvSpPr>
            <a:spLocks noGrp="1"/>
          </p:cNvSpPr>
          <p:nvPr/>
        </p:nvSpPr>
        <p:spPr>
          <a:xfrm>
            <a:off x="609600" y="8153400"/>
            <a:ext cx="14020800" cy="0"/>
          </a:xfrm>
          <a:prstGeom prst="line">
            <a:avLst/>
          </a:prstGeom>
          <a:noFill/>
          <a:ln w="9525">
            <a:solidFill>
              <a:srgbClr val="D6D2CB"/>
            </a:solidFill>
          </a:ln>
        </p:spPr>
      </p:sp>
      <p:sp>
        <p:nvSpPr>
          <p:cNvPr id="7" name="text-6">
            <a:extLst>
              <a:ext uri="{FF2B5EF4-FFF2-40B4-BE49-F238E27FC236}">
                <ns2:creationId id="{950B1B9A-E79C-4B43-AB9D-53AC86CE9158}"/>
              </a:ext>
            </a:extLst>
          </p:cNvPr>
          <p:cNvSpPr>
            <a:spLocks noGrp="1"/>
          </p:cNvSpPr>
          <p:nvPr/>
        </p:nvSpPr>
        <p:spPr>
          <a:xfrm>
            <a:off x="657225" y="8248650"/>
            <a:ext cx="10763250" cy="257175"/>
          </a:xfrm>
          <a:prstGeom prst="rect">
            <a:avLst/>
          </a:prstGeom>
          <a:noFill/>
          <a:ln w="0">
            <a:noFill/>
          </a:ln>
        </p:spPr>
        <p:txBody>
          <a:bodyPr wrap="square" lIns="0" tIns="0" rIns="0" bIns="0" anchor="t">
            <a:noAutofit/>
          </a:bodyPr>
          <a:lstStyle>
            <a:defPPr algn="l">
              <a:defRPr sz="1350" b="0">
                <a:solidFill>
                  <a:srgbClr val="686560"/>
                </a:solidFill>
                <a:latin typeface="Helvetica Neue"/>
                <a:ea typeface="Helvetica Neue"/>
                <a:cs typeface="Helvetica Neue"/>
              </a:defRPr>
            </a:defPPr>
          </a:lstStyle>
          <a:p>
            <a:pPr algn="l">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Executive concept and business proposal</a:t>
            </a:r>
          </a:p>
        </p:txBody>
      </p:sp>
      <p:sp>
        <p:nvSpPr>
          <p:cNvPr id="8" name="text-7">
            <a:extLst>
              <a:ext uri="{FF2B5EF4-FFF2-40B4-BE49-F238E27FC236}">
                <ns2:creationId id="{4E314C8E-B5DF-4798-B622-B31F2DE935BE}"/>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686560"/>
                </a:solidFill>
                <a:latin typeface="Helvetica Neue"/>
                <a:ea typeface="Helvetica Neue"/>
                <a:cs typeface="Helvetica Neue"/>
              </a:defRPr>
            </a:defPPr>
          </a:lstStyle>
          <a:p>
            <a:pPr algn="r">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01</a:t>
            </a:r>
          </a:p>
        </p:txBody>
      </p:sp>
    </p:spTree>
    <p:extLst>
      <p:ext uri="{BB962C8B-B14F-4D97-AF65-F5344CB8AC3E}">
        <ns4:creationId val="949980595"/>
      </p:ext>
    </p:extLst>
  </p:cSld>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F2EE"/>
        </a:solidFill>
      </p:bgPr>
    </p:bg>
    <p:spTree>
      <p:nvGrpSpPr>
        <p:cNvPr id="1" name=""/>
        <p:cNvGrpSpPr/>
        <p:nvPr/>
      </p:nvGrpSpPr>
      <p:grpSpPr>
        <a:xfrm/>
      </p:grpSpPr>
      <p:cxnSp>
        <p:nvCxnSpPr>
          <p:cNvPr id="39" name="">
            <a:extLst>
              <a:ext uri="{FF2B5EF4-FFF2-40B4-BE49-F238E27FC236}">
                <ns2:creationId id="{6BE1D707-8654-46FB-A952-EAEE858C5E6A}"/>
              </a:ext>
            </a:extLst>
          </p:cNvPr>
          <p:cNvCxnSpPr>
            <a:stCxn id="17" idx="3"/>
            <a:endCxn id="29" idx="1"/>
          </p:cNvCxnSpPr>
          <p:nvPr/>
        </p:nvCxnSpPr>
        <p:spPr>
          <a:xfrm>
            <a:off x="10134600" y="4905375"/>
            <a:ext cx="533400" cy="1771650"/>
          </a:xfrm>
          <a:prstGeom prst="bentConnector3">
            <a:avLst>
              <a:gd name="adj1" fmla="val 50000"/>
            </a:avLst>
          </a:prstGeom>
          <a:ln w="17145">
            <a:solidFill>
              <a:srgbClr val="C9433C"/>
            </a:solidFill>
            <a:tailEnd type="none" w="sm" len="sm"/>
          </a:ln>
        </p:spPr>
      </p:cxnSp>
      <p:cxnSp>
        <p:nvCxnSpPr>
          <p:cNvPr id="38" name="">
            <a:extLst>
              <a:ext uri="{FF2B5EF4-FFF2-40B4-BE49-F238E27FC236}">
                <ns2:creationId id="{9080672C-AA2A-456C-8D94-19B260CEA584}"/>
              </a:ext>
            </a:extLst>
          </p:cNvPr>
          <p:cNvCxnSpPr>
            <a:stCxn id="23" idx="2"/>
            <a:endCxn id="26" idx="0"/>
          </p:cNvCxnSpPr>
          <p:nvPr/>
        </p:nvCxnSpPr>
        <p:spPr>
          <a:xfrm>
            <a:off x="12649200" y="3619500"/>
            <a:ext cx="0" cy="285750"/>
          </a:xfrm>
          <a:prstGeom prst="straightConnector1">
            <a:avLst/>
          </a:prstGeom>
          <a:ln w="17145">
            <a:solidFill>
              <a:srgbClr val="C9433C"/>
            </a:solidFill>
            <a:tailEnd type="triangle" w="sm" len="sm"/>
          </a:ln>
        </p:spPr>
      </p:cxnSp>
      <p:cxnSp>
        <p:nvCxnSpPr>
          <p:cNvPr id="37" name="">
            <a:extLst>
              <a:ext uri="{FF2B5EF4-FFF2-40B4-BE49-F238E27FC236}">
                <ns2:creationId id="{5A7F3D7E-4CDF-4586-831C-688D1EE7D555}"/>
              </a:ext>
            </a:extLst>
          </p:cNvPr>
          <p:cNvCxnSpPr>
            <a:stCxn id="17" idx="3"/>
            <a:endCxn id="23" idx="1"/>
          </p:cNvCxnSpPr>
          <p:nvPr/>
        </p:nvCxnSpPr>
        <p:spPr>
          <a:xfrm flipV="1">
            <a:off x="10134600" y="3171825"/>
            <a:ext cx="533400" cy="1733550"/>
          </a:xfrm>
          <a:prstGeom prst="bentConnector3">
            <a:avLst>
              <a:gd name="adj1" fmla="val 50000"/>
            </a:avLst>
          </a:prstGeom>
          <a:ln w="17145">
            <a:solidFill>
              <a:srgbClr val="C9433C"/>
            </a:solidFill>
            <a:tailEnd type="none" w="sm" len="sm"/>
          </a:ln>
        </p:spPr>
      </p:cxnSp>
      <p:cxnSp>
        <p:nvCxnSpPr>
          <p:cNvPr id="36" name="">
            <a:extLst>
              <a:ext uri="{FF2B5EF4-FFF2-40B4-BE49-F238E27FC236}">
                <ns2:creationId id="{7E8FAC42-9B30-4A4D-9BCF-F3D1AF8319A7}"/>
              </a:ext>
            </a:extLst>
          </p:cNvPr>
          <p:cNvCxnSpPr>
            <a:stCxn id="17" idx="2"/>
            <a:endCxn id="20" idx="0"/>
          </p:cNvCxnSpPr>
          <p:nvPr/>
        </p:nvCxnSpPr>
        <p:spPr>
          <a:xfrm>
            <a:off x="7620000" y="5905500"/>
            <a:ext cx="0" cy="285750"/>
          </a:xfrm>
          <a:prstGeom prst="straightConnector1">
            <a:avLst/>
          </a:prstGeom>
          <a:ln w="17145">
            <a:solidFill>
              <a:srgbClr val="C9433C"/>
            </a:solidFill>
            <a:tailEnd type="triangle" w="sm" len="sm"/>
          </a:ln>
        </p:spPr>
      </p:cxnSp>
      <p:cxnSp>
        <p:nvCxnSpPr>
          <p:cNvPr id="35" name="">
            <a:extLst>
              <a:ext uri="{FF2B5EF4-FFF2-40B4-BE49-F238E27FC236}">
                <ns2:creationId id="{8E4D6E7E-469B-40C8-8DA6-50C9D800FCAA}"/>
              </a:ext>
            </a:extLst>
          </p:cNvPr>
          <p:cNvCxnSpPr>
            <a:stCxn id="14" idx="2"/>
            <a:endCxn id="17" idx="0"/>
          </p:cNvCxnSpPr>
          <p:nvPr/>
        </p:nvCxnSpPr>
        <p:spPr>
          <a:xfrm>
            <a:off x="7620000" y="3619500"/>
            <a:ext cx="0" cy="285750"/>
          </a:xfrm>
          <a:prstGeom prst="straightConnector1">
            <a:avLst/>
          </a:prstGeom>
          <a:ln w="17145">
            <a:solidFill>
              <a:srgbClr val="C9433C"/>
            </a:solidFill>
            <a:tailEnd type="triangle" w="sm" len="sm"/>
          </a:ln>
        </p:spPr>
      </p:cxnSp>
      <p:cxnSp>
        <p:nvCxnSpPr>
          <p:cNvPr id="34" name="">
            <a:extLst>
              <a:ext uri="{FF2B5EF4-FFF2-40B4-BE49-F238E27FC236}">
                <ns2:creationId id="{6C4B01E3-F3C6-441A-AA30-A3E9EE8104E5}"/>
              </a:ext>
            </a:extLst>
          </p:cNvPr>
          <p:cNvCxnSpPr>
            <a:stCxn id="11" idx="3"/>
            <a:endCxn id="17" idx="1"/>
          </p:cNvCxnSpPr>
          <p:nvPr/>
        </p:nvCxnSpPr>
        <p:spPr>
          <a:xfrm flipV="1">
            <a:off x="4572000" y="4905375"/>
            <a:ext cx="533400" cy="1233488"/>
          </a:xfrm>
          <a:prstGeom prst="bentConnector3">
            <a:avLst>
              <a:gd name="adj1" fmla="val 50000"/>
            </a:avLst>
          </a:prstGeom>
          <a:ln w="17145">
            <a:solidFill>
              <a:srgbClr val="C9433C"/>
            </a:solidFill>
            <a:tailEnd type="none" w="sm" len="sm"/>
          </a:ln>
        </p:spPr>
      </p:cxnSp>
      <p:cxnSp>
        <p:nvCxnSpPr>
          <p:cNvPr id="33" name="">
            <a:extLst>
              <a:ext uri="{FF2B5EF4-FFF2-40B4-BE49-F238E27FC236}">
                <ns2:creationId id="{ED02BC49-7F9A-4D7B-80A6-BBE6618CCA4E}"/>
              </a:ext>
            </a:extLst>
          </p:cNvPr>
          <p:cNvCxnSpPr>
            <a:stCxn id="8" idx="3"/>
            <a:endCxn id="17" idx="1"/>
          </p:cNvCxnSpPr>
          <p:nvPr/>
        </p:nvCxnSpPr>
        <p:spPr>
          <a:xfrm>
            <a:off x="4572000" y="4657725"/>
            <a:ext cx="533400" cy="247650"/>
          </a:xfrm>
          <a:prstGeom prst="bentConnector3">
            <a:avLst>
              <a:gd name="adj1" fmla="val 50000"/>
            </a:avLst>
          </a:prstGeom>
          <a:ln w="17145">
            <a:solidFill>
              <a:srgbClr val="C9433C"/>
            </a:solidFill>
            <a:tailEnd type="none" w="sm" len="sm"/>
          </a:ln>
        </p:spPr>
      </p:cxnSp>
      <p:cxnSp>
        <p:nvCxnSpPr>
          <p:cNvPr id="32" name="">
            <a:extLst>
              <a:ext uri="{FF2B5EF4-FFF2-40B4-BE49-F238E27FC236}">
                <ns2:creationId id="{493E7A00-C235-426C-A9D6-BB3464C05EF6}"/>
              </a:ext>
            </a:extLst>
          </p:cNvPr>
          <p:cNvCxnSpPr>
            <a:stCxn id="5" idx="3"/>
            <a:endCxn id="17" idx="1"/>
          </p:cNvCxnSpPr>
          <p:nvPr/>
        </p:nvCxnSpPr>
        <p:spPr>
          <a:xfrm>
            <a:off x="4572000" y="3267075"/>
            <a:ext cx="533400" cy="1638300"/>
          </a:xfrm>
          <a:prstGeom prst="bentConnector3">
            <a:avLst>
              <a:gd name="adj1" fmla="val 50000"/>
            </a:avLst>
          </a:prstGeom>
          <a:ln w="17145">
            <a:solidFill>
              <a:srgbClr val="C9433C"/>
            </a:solidFill>
            <a:tailEnd type="none" w="sm" len="sm"/>
          </a:ln>
        </p:spPr>
      </p:cxnSp>
      <p:sp>
        <p:nvSpPr>
          <p:cNvPr id="41" name="text-8">
            <a:extLst>
              <a:ext uri="{FF2B5EF4-FFF2-40B4-BE49-F238E27FC236}">
                <ns2:creationId id="{2183020F-F979-4D84-9402-EF6D3B495E8D}"/>
              </a:ext>
            </a:extLst>
          </p:cNvPr>
          <p:cNvSpPr>
            <a:spLocks noGrp="1"/>
          </p:cNvSpPr>
          <p:nvPr/>
        </p:nvSpPr>
        <p:spPr>
          <a:xfrm>
            <a:off x="609600" y="523875"/>
            <a:ext cx="14020800" cy="809625"/>
          </a:xfrm>
          <a:prstGeom prst="rect">
            <a:avLst/>
          </a:prstGeom>
          <a:noFill/>
          <a:ln w="0">
            <a:noFill/>
          </a:ln>
        </p:spPr>
        <p:txBody>
          <a:bodyPr wrap="square" lIns="0" tIns="0" rIns="0" bIns="0" anchor="t">
            <a:noAutofit/>
          </a:bodyPr>
          <a:lstStyle>
            <a:defPPr algn="l">
              <a:defRPr sz="4200" b="0">
                <a:solidFill>
                  <a:srgbClr val="252524"/>
                </a:solidFill>
                <a:latin typeface="Helvetica Neue"/>
                <a:ea typeface="Helvetica Neue"/>
                <a:cs typeface="Helvetica Neue"/>
              </a:defRPr>
            </a:defPPr>
          </a:lstStyle>
          <a:p>
            <a:pPr algn="l">
              <a:lnSpc>
                <a:spcPct val="113000"/>
              </a:lnSpc>
              <a:buNone/>
              <a:defRPr sz="4200" b="0">
                <a:solidFill>
                  <a:srgbClr val="252524"/>
                </a:solidFill>
                <a:latin typeface="Helvetica Neue"/>
                <a:ea typeface="Helvetica Neue"/>
                <a:cs typeface="Helvetica Neue"/>
              </a:defRPr>
            </a:pPr>
            <a:r>
              <a:rPr sz="4200" b="0">
                <a:solidFill>
                  <a:srgbClr val="252524"/>
                </a:solidFill>
                <a:latin typeface="Helvetica Neue"/>
                <a:ea typeface="Helvetica Neue"/>
                <a:cs typeface="Helvetica Neue"/>
              </a:rPr>
              <a:t>Architecture: one graph, many layers</a:t>
            </a:r>
          </a:p>
        </p:txBody>
      </p:sp>
      <p:sp>
        <p:nvSpPr>
          <p:cNvPr id="2" name="text-9">
            <a:extLst>
              <a:ext uri="{FF2B5EF4-FFF2-40B4-BE49-F238E27FC236}">
                <ns2:creationId id="{858404C7-C7B5-4184-B886-46EEA89C543F}"/>
              </a:ext>
            </a:extLst>
          </p:cNvPr>
          <p:cNvSpPr>
            <a:spLocks noGrp="1"/>
          </p:cNvSpPr>
          <p:nvPr/>
        </p:nvSpPr>
        <p:spPr>
          <a:xfrm>
            <a:off x="628650" y="1476375"/>
            <a:ext cx="13963650" cy="914400"/>
          </a:xfrm>
          <a:prstGeom prst="rect">
            <a:avLst/>
          </a:prstGeom>
          <a:noFill/>
          <a:ln w="0">
            <a:noFill/>
          </a:ln>
        </p:spPr>
        <p:txBody>
          <a:bodyPr wrap="square" lIns="0" tIns="0" rIns="0" bIns="0" anchor="t">
            <a:noAutofit/>
          </a:bodyPr>
          <a:lstStyle>
            <a:defPPr algn="l">
              <a:defRPr sz="2025" b="0">
                <a:solidFill>
                  <a:srgbClr val="686560"/>
                </a:solidFill>
                <a:latin typeface="Helvetica Neue"/>
                <a:ea typeface="Helvetica Neue"/>
                <a:cs typeface="Helvetica Neue"/>
              </a:defRPr>
            </a:defPPr>
          </a:lstStyle>
          <a:p>
            <a:pPr algn="l">
              <a:lnSpc>
                <a:spcPct val="113000"/>
              </a:lnSpc>
              <a:buNone/>
              <a:defRPr sz="2025" b="0">
                <a:solidFill>
                  <a:srgbClr val="686560"/>
                </a:solidFill>
                <a:latin typeface="Helvetica Neue"/>
                <a:ea typeface="Helvetica Neue"/>
                <a:cs typeface="Helvetica Neue"/>
              </a:defRPr>
            </a:pPr>
            <a:r>
              <a:rPr sz="2025" b="0">
                <a:solidFill>
                  <a:srgbClr val="686560"/>
                </a:solidFill>
                <a:latin typeface="Helvetica Neue"/>
                <a:ea typeface="Helvetica Neue"/>
                <a:cs typeface="Helvetica Neue"/>
              </a:rPr>
              <a:t>FalkorDB connects shared identities, source evidence, semantic definitions, permitted capabilities and agent state. The surrounding systems retain their own responsibilities.</a:t>
            </a:r>
          </a:p>
        </p:txBody>
      </p:sp>
      <p:sp>
        <p:nvSpPr>
          <p:cNvPr id="3" name="shape-10">
            <a:extLst>
              <a:ext uri="{FF2B5EF4-FFF2-40B4-BE49-F238E27FC236}">
                <ns2:creationId id="{0B287047-9553-46C8-A497-A9E643FC3696}"/>
              </a:ext>
            </a:extLst>
          </p:cNvPr>
          <p:cNvSpPr>
            <a:spLocks noGrp="1"/>
          </p:cNvSpPr>
          <p:nvPr/>
        </p:nvSpPr>
        <p:spPr>
          <a:xfrm>
            <a:off x="609600" y="8153400"/>
            <a:ext cx="14020800" cy="0"/>
          </a:xfrm>
          <a:prstGeom prst="line">
            <a:avLst/>
          </a:prstGeom>
          <a:noFill/>
          <a:ln w="9525">
            <a:solidFill>
              <a:srgbClr val="D6D2CB"/>
            </a:solidFill>
          </a:ln>
        </p:spPr>
      </p:sp>
      <p:sp>
        <p:nvSpPr>
          <p:cNvPr id="4" name="text-11">
            <a:extLst>
              <a:ext uri="{FF2B5EF4-FFF2-40B4-BE49-F238E27FC236}">
                <ns2:creationId id="{A967A960-FC1A-4FCF-AE09-F0EEDA45F5FC}"/>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686560"/>
                </a:solidFill>
                <a:latin typeface="Helvetica Neue"/>
                <a:ea typeface="Helvetica Neue"/>
                <a:cs typeface="Helvetica Neue"/>
              </a:defRPr>
            </a:defPPr>
          </a:lstStyle>
          <a:p>
            <a:pPr algn="r">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02</a:t>
            </a:r>
          </a:p>
        </p:txBody>
      </p:sp>
      <p:sp>
        <p:nvSpPr>
          <p:cNvPr id="5" name="shape-12">
            <a:extLst>
              <a:ext uri="{FF2B5EF4-FFF2-40B4-BE49-F238E27FC236}">
                <ns2:creationId id="{A4563055-A7DD-4FC3-AAD8-5975123AECE6}"/>
              </a:ext>
            </a:extLst>
          </p:cNvPr>
          <p:cNvSpPr>
            <a:spLocks noGrp="1"/>
          </p:cNvSpPr>
          <p:nvPr/>
        </p:nvSpPr>
        <p:spPr>
          <a:xfrm>
            <a:off x="609600" y="2724150"/>
            <a:ext cx="3962400" cy="1085850"/>
          </a:xfrm>
          <a:prstGeom prst="roundRect">
            <a:avLst>
              <a:gd name="adj" fmla="val 5263"/>
            </a:avLst>
          </a:prstGeom>
          <a:solidFill>
            <a:srgbClr val="FFFFFF"/>
          </a:solidFill>
          <a:ln w="0">
            <a:noFill/>
          </a:ln>
        </p:spPr>
      </p:sp>
      <p:sp>
        <p:nvSpPr>
          <p:cNvPr id="6" name="text-13">
            <a:extLst>
              <a:ext uri="{FF2B5EF4-FFF2-40B4-BE49-F238E27FC236}">
                <ns2:creationId id="{C1311F1A-9914-401B-89AF-F1816D68CEF9}"/>
              </a:ext>
            </a:extLst>
          </p:cNvPr>
          <p:cNvSpPr>
            <a:spLocks noGrp="1"/>
          </p:cNvSpPr>
          <p:nvPr/>
        </p:nvSpPr>
        <p:spPr>
          <a:xfrm>
            <a:off x="819150" y="2886075"/>
            <a:ext cx="3543300" cy="37147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Structured systems</a:t>
            </a:r>
          </a:p>
        </p:txBody>
      </p:sp>
      <p:sp>
        <p:nvSpPr>
          <p:cNvPr id="7" name="text-14">
            <a:extLst>
              <a:ext uri="{FF2B5EF4-FFF2-40B4-BE49-F238E27FC236}">
                <ns2:creationId id="{4041A74C-56EE-4A6D-ADAC-20EF4A5AAB61}"/>
              </a:ext>
            </a:extLst>
          </p:cNvPr>
          <p:cNvSpPr>
            <a:spLocks noGrp="1"/>
          </p:cNvSpPr>
          <p:nvPr/>
        </p:nvSpPr>
        <p:spPr>
          <a:xfrm>
            <a:off x="819150" y="3314700"/>
            <a:ext cx="3543300" cy="371475"/>
          </a:xfrm>
          <a:prstGeom prst="rect">
            <a:avLst/>
          </a:prstGeom>
          <a:noFill/>
          <a:ln w="0">
            <a:noFill/>
          </a:ln>
        </p:spPr>
        <p:txBody>
          <a:bodyPr wrap="square" lIns="0" tIns="0" rIns="0" bIns="0" anchor="t">
            <a:noAutofit/>
          </a:bodyPr>
          <a:lstStyle>
            <a:defPPr algn="l">
              <a:defRPr sz="1725" b="0">
                <a:solidFill>
                  <a:srgbClr val="686560"/>
                </a:solidFill>
                <a:latin typeface="Helvetica Neue"/>
                <a:ea typeface="Helvetica Neue"/>
                <a:cs typeface="Helvetica Neue"/>
              </a:defRPr>
            </a:defPPr>
          </a:lstStyle>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SQL, APIs and captured records</a:t>
            </a:r>
          </a:p>
        </p:txBody>
      </p:sp>
      <p:sp>
        <p:nvSpPr>
          <p:cNvPr id="8" name="shape-15">
            <a:extLst>
              <a:ext uri="{FF2B5EF4-FFF2-40B4-BE49-F238E27FC236}">
                <ns2:creationId id="{1091F044-21D5-4D4C-AF35-11CC3399603F}"/>
              </a:ext>
            </a:extLst>
          </p:cNvPr>
          <p:cNvSpPr>
            <a:spLocks noGrp="1"/>
          </p:cNvSpPr>
          <p:nvPr/>
        </p:nvSpPr>
        <p:spPr>
          <a:xfrm>
            <a:off x="609600" y="4038600"/>
            <a:ext cx="3962400" cy="1238250"/>
          </a:xfrm>
          <a:prstGeom prst="roundRect">
            <a:avLst>
              <a:gd name="adj" fmla="val 4615"/>
            </a:avLst>
          </a:prstGeom>
          <a:solidFill>
            <a:srgbClr val="FFFFFF"/>
          </a:solidFill>
          <a:ln w="0">
            <a:noFill/>
          </a:ln>
        </p:spPr>
      </p:sp>
      <p:sp>
        <p:nvSpPr>
          <p:cNvPr id="9" name="text-16">
            <a:extLst>
              <a:ext uri="{FF2B5EF4-FFF2-40B4-BE49-F238E27FC236}">
                <ns2:creationId id="{EE61CF43-A385-4A01-93BF-3011859340D6}"/>
              </a:ext>
            </a:extLst>
          </p:cNvPr>
          <p:cNvSpPr>
            <a:spLocks noGrp="1"/>
          </p:cNvSpPr>
          <p:nvPr/>
        </p:nvSpPr>
        <p:spPr>
          <a:xfrm>
            <a:off x="819150" y="4200525"/>
            <a:ext cx="3543300" cy="37147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Portable knowledge</a:t>
            </a:r>
          </a:p>
        </p:txBody>
      </p:sp>
      <p:sp>
        <p:nvSpPr>
          <p:cNvPr id="10" name="text-17">
            <a:extLst>
              <a:ext uri="{FF2B5EF4-FFF2-40B4-BE49-F238E27FC236}">
                <ns2:creationId id="{1FCDCE12-D4ED-41BC-8AD9-BADB3C4BBBDB}"/>
              </a:ext>
            </a:extLst>
          </p:cNvPr>
          <p:cNvSpPr>
            <a:spLocks noGrp="1"/>
          </p:cNvSpPr>
          <p:nvPr/>
        </p:nvSpPr>
        <p:spPr>
          <a:xfrm>
            <a:off x="819150" y="4629150"/>
            <a:ext cx="3543300" cy="523875"/>
          </a:xfrm>
          <a:prstGeom prst="rect">
            <a:avLst/>
          </a:prstGeom>
          <a:noFill/>
          <a:ln w="0">
            <a:noFill/>
          </a:ln>
        </p:spPr>
        <p:txBody>
          <a:bodyPr wrap="square" lIns="0" tIns="0" rIns="0" bIns="0" anchor="t">
            <a:noAutofit/>
          </a:bodyPr>
          <a:lstStyle>
            <a:defPPr algn="l">
              <a:defRPr sz="1725" b="0">
                <a:solidFill>
                  <a:srgbClr val="686560"/>
                </a:solidFill>
                <a:latin typeface="Helvetica Neue"/>
                <a:ea typeface="Helvetica Neue"/>
                <a:cs typeface="Helvetica Neue"/>
              </a:defRPr>
            </a:defPPr>
          </a:lstStyle>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Google OKF Markdown</a:t>
            </a:r>
          </a:p>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Frictionless data descriptors</a:t>
            </a:r>
          </a:p>
        </p:txBody>
      </p:sp>
      <p:sp>
        <p:nvSpPr>
          <p:cNvPr id="11" name="shape-18">
            <a:extLst>
              <a:ext uri="{FF2B5EF4-FFF2-40B4-BE49-F238E27FC236}">
                <ns2:creationId id="{479FC48E-5762-410B-ADE0-69DA088D4903}"/>
              </a:ext>
            </a:extLst>
          </p:cNvPr>
          <p:cNvSpPr>
            <a:spLocks noGrp="1"/>
          </p:cNvSpPr>
          <p:nvPr/>
        </p:nvSpPr>
        <p:spPr>
          <a:xfrm>
            <a:off x="609600" y="5505450"/>
            <a:ext cx="3962400" cy="1266825"/>
          </a:xfrm>
          <a:prstGeom prst="roundRect">
            <a:avLst>
              <a:gd name="adj" fmla="val 4511"/>
            </a:avLst>
          </a:prstGeom>
          <a:solidFill>
            <a:srgbClr val="FFFFFF"/>
          </a:solidFill>
          <a:ln w="0">
            <a:noFill/>
          </a:ln>
        </p:spPr>
      </p:sp>
      <p:sp>
        <p:nvSpPr>
          <p:cNvPr id="12" name="text-19">
            <a:extLst>
              <a:ext uri="{FF2B5EF4-FFF2-40B4-BE49-F238E27FC236}">
                <ns2:creationId id="{45ED7B66-45AA-486F-A8A2-CDBCC28446A3}"/>
              </a:ext>
            </a:extLst>
          </p:cNvPr>
          <p:cNvSpPr>
            <a:spLocks noGrp="1"/>
          </p:cNvSpPr>
          <p:nvPr/>
        </p:nvSpPr>
        <p:spPr>
          <a:xfrm>
            <a:off x="819150" y="5667375"/>
            <a:ext cx="3543300" cy="37147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Documents and artifacts</a:t>
            </a:r>
          </a:p>
        </p:txBody>
      </p:sp>
      <p:sp>
        <p:nvSpPr>
          <p:cNvPr id="13" name="text-20">
            <a:extLst>
              <a:ext uri="{FF2B5EF4-FFF2-40B4-BE49-F238E27FC236}">
                <ns2:creationId id="{894D5813-21C7-4D50-8359-D267703A0496}"/>
              </a:ext>
            </a:extLst>
          </p:cNvPr>
          <p:cNvSpPr>
            <a:spLocks noGrp="1"/>
          </p:cNvSpPr>
          <p:nvPr/>
        </p:nvSpPr>
        <p:spPr>
          <a:xfrm>
            <a:off x="819150" y="6096000"/>
            <a:ext cx="3543300" cy="552450"/>
          </a:xfrm>
          <a:prstGeom prst="rect">
            <a:avLst/>
          </a:prstGeom>
          <a:noFill/>
          <a:ln w="0">
            <a:noFill/>
          </a:ln>
        </p:spPr>
        <p:txBody>
          <a:bodyPr wrap="square" lIns="0" tIns="0" rIns="0" bIns="0" anchor="t">
            <a:noAutofit/>
          </a:bodyPr>
          <a:lstStyle>
            <a:defPPr algn="l">
              <a:defRPr sz="1725" b="0">
                <a:solidFill>
                  <a:srgbClr val="686560"/>
                </a:solidFill>
                <a:latin typeface="Helvetica Neue"/>
                <a:ea typeface="Helvetica Neue"/>
                <a:cs typeface="Helvetica Neue"/>
              </a:defRPr>
            </a:defPPr>
          </a:lstStyle>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Versioned evidence and results</a:t>
            </a:r>
          </a:p>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S3-compatible storage, e.g. MinIO</a:t>
            </a:r>
          </a:p>
        </p:txBody>
      </p:sp>
      <p:sp>
        <p:nvSpPr>
          <p:cNvPr id="14" name="shape-21">
            <a:extLst>
              <a:ext uri="{FF2B5EF4-FFF2-40B4-BE49-F238E27FC236}">
                <ns2:creationId id="{D55D3114-22E6-4DC9-A9CA-97CA91C1FF0D}"/>
              </a:ext>
            </a:extLst>
          </p:cNvPr>
          <p:cNvSpPr>
            <a:spLocks noGrp="1"/>
          </p:cNvSpPr>
          <p:nvPr/>
        </p:nvSpPr>
        <p:spPr>
          <a:xfrm>
            <a:off x="5105400" y="2724150"/>
            <a:ext cx="5029200" cy="895350"/>
          </a:xfrm>
          <a:prstGeom prst="roundRect">
            <a:avLst>
              <a:gd name="adj" fmla="val 6383"/>
            </a:avLst>
          </a:prstGeom>
          <a:solidFill>
            <a:srgbClr val="FFFFFF"/>
          </a:solidFill>
          <a:ln w="0">
            <a:noFill/>
          </a:ln>
        </p:spPr>
      </p:sp>
      <p:sp>
        <p:nvSpPr>
          <p:cNvPr id="15" name="text-22">
            <a:extLst>
              <a:ext uri="{FF2B5EF4-FFF2-40B4-BE49-F238E27FC236}">
                <ns2:creationId id="{CA93EDBF-5F47-4CEC-A02C-3A5A7473A507}"/>
              </a:ext>
            </a:extLst>
          </p:cNvPr>
          <p:cNvSpPr>
            <a:spLocks noGrp="1"/>
          </p:cNvSpPr>
          <p:nvPr/>
        </p:nvSpPr>
        <p:spPr>
          <a:xfrm>
            <a:off x="5314950" y="2886075"/>
            <a:ext cx="4610100" cy="37147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Ontology and review</a:t>
            </a:r>
          </a:p>
        </p:txBody>
      </p:sp>
      <p:sp>
        <p:nvSpPr>
          <p:cNvPr id="16" name="text-23">
            <a:extLst>
              <a:ext uri="{FF2B5EF4-FFF2-40B4-BE49-F238E27FC236}">
                <ns2:creationId id="{4D66DBD7-FA56-4B0F-B7EC-1A221532BFD3}"/>
              </a:ext>
            </a:extLst>
          </p:cNvPr>
          <p:cNvSpPr>
            <a:spLocks noGrp="1"/>
          </p:cNvSpPr>
          <p:nvPr/>
        </p:nvSpPr>
        <p:spPr>
          <a:xfrm>
            <a:off x="5314950" y="3314700"/>
            <a:ext cx="4610100" cy="180975"/>
          </a:xfrm>
          <a:prstGeom prst="rect">
            <a:avLst/>
          </a:prstGeom>
          <a:noFill/>
          <a:ln w="0">
            <a:noFill/>
          </a:ln>
        </p:spPr>
        <p:txBody>
          <a:bodyPr wrap="square" lIns="0" tIns="0" rIns="0" bIns="0" anchor="t">
            <a:noAutofit/>
          </a:bodyPr>
          <a:lstStyle>
            <a:defPPr algn="l">
              <a:defRPr sz="1725" b="0">
                <a:solidFill>
                  <a:srgbClr val="686560"/>
                </a:solidFill>
                <a:latin typeface="Helvetica Neue"/>
                <a:ea typeface="Helvetica Neue"/>
                <a:cs typeface="Helvetica Neue"/>
              </a:defRPr>
            </a:defPPr>
          </a:lstStyle>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Types, identity and evidence rules</a:t>
            </a:r>
          </a:p>
        </p:txBody>
      </p:sp>
      <p:sp>
        <p:nvSpPr>
          <p:cNvPr id="17" name="shape-24">
            <a:extLst>
              <a:ext uri="{FF2B5EF4-FFF2-40B4-BE49-F238E27FC236}">
                <ns2:creationId id="{F053BABE-21F2-456E-A283-6BC886CBAA58}"/>
              </a:ext>
            </a:extLst>
          </p:cNvPr>
          <p:cNvSpPr>
            <a:spLocks noGrp="1"/>
          </p:cNvSpPr>
          <p:nvPr/>
        </p:nvSpPr>
        <p:spPr>
          <a:xfrm>
            <a:off x="5105400" y="3905250"/>
            <a:ext cx="5029200" cy="2000250"/>
          </a:xfrm>
          <a:prstGeom prst="roundRect">
            <a:avLst>
              <a:gd name="adj" fmla="val 3333"/>
            </a:avLst>
          </a:prstGeom>
          <a:solidFill>
            <a:srgbClr val="C9433C"/>
          </a:solidFill>
          <a:ln w="0">
            <a:noFill/>
          </a:ln>
        </p:spPr>
      </p:sp>
      <p:sp>
        <p:nvSpPr>
          <p:cNvPr id="18" name="text-25">
            <a:extLst>
              <a:ext uri="{FF2B5EF4-FFF2-40B4-BE49-F238E27FC236}">
                <ns2:creationId id="{3C40A9EE-CD31-4F2C-AAF5-CAB0BBA50B9A}"/>
              </a:ext>
            </a:extLst>
          </p:cNvPr>
          <p:cNvSpPr>
            <a:spLocks noGrp="1"/>
          </p:cNvSpPr>
          <p:nvPr/>
        </p:nvSpPr>
        <p:spPr>
          <a:xfrm>
            <a:off x="5314950" y="4095750"/>
            <a:ext cx="4610100" cy="438150"/>
          </a:xfrm>
          <a:prstGeom prst="rect">
            <a:avLst/>
          </a:prstGeom>
          <a:noFill/>
          <a:ln w="0">
            <a:noFill/>
          </a:ln>
        </p:spPr>
        <p:txBody>
          <a:bodyPr wrap="square" lIns="0" tIns="0" rIns="0" bIns="0" anchor="t">
            <a:noAutofit/>
          </a:bodyPr>
          <a:lstStyle>
            <a:defPPr algn="l">
              <a:defRPr sz="2700" b="0">
                <a:solidFill>
                  <a:srgbClr val="FFFFFF"/>
                </a:solidFill>
                <a:latin typeface="Helvetica Neue"/>
                <a:ea typeface="Helvetica Neue"/>
                <a:cs typeface="Helvetica Neue"/>
              </a:defRPr>
            </a:defPPr>
          </a:lstStyle>
          <a:p>
            <a:pPr algn="l">
              <a:lnSpc>
                <a:spcPct val="113000"/>
              </a:lnSpc>
              <a:buNone/>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FalkorDB shared graph</a:t>
            </a:r>
          </a:p>
        </p:txBody>
      </p:sp>
      <p:sp>
        <p:nvSpPr>
          <p:cNvPr id="19" name="text-26">
            <a:extLst>
              <a:ext uri="{FF2B5EF4-FFF2-40B4-BE49-F238E27FC236}">
                <ns2:creationId id="{4DC47AFC-CBAC-41FC-BE46-6B1DB53ECC1D}"/>
              </a:ext>
            </a:extLst>
          </p:cNvPr>
          <p:cNvSpPr>
            <a:spLocks noGrp="1"/>
          </p:cNvSpPr>
          <p:nvPr/>
        </p:nvSpPr>
        <p:spPr>
          <a:xfrm>
            <a:off x="5314950" y="4686300"/>
            <a:ext cx="4610100" cy="1095375"/>
          </a:xfrm>
          <a:prstGeom prst="rect">
            <a:avLst/>
          </a:prstGeom>
          <a:noFill/>
          <a:ln w="0">
            <a:noFill/>
          </a:ln>
        </p:spPr>
        <p:txBody>
          <a:bodyPr wrap="square" lIns="0" tIns="0" rIns="0" bIns="0" anchor="t">
            <a:noAutofit/>
          </a:bodyPr>
          <a:lstStyle>
            <a:defPPr algn="l">
              <a:defRPr sz="1800" b="0">
                <a:solidFill>
                  <a:srgbClr val="FFFFFF"/>
                </a:solidFill>
                <a:latin typeface="Helvetica Neue"/>
                <a:ea typeface="Helvetica Neue"/>
                <a:cs typeface="Helvetica Neue"/>
              </a:defRPr>
            </a:defPPr>
          </a:lstStyle>
          <a:p>
            <a:pPr algn="l">
              <a:lnSpc>
                <a:spcPct val="113000"/>
              </a:lnSpc>
              <a:buNone/>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Shared identities and source assertions</a:t>
            </a:r>
          </a:p>
          <a:p>
            <a:pPr algn="l">
              <a:lnSpc>
                <a:spcPct val="113000"/>
              </a:lnSpc>
              <a:buNone/>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Definitions and permitted capabilities</a:t>
            </a:r>
          </a:p>
          <a:p>
            <a:pPr algn="l">
              <a:lnSpc>
                <a:spcPct val="113000"/>
              </a:lnSpc>
              <a:buNone/>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Memory, tasks and change dependencies</a:t>
            </a:r>
          </a:p>
        </p:txBody>
      </p:sp>
      <p:sp>
        <p:nvSpPr>
          <p:cNvPr id="20" name="shape-27">
            <a:extLst>
              <a:ext uri="{FF2B5EF4-FFF2-40B4-BE49-F238E27FC236}">
                <ns2:creationId id="{433989EB-2980-4CF7-A83D-531183200A70}"/>
              </a:ext>
            </a:extLst>
          </p:cNvPr>
          <p:cNvSpPr>
            <a:spLocks noGrp="1"/>
          </p:cNvSpPr>
          <p:nvPr/>
        </p:nvSpPr>
        <p:spPr>
          <a:xfrm>
            <a:off x="5105400" y="6191250"/>
            <a:ext cx="5029200" cy="971550"/>
          </a:xfrm>
          <a:prstGeom prst="roundRect">
            <a:avLst>
              <a:gd name="adj" fmla="val 5882"/>
            </a:avLst>
          </a:prstGeom>
          <a:solidFill>
            <a:srgbClr val="FFFFFF"/>
          </a:solidFill>
          <a:ln w="0">
            <a:noFill/>
          </a:ln>
        </p:spPr>
      </p:sp>
      <p:sp>
        <p:nvSpPr>
          <p:cNvPr id="21" name="text-28">
            <a:extLst>
              <a:ext uri="{FF2B5EF4-FFF2-40B4-BE49-F238E27FC236}">
                <ns2:creationId id="{AA1F9735-3C5F-4908-9346-DCF25BA3EADF}"/>
              </a:ext>
            </a:extLst>
          </p:cNvPr>
          <p:cNvSpPr>
            <a:spLocks noGrp="1"/>
          </p:cNvSpPr>
          <p:nvPr/>
        </p:nvSpPr>
        <p:spPr>
          <a:xfrm>
            <a:off x="5314950" y="6353175"/>
            <a:ext cx="4610100" cy="37147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Reviewed execution</a:t>
            </a:r>
          </a:p>
        </p:txBody>
      </p:sp>
      <p:sp>
        <p:nvSpPr>
          <p:cNvPr id="22" name="text-29">
            <a:extLst>
              <a:ext uri="{FF2B5EF4-FFF2-40B4-BE49-F238E27FC236}">
                <ns2:creationId id="{A302247A-D067-48B3-9A32-F1315FC23D05}"/>
              </a:ext>
            </a:extLst>
          </p:cNvPr>
          <p:cNvSpPr>
            <a:spLocks noGrp="1"/>
          </p:cNvSpPr>
          <p:nvPr/>
        </p:nvSpPr>
        <p:spPr>
          <a:xfrm>
            <a:off x="5314950" y="6781800"/>
            <a:ext cx="4610100" cy="257175"/>
          </a:xfrm>
          <a:prstGeom prst="rect">
            <a:avLst/>
          </a:prstGeom>
          <a:noFill/>
          <a:ln w="0">
            <a:noFill/>
          </a:ln>
        </p:spPr>
        <p:txBody>
          <a:bodyPr wrap="square" lIns="0" tIns="0" rIns="0" bIns="0" anchor="t">
            <a:noAutofit/>
          </a:bodyPr>
          <a:lstStyle>
            <a:defPPr algn="l">
              <a:defRPr sz="1725" b="0">
                <a:solidFill>
                  <a:srgbClr val="686560"/>
                </a:solidFill>
                <a:latin typeface="Helvetica Neue"/>
                <a:ea typeface="Helvetica Neue"/>
                <a:cs typeface="Helvetica Neue"/>
              </a:defRPr>
            </a:defPPr>
          </a:lstStyle>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dbt / MetricFlow and bounded workers</a:t>
            </a:r>
          </a:p>
        </p:txBody>
      </p:sp>
      <p:sp>
        <p:nvSpPr>
          <p:cNvPr id="23" name="shape-30">
            <a:extLst>
              <a:ext uri="{FF2B5EF4-FFF2-40B4-BE49-F238E27FC236}">
                <ns2:creationId id="{5E3108D1-CC8B-4D7A-B3D4-D2DA4CC6F4B2}"/>
              </a:ext>
            </a:extLst>
          </p:cNvPr>
          <p:cNvSpPr>
            <a:spLocks noGrp="1"/>
          </p:cNvSpPr>
          <p:nvPr/>
        </p:nvSpPr>
        <p:spPr>
          <a:xfrm>
            <a:off x="10668000" y="2724150"/>
            <a:ext cx="3962400" cy="895350"/>
          </a:xfrm>
          <a:prstGeom prst="roundRect">
            <a:avLst>
              <a:gd name="adj" fmla="val 6383"/>
            </a:avLst>
          </a:prstGeom>
          <a:solidFill>
            <a:srgbClr val="FFFFFF"/>
          </a:solidFill>
          <a:ln w="0">
            <a:noFill/>
          </a:ln>
        </p:spPr>
      </p:sp>
      <p:sp>
        <p:nvSpPr>
          <p:cNvPr id="24" name="text-31">
            <a:extLst>
              <a:ext uri="{FF2B5EF4-FFF2-40B4-BE49-F238E27FC236}">
                <ns2:creationId id="{4EC81813-8563-4778-A4E8-CBB7808F6D79}"/>
              </a:ext>
            </a:extLst>
          </p:cNvPr>
          <p:cNvSpPr>
            <a:spLocks noGrp="1"/>
          </p:cNvSpPr>
          <p:nvPr/>
        </p:nvSpPr>
        <p:spPr>
          <a:xfrm>
            <a:off x="10877550" y="2886075"/>
            <a:ext cx="3543300" cy="37147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Context and capability API</a:t>
            </a:r>
          </a:p>
        </p:txBody>
      </p:sp>
      <p:sp>
        <p:nvSpPr>
          <p:cNvPr id="25" name="text-32">
            <a:extLst>
              <a:ext uri="{FF2B5EF4-FFF2-40B4-BE49-F238E27FC236}">
                <ns2:creationId id="{11F955B2-EB5E-4A02-AF8F-E8C091D86C27}"/>
              </a:ext>
            </a:extLst>
          </p:cNvPr>
          <p:cNvSpPr>
            <a:spLocks noGrp="1"/>
          </p:cNvSpPr>
          <p:nvPr/>
        </p:nvSpPr>
        <p:spPr>
          <a:xfrm>
            <a:off x="10877550" y="3314700"/>
            <a:ext cx="3543300" cy="180975"/>
          </a:xfrm>
          <a:prstGeom prst="rect">
            <a:avLst/>
          </a:prstGeom>
          <a:noFill/>
          <a:ln w="0">
            <a:noFill/>
          </a:ln>
        </p:spPr>
        <p:txBody>
          <a:bodyPr wrap="square" lIns="0" tIns="0" rIns="0" bIns="0" anchor="t">
            <a:noAutofit/>
          </a:bodyPr>
          <a:lstStyle>
            <a:defPPr algn="l">
              <a:defRPr sz="1725" b="0">
                <a:solidFill>
                  <a:srgbClr val="686560"/>
                </a:solidFill>
                <a:latin typeface="Helvetica Neue"/>
                <a:ea typeface="Helvetica Neue"/>
                <a:cs typeface="Helvetica Neue"/>
              </a:defRPr>
            </a:defPPr>
          </a:lstStyle>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MCP and versioned HTTP</a:t>
            </a:r>
          </a:p>
        </p:txBody>
      </p:sp>
      <p:sp>
        <p:nvSpPr>
          <p:cNvPr id="26" name="shape-33">
            <a:extLst>
              <a:ext uri="{FF2B5EF4-FFF2-40B4-BE49-F238E27FC236}">
                <ns2:creationId id="{3CB8186E-E86B-464C-BA17-8E58BE2D71B4}"/>
              </a:ext>
            </a:extLst>
          </p:cNvPr>
          <p:cNvSpPr>
            <a:spLocks noGrp="1"/>
          </p:cNvSpPr>
          <p:nvPr/>
        </p:nvSpPr>
        <p:spPr>
          <a:xfrm>
            <a:off x="10668000" y="3905250"/>
            <a:ext cx="3962400" cy="2000250"/>
          </a:xfrm>
          <a:prstGeom prst="roundRect">
            <a:avLst>
              <a:gd name="adj" fmla="val 2857"/>
            </a:avLst>
          </a:prstGeom>
          <a:solidFill>
            <a:srgbClr val="FFFFFF"/>
          </a:solidFill>
          <a:ln w="0">
            <a:noFill/>
          </a:ln>
        </p:spPr>
      </p:sp>
      <p:sp>
        <p:nvSpPr>
          <p:cNvPr id="27" name="text-34">
            <a:extLst>
              <a:ext uri="{FF2B5EF4-FFF2-40B4-BE49-F238E27FC236}">
                <ns2:creationId id="{28D11F5F-4F5D-4841-A048-D3AC089BA359}"/>
              </a:ext>
            </a:extLst>
          </p:cNvPr>
          <p:cNvSpPr>
            <a:spLocks noGrp="1"/>
          </p:cNvSpPr>
          <p:nvPr/>
        </p:nvSpPr>
        <p:spPr>
          <a:xfrm>
            <a:off x="10877550" y="4067175"/>
            <a:ext cx="3543300" cy="37147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Agents and copilots</a:t>
            </a:r>
          </a:p>
        </p:txBody>
      </p:sp>
      <p:sp>
        <p:nvSpPr>
          <p:cNvPr id="28" name="text-35">
            <a:extLst>
              <a:ext uri="{FF2B5EF4-FFF2-40B4-BE49-F238E27FC236}">
                <ns2:creationId id="{2E73E1B8-81E3-49A7-BCA0-3E4236602265}"/>
              </a:ext>
            </a:extLst>
          </p:cNvPr>
          <p:cNvSpPr>
            <a:spLocks noGrp="1"/>
          </p:cNvSpPr>
          <p:nvPr/>
        </p:nvSpPr>
        <p:spPr>
          <a:xfrm>
            <a:off x="10877550" y="4495800"/>
            <a:ext cx="3543300" cy="1285875"/>
          </a:xfrm>
          <a:prstGeom prst="rect">
            <a:avLst/>
          </a:prstGeom>
          <a:noFill/>
          <a:ln w="0">
            <a:noFill/>
          </a:ln>
        </p:spPr>
        <p:txBody>
          <a:bodyPr wrap="square" lIns="0" tIns="0" rIns="0" bIns="0" anchor="t">
            <a:noAutofit/>
          </a:bodyPr>
          <a:lstStyle>
            <a:defPPr algn="l">
              <a:defRPr sz="1725" b="0">
                <a:solidFill>
                  <a:srgbClr val="686560"/>
                </a:solidFill>
                <a:latin typeface="Helvetica Neue"/>
                <a:ea typeface="Helvetica Neue"/>
                <a:cs typeface="Helvetica Neue"/>
              </a:defRPr>
            </a:defPPr>
          </a:lstStyle>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Codex, OpenCode, Claude Code</a:t>
            </a:r>
          </a:p>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LangChain and LlamaIndex</a:t>
            </a:r>
          </a:p>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Graphiti and Cognee</a:t>
            </a:r>
          </a:p>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GraphRAG-SDK and QueryWeaver</a:t>
            </a:r>
          </a:p>
        </p:txBody>
      </p:sp>
      <p:sp>
        <p:nvSpPr>
          <p:cNvPr id="29" name="shape-36">
            <a:extLst>
              <a:ext uri="{FF2B5EF4-FFF2-40B4-BE49-F238E27FC236}">
                <ns2:creationId id="{F7A58FC3-B52D-4194-9570-081953E1F4D9}"/>
              </a:ext>
            </a:extLst>
          </p:cNvPr>
          <p:cNvSpPr>
            <a:spLocks noGrp="1"/>
          </p:cNvSpPr>
          <p:nvPr/>
        </p:nvSpPr>
        <p:spPr>
          <a:xfrm>
            <a:off x="10668000" y="6191250"/>
            <a:ext cx="3962400" cy="971550"/>
          </a:xfrm>
          <a:prstGeom prst="roundRect">
            <a:avLst>
              <a:gd name="adj" fmla="val 5882"/>
            </a:avLst>
          </a:prstGeom>
          <a:solidFill>
            <a:srgbClr val="FFFFFF"/>
          </a:solidFill>
          <a:ln w="0">
            <a:noFill/>
          </a:ln>
        </p:spPr>
      </p:sp>
      <p:sp>
        <p:nvSpPr>
          <p:cNvPr id="30" name="text-37">
            <a:extLst>
              <a:ext uri="{FF2B5EF4-FFF2-40B4-BE49-F238E27FC236}">
                <ns2:creationId id="{B6DA932E-4F99-4277-8467-A85649B750E3}"/>
              </a:ext>
            </a:extLst>
          </p:cNvPr>
          <p:cNvSpPr>
            <a:spLocks noGrp="1"/>
          </p:cNvSpPr>
          <p:nvPr/>
        </p:nvSpPr>
        <p:spPr>
          <a:xfrm>
            <a:off x="10877550" y="6353175"/>
            <a:ext cx="3543300" cy="37147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Redis</a:t>
            </a:r>
          </a:p>
        </p:txBody>
      </p:sp>
      <p:sp>
        <p:nvSpPr>
          <p:cNvPr id="31" name="text-38">
            <a:extLst>
              <a:ext uri="{FF2B5EF4-FFF2-40B4-BE49-F238E27FC236}">
                <ns2:creationId id="{AAB41C3A-7F01-4703-80F8-679FF8B021BF}"/>
              </a:ext>
            </a:extLst>
          </p:cNvPr>
          <p:cNvSpPr>
            <a:spLocks noGrp="1"/>
          </p:cNvSpPr>
          <p:nvPr/>
        </p:nvSpPr>
        <p:spPr>
          <a:xfrm>
            <a:off x="10877550" y="6781800"/>
            <a:ext cx="3543300" cy="257175"/>
          </a:xfrm>
          <a:prstGeom prst="rect">
            <a:avLst/>
          </a:prstGeom>
          <a:noFill/>
          <a:ln w="0">
            <a:noFill/>
          </a:ln>
        </p:spPr>
        <p:txBody>
          <a:bodyPr wrap="square" lIns="0" tIns="0" rIns="0" bIns="0" anchor="t">
            <a:noAutofit/>
          </a:bodyPr>
          <a:lstStyle>
            <a:defPPr algn="l">
              <a:defRPr sz="1725" b="0">
                <a:solidFill>
                  <a:srgbClr val="686560"/>
                </a:solidFill>
                <a:latin typeface="Helvetica Neue"/>
                <a:ea typeface="Helvetica Neue"/>
                <a:cs typeface="Helvetica Neue"/>
              </a:defRPr>
            </a:defPPr>
          </a:lstStyle>
          <a:p>
            <a:pPr algn="l">
              <a:lnSpc>
                <a:spcPct val="113000"/>
              </a:lnSpc>
              <a:buNone/>
              <a:defRPr sz="1725" b="0">
                <a:solidFill>
                  <a:srgbClr val="686560"/>
                </a:solidFill>
                <a:latin typeface="Helvetica Neue"/>
                <a:ea typeface="Helvetica Neue"/>
                <a:cs typeface="Helvetica Neue"/>
              </a:defRPr>
            </a:pPr>
            <a:r>
              <a:rPr sz="1725" b="0">
                <a:solidFill>
                  <a:srgbClr val="686560"/>
                </a:solidFill>
                <a:latin typeface="Helvetica Neue"/>
                <a:ea typeface="Helvetica Neue"/>
                <a:cs typeface="Helvetica Neue"/>
              </a:rPr>
              <a:t>Disposable cache and work delivery</a:t>
            </a:r>
          </a:p>
        </p:txBody>
      </p:sp>
      <p:sp>
        <p:nvSpPr>
          <p:cNvPr id="40" name="text-39">
            <a:extLst>
              <a:ext uri="{FF2B5EF4-FFF2-40B4-BE49-F238E27FC236}">
                <ns2:creationId id="{85323CF0-F912-4987-B2A3-61D4556BF572}"/>
              </a:ext>
            </a:extLst>
          </p:cNvPr>
          <p:cNvSpPr>
            <a:spLocks noGrp="1"/>
          </p:cNvSpPr>
          <p:nvPr/>
        </p:nvSpPr>
        <p:spPr>
          <a:xfrm>
            <a:off x="609600" y="7362825"/>
            <a:ext cx="14020800" cy="704850"/>
          </a:xfrm>
          <a:prstGeom prst="rect">
            <a:avLst/>
          </a:prstGeom>
          <a:noFill/>
          <a:ln w="0">
            <a:noFill/>
          </a:ln>
        </p:spPr>
        <p:txBody>
          <a:bodyPr wrap="square" lIns="0" tIns="0" rIns="0" bIns="0" anchor="t">
            <a:noAutofit/>
          </a:bodyPr>
          <a:lstStyle>
            <a:defPPr algn="l">
              <a:defRPr sz="1800" b="0">
                <a:solidFill>
                  <a:srgbClr val="686560"/>
                </a:solidFill>
                <a:latin typeface="Helvetica Neue"/>
                <a:ea typeface="Helvetica Neue"/>
                <a:cs typeface="Helvetica Neue"/>
              </a:defRPr>
            </a:defPPr>
          </a:lstStyle>
          <a:p>
            <a:pPr algn="l">
              <a:lnSpc>
                <a:spcPct val="113000"/>
              </a:lnSpc>
              <a:buNone/>
              <a:defRPr sz="1800" b="0">
                <a:solidFill>
                  <a:srgbClr val="686560"/>
                </a:solidFill>
                <a:latin typeface="Helvetica Neue"/>
                <a:ea typeface="Helvetica Neue"/>
                <a:cs typeface="Helvetica Neue"/>
              </a:defRPr>
            </a:pPr>
            <a:r>
              <a:rPr sz="1800" b="0">
                <a:solidFill>
                  <a:srgbClr val="686560"/>
                </a:solidFill>
                <a:latin typeface="Helvetica Neue"/>
                <a:ea typeface="Helvetica Neue"/>
                <a:cs typeface="Helvetica Neue"/>
              </a:rPr>
              <a:t>Each workspace has an isolated graph with enforced scopes. SQL and dbt own definitions, object storage keeps immutable bytes, and Redis supplies disposable cache and delivery.</a:t>
            </a:r>
          </a:p>
        </p:txBody>
      </p:sp>
    </p:spTree>
    <p:extLst>
      <p:ext uri="{BB962C8B-B14F-4D97-AF65-F5344CB8AC3E}">
        <ns3:creationId val="440984431"/>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4F2EE"/>
        </a:solidFill>
      </p:bgPr>
    </p:bg>
    <p:spTree>
      <p:nvGrpSpPr>
        <p:cNvPr id="1" name=""/>
        <p:cNvGrpSpPr/>
        <p:nvPr/>
      </p:nvGrpSpPr>
      <p:grpSpPr>
        <a:xfrm/>
      </p:grpSpPr>
      <p:sp>
        <p:nvSpPr>
          <p:cNvPr id="61" name="text-40">
            <a:extLst>
              <a:ext uri="{FF2B5EF4-FFF2-40B4-BE49-F238E27FC236}">
                <ns2:creationId id="{368497F2-FB1D-4C5F-A4C7-6D51A38370B0}"/>
              </a:ext>
            </a:extLst>
          </p:cNvPr>
          <p:cNvSpPr>
            <a:spLocks noGrp="1"/>
          </p:cNvSpPr>
          <p:nvPr/>
        </p:nvSpPr>
        <p:spPr>
          <a:xfrm>
            <a:off x="609600" y="523875"/>
            <a:ext cx="14020800" cy="809625"/>
          </a:xfrm>
          <a:prstGeom prst="rect">
            <a:avLst/>
          </a:prstGeom>
          <a:noFill/>
          <a:ln w="0">
            <a:noFill/>
          </a:ln>
        </p:spPr>
        <p:txBody>
          <a:bodyPr wrap="square" lIns="0" tIns="0" rIns="0" bIns="0" anchor="t">
            <a:noAutofit/>
          </a:bodyPr>
          <a:lstStyle>
            <a:defPPr algn="l">
              <a:defRPr sz="4200" b="0">
                <a:solidFill>
                  <a:srgbClr val="252524"/>
                </a:solidFill>
                <a:latin typeface="Helvetica Neue"/>
                <a:ea typeface="Helvetica Neue"/>
                <a:cs typeface="Helvetica Neue"/>
              </a:defRPr>
            </a:defPPr>
          </a:lstStyle>
          <a:p>
            <a:pPr algn="l">
              <a:lnSpc>
                <a:spcPct val="113000"/>
              </a:lnSpc>
              <a:buNone/>
              <a:defRPr sz="4200" b="0">
                <a:solidFill>
                  <a:srgbClr val="252524"/>
                </a:solidFill>
                <a:latin typeface="Helvetica Neue"/>
                <a:ea typeface="Helvetica Neue"/>
                <a:cs typeface="Helvetica Neue"/>
              </a:defRPr>
            </a:pPr>
            <a:r>
              <a:rPr sz="4200" b="0">
                <a:solidFill>
                  <a:srgbClr val="252524"/>
                </a:solidFill>
                <a:latin typeface="Helvetica Neue"/>
                <a:ea typeface="Helvetica Neue"/>
                <a:cs typeface="Helvetica Neue"/>
              </a:rPr>
              <a:t>The customer workspace</a:t>
            </a:r>
          </a:p>
        </p:txBody>
      </p:sp>
      <p:sp>
        <p:nvSpPr>
          <p:cNvPr id="2" name="text-41">
            <a:extLst>
              <a:ext uri="{FF2B5EF4-FFF2-40B4-BE49-F238E27FC236}">
                <ns2:creationId id="{024DD388-7EC7-4B7C-948D-796F61CD01C3}"/>
              </a:ext>
            </a:extLst>
          </p:cNvPr>
          <p:cNvSpPr>
            <a:spLocks noGrp="1"/>
          </p:cNvSpPr>
          <p:nvPr/>
        </p:nvSpPr>
        <p:spPr>
          <a:xfrm>
            <a:off x="628650" y="1476375"/>
            <a:ext cx="13963650" cy="914400"/>
          </a:xfrm>
          <a:prstGeom prst="rect">
            <a:avLst/>
          </a:prstGeom>
          <a:noFill/>
          <a:ln w="0">
            <a:noFill/>
          </a:ln>
        </p:spPr>
        <p:txBody>
          <a:bodyPr wrap="square" lIns="0" tIns="0" rIns="0" bIns="0" anchor="t">
            <a:noAutofit/>
          </a:bodyPr>
          <a:lstStyle>
            <a:defPPr algn="l">
              <a:defRPr sz="2025" b="0">
                <a:solidFill>
                  <a:srgbClr val="686560"/>
                </a:solidFill>
                <a:latin typeface="Helvetica Neue"/>
                <a:ea typeface="Helvetica Neue"/>
                <a:cs typeface="Helvetica Neue"/>
              </a:defRPr>
            </a:defPPr>
          </a:lstStyle>
          <a:p>
            <a:pPr algn="l">
              <a:lnSpc>
                <a:spcPct val="113000"/>
              </a:lnSpc>
              <a:buNone/>
              <a:defRPr sz="2025" b="0">
                <a:solidFill>
                  <a:srgbClr val="686560"/>
                </a:solidFill>
                <a:latin typeface="Helvetica Neue"/>
                <a:ea typeface="Helvetica Neue"/>
                <a:cs typeface="Helvetica Neue"/>
              </a:defRPr>
            </a:pPr>
            <a:r>
              <a:rPr sz="2025" b="0">
                <a:solidFill>
                  <a:srgbClr val="686560"/>
                </a:solidFill>
                <a:latin typeface="Helvetica Neue"/>
                <a:ea typeface="Helvetica Neue"/>
                <a:cs typeface="Helvetica Neue"/>
              </a:rPr>
              <a:t>A proposed workspace combines a knowledge catalogue, context builder, reviewed reauthoring and ontology management with agent integrations and persistent memory.</a:t>
            </a:r>
          </a:p>
        </p:txBody>
      </p:sp>
      <p:sp>
        <p:nvSpPr>
          <p:cNvPr id="3" name="shape-42">
            <a:extLst>
              <a:ext uri="{FF2B5EF4-FFF2-40B4-BE49-F238E27FC236}">
                <ns2:creationId id="{690569D8-F684-4491-AAF7-D9DFDF1E9E94}"/>
              </a:ext>
            </a:extLst>
          </p:cNvPr>
          <p:cNvSpPr>
            <a:spLocks noGrp="1"/>
          </p:cNvSpPr>
          <p:nvPr/>
        </p:nvSpPr>
        <p:spPr>
          <a:xfrm>
            <a:off x="609600" y="8153400"/>
            <a:ext cx="14020800" cy="0"/>
          </a:xfrm>
          <a:prstGeom prst="line">
            <a:avLst/>
          </a:prstGeom>
          <a:noFill/>
          <a:ln w="9525">
            <a:solidFill>
              <a:srgbClr val="D6D2CB"/>
            </a:solidFill>
          </a:ln>
        </p:spPr>
      </p:sp>
      <p:sp>
        <p:nvSpPr>
          <p:cNvPr id="4" name="text-43">
            <a:extLst>
              <a:ext uri="{FF2B5EF4-FFF2-40B4-BE49-F238E27FC236}">
                <ns2:creationId id="{AAC18400-F47C-41F7-B157-6E766C073D9F}"/>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686560"/>
                </a:solidFill>
                <a:latin typeface="Helvetica Neue"/>
                <a:ea typeface="Helvetica Neue"/>
                <a:cs typeface="Helvetica Neue"/>
              </a:defRPr>
            </a:defPPr>
          </a:lstStyle>
          <a:p>
            <a:pPr algn="r">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03</a:t>
            </a:r>
          </a:p>
        </p:txBody>
      </p:sp>
      <p:sp>
        <p:nvSpPr>
          <p:cNvPr id="5" name="shape-44">
            <a:extLst>
              <a:ext uri="{FF2B5EF4-FFF2-40B4-BE49-F238E27FC236}">
                <ns2:creationId id="{CBA0D9D2-2253-484A-85F7-ED1ED4B95F2B}"/>
              </a:ext>
            </a:extLst>
          </p:cNvPr>
          <p:cNvSpPr>
            <a:spLocks noGrp="1"/>
          </p:cNvSpPr>
          <p:nvPr/>
        </p:nvSpPr>
        <p:spPr>
          <a:xfrm>
            <a:off x="609600" y="2752725"/>
            <a:ext cx="8934450" cy="5067300"/>
          </a:xfrm>
          <a:prstGeom prst="roundRect">
            <a:avLst>
              <a:gd name="adj" fmla="val 1316"/>
            </a:avLst>
          </a:prstGeom>
          <a:solidFill>
            <a:srgbClr val="FFFFFF"/>
          </a:solidFill>
          <a:ln w="0">
            <a:noFill/>
          </a:ln>
        </p:spPr>
      </p:sp>
      <p:sp>
        <p:nvSpPr>
          <p:cNvPr id="6" name="text-45">
            <a:extLst>
              <a:ext uri="{FF2B5EF4-FFF2-40B4-BE49-F238E27FC236}">
                <ns2:creationId id="{0059A9A7-36D0-46FD-B7B0-EA79CE9DC09F}"/>
              </a:ext>
            </a:extLst>
          </p:cNvPr>
          <p:cNvSpPr>
            <a:spLocks noGrp="1"/>
          </p:cNvSpPr>
          <p:nvPr/>
        </p:nvSpPr>
        <p:spPr>
          <a:xfrm>
            <a:off x="838200" y="2905125"/>
            <a:ext cx="4686300" cy="333375"/>
          </a:xfrm>
          <a:prstGeom prst="rect">
            <a:avLst/>
          </a:prstGeom>
          <a:noFill/>
          <a:ln w="0">
            <a:noFill/>
          </a:ln>
        </p:spPr>
        <p:txBody>
          <a:bodyPr wrap="square" lIns="0" tIns="0" rIns="0" bIns="0" anchor="t">
            <a:noAutofit/>
          </a:bodyPr>
          <a:lstStyle>
            <a:defPPr algn="l">
              <a:defRPr sz="1875" b="0">
                <a:solidFill>
                  <a:srgbClr val="C9433C"/>
                </a:solidFill>
                <a:latin typeface="Helvetica Neue"/>
                <a:ea typeface="Helvetica Neue"/>
                <a:cs typeface="Helvetica Neue"/>
              </a:defRPr>
            </a:defPPr>
          </a:lstStyle>
          <a:p>
            <a:pPr algn="l">
              <a:lnSpc>
                <a:spcPct val="113000"/>
              </a:lnSpc>
              <a:buNone/>
              <a:defRPr sz="1875" b="0">
                <a:solidFill>
                  <a:srgbClr val="C9433C"/>
                </a:solidFill>
                <a:latin typeface="Helvetica Neue"/>
                <a:ea typeface="Helvetica Neue"/>
                <a:cs typeface="Helvetica Neue"/>
              </a:defRPr>
            </a:pPr>
            <a:r>
              <a:rPr sz="1875" b="0">
                <a:solidFill>
                  <a:srgbClr val="C9433C"/>
                </a:solidFill>
                <a:latin typeface="Helvetica Neue"/>
                <a:ea typeface="Helvetica Neue"/>
                <a:cs typeface="Helvetica Neue"/>
              </a:rPr>
              <a:t>Unified Context Graph</a:t>
            </a:r>
          </a:p>
        </p:txBody>
      </p:sp>
      <p:sp>
        <p:nvSpPr>
          <p:cNvPr id="7" name="text-46">
            <a:extLst>
              <a:ext uri="{FF2B5EF4-FFF2-40B4-BE49-F238E27FC236}">
                <ns2:creationId id="{AAF5BD83-7335-4383-A0DF-DBE221E373BF}"/>
              </a:ext>
            </a:extLst>
          </p:cNvPr>
          <p:cNvSpPr>
            <a:spLocks noGrp="1"/>
          </p:cNvSpPr>
          <p:nvPr/>
        </p:nvSpPr>
        <p:spPr>
          <a:xfrm>
            <a:off x="6877050" y="2952750"/>
            <a:ext cx="2438400" cy="266700"/>
          </a:xfrm>
          <a:prstGeom prst="rect">
            <a:avLst/>
          </a:prstGeom>
          <a:noFill/>
          <a:ln w="0">
            <a:noFill/>
          </a:ln>
        </p:spPr>
        <p:txBody>
          <a:bodyPr wrap="square" lIns="0" tIns="0" rIns="0" bIns="0" anchor="t">
            <a:noAutofit/>
          </a:bodyPr>
          <a:lstStyle>
            <a:defPPr algn="r">
              <a:defRPr sz="1500" b="0">
                <a:solidFill>
                  <a:srgbClr val="686560"/>
                </a:solidFill>
                <a:latin typeface="Helvetica Neue"/>
                <a:ea typeface="Helvetica Neue"/>
                <a:cs typeface="Helvetica Neue"/>
              </a:defRPr>
            </a:defPPr>
          </a:lstStyle>
          <a:p>
            <a:pPr algn="r">
              <a:lnSpc>
                <a:spcPct val="113000"/>
              </a:lnSpc>
              <a:buNone/>
              <a:defRPr sz="1500" b="0">
                <a:solidFill>
                  <a:srgbClr val="686560"/>
                </a:solidFill>
                <a:latin typeface="Helvetica Neue"/>
                <a:ea typeface="Helvetica Neue"/>
                <a:cs typeface="Helvetica Neue"/>
              </a:defRPr>
            </a:pPr>
            <a:r>
              <a:rPr sz="1500" b="0">
                <a:solidFill>
                  <a:srgbClr val="686560"/>
                </a:solidFill>
                <a:latin typeface="Helvetica Neue"/>
                <a:ea typeface="Helvetica Neue"/>
                <a:cs typeface="Helvetica Neue"/>
              </a:rPr>
              <a:t>Click a feature</a:t>
            </a:r>
          </a:p>
        </p:txBody>
      </p:sp>
      <p:sp>
        <p:nvSpPr>
          <p:cNvPr id="8" name="shape-47">
            <a:extLst>
              <a:ext uri="{FF2B5EF4-FFF2-40B4-BE49-F238E27FC236}">
                <ns2:creationId id="{28FD90DA-8405-40E2-BF2C-C6E15635CDFE}"/>
              </a:ext>
            </a:extLst>
          </p:cNvPr>
          <p:cNvSpPr>
            <a:spLocks noGrp="1"/>
          </p:cNvSpPr>
          <p:nvPr/>
        </p:nvSpPr>
        <p:spPr>
          <a:xfrm>
            <a:off x="609600" y="3286125"/>
            <a:ext cx="8934450" cy="0"/>
          </a:xfrm>
          <a:prstGeom prst="line">
            <a:avLst/>
          </a:prstGeom>
          <a:noFill/>
          <a:ln w="9525">
            <a:solidFill>
              <a:srgbClr val="D6D2CB"/>
            </a:solidFill>
          </a:ln>
        </p:spPr>
      </p:sp>
      <p:sp>
        <p:nvSpPr>
          <p:cNvPr id="9" name="shape-48">
            <a:extLst>
              <a:ext uri="{FF2B5EF4-FFF2-40B4-BE49-F238E27FC236}">
                <ns2:creationId id="{950DA63D-4644-497F-9A7F-EFDE705122CB}"/>
              </a:ext>
            </a:extLst>
          </p:cNvPr>
          <p:cNvSpPr>
            <a:spLocks noGrp="1"/>
          </p:cNvSpPr>
          <p:nvPr/>
        </p:nvSpPr>
        <p:spPr>
          <a:xfrm>
            <a:off x="609600" y="3295650"/>
            <a:ext cx="1714500" cy="4524375"/>
          </a:xfrm>
          <a:prstGeom prst="rect">
            <a:avLst/>
          </a:prstGeom>
          <a:solidFill>
            <a:srgbClr val="252524"/>
          </a:solidFill>
          <a:ln w="0">
            <a:noFill/>
          </a:ln>
        </p:spPr>
      </p:sp>
      <p:sp>
        <p:nvSpPr>
          <p:cNvPr id="10" name="text-49">
            <a:extLst>
              <a:ext uri="{FF2B5EF4-FFF2-40B4-BE49-F238E27FC236}">
                <ns2:creationId id="{D8130F26-74D8-4AC1-90AB-49A084E46544}"/>
              </a:ext>
            </a:extLst>
          </p:cNvPr>
          <p:cNvSpPr>
            <a:spLocks noGrp="1"/>
          </p:cNvSpPr>
          <p:nvPr/>
        </p:nvSpPr>
        <p:spPr>
          <a:xfrm>
            <a:off x="809625" y="3505200"/>
            <a:ext cx="1333500" cy="628650"/>
          </a:xfrm>
          <a:prstGeom prst="rect">
            <a:avLst/>
          </a:prstGeom>
          <a:noFill/>
          <a:ln w="0">
            <a:noFill/>
          </a:ln>
        </p:spPr>
        <p:txBody>
          <a:bodyPr wrap="square" lIns="0" tIns="0" rIns="0" bIns="0" anchor="t">
            <a:noAutofit/>
          </a:bodyPr>
          <a:lstStyle>
            <a:defPPr algn="l">
              <a:defRPr sz="1650" b="0">
                <a:solidFill>
                  <a:srgbClr val="FFFFFF"/>
                </a:solidFill>
                <a:latin typeface="Helvetica Neue"/>
                <a:ea typeface="Helvetica Neue"/>
                <a:cs typeface="Helvetica Neue"/>
              </a:defRPr>
            </a:defPPr>
          </a:lstStyle>
          <a:p>
            <a:pPr algn="l">
              <a:lnSpc>
                <a:spcPct val="113000"/>
              </a:lnSpc>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Knowledge</a:t>
            </a:r>
          </a:p>
          <a:p>
            <a:pPr algn="l">
              <a:lnSpc>
                <a:spcPct val="113000"/>
              </a:lnSpc>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workspace</a:t>
            </a:r>
          </a:p>
        </p:txBody>
      </p:sp>
      <p:sp>
        <p:nvSpPr>
          <p:cNvPr id="11" name="shape-50">
            <a:extLst>
              <a:ext uri="{FF2B5EF4-FFF2-40B4-BE49-F238E27FC236}">
                <ns2:creationId id="{85332EA3-334B-4AF7-B766-1EB4AF707368}"/>
              </a:ext>
            </a:extLst>
          </p:cNvPr>
          <p:cNvSpPr>
            <a:spLocks noGrp="1"/>
          </p:cNvSpPr>
          <p:nvPr/>
        </p:nvSpPr>
        <p:spPr>
          <a:xfrm>
            <a:off x="742950" y="4352925"/>
            <a:ext cx="1447800" cy="323850"/>
          </a:xfrm>
          <a:prstGeom prst="roundRect">
            <a:avLst>
              <a:gd name="adj" fmla="val 11765"/>
            </a:avLst>
          </a:prstGeom>
          <a:solidFill>
            <a:srgbClr val="C9433C"/>
          </a:solidFill>
          <a:ln w="0">
            <a:noFill/>
          </a:ln>
        </p:spPr>
      </p:sp>
      <p:sp>
        <p:nvSpPr>
          <p:cNvPr id="12" name="text-51">
            <a:hlinkClick r:id="R0be476392d7b4888" action="ppaction://hlinksldjump"/>
            <a:extLst>
              <a:ext uri="{FF2B5EF4-FFF2-40B4-BE49-F238E27FC236}">
                <ns2:creationId id="{BB2D554B-D5CA-437B-AC0C-66CD66C834E2}"/>
              </a:ext>
            </a:extLst>
          </p:cNvPr>
          <p:cNvSpPr>
            <a:spLocks noGrp="1"/>
          </p:cNvSpPr>
          <p:nvPr/>
        </p:nvSpPr>
        <p:spPr>
          <a:xfrm>
            <a:off x="866775" y="4381500"/>
            <a:ext cx="1323975" cy="276225"/>
          </a:xfrm>
          <a:prstGeom prst="rect">
            <a:avLst/>
          </a:prstGeom>
          <a:noFill/>
          <a:ln w="0">
            <a:noFill/>
          </a:ln>
        </p:spPr>
        <p:txBody>
          <a:bodyPr wrap="square" lIns="0" tIns="0" rIns="0" bIns="0" anchor="t">
            <a:noAutofit/>
          </a:bodyPr>
          <a:lstStyle>
            <a:defPPr algn="l">
              <a:defRPr sz="1575" b="0">
                <a:solidFill>
                  <a:srgbClr val="FFFFFF"/>
                </a:solidFill>
                <a:latin typeface="Helvetica Neue"/>
                <a:ea typeface="Helvetica Neue"/>
                <a:cs typeface="Helvetica Neue"/>
              </a:defRPr>
            </a:defPPr>
          </a:lstStyle>
          <a:p>
            <a:pPr algn="l">
              <a:lnSpc>
                <a:spcPct val="113000"/>
              </a:lnSpc>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hlinkClick r:id="R0be476392d7b4888" action="ppaction://hlinksldjump"/>
              </a:rPr>
              <a:t>Catalogue</a:t>
            </a:r>
          </a:p>
        </p:txBody>
      </p:sp>
      <p:sp>
        <p:nvSpPr>
          <p:cNvPr id="13" name="text-52">
            <a:hlinkClick r:id="Rb5a236fbead94178" action="ppaction://hlinksldjump"/>
            <a:extLst>
              <a:ext uri="{FF2B5EF4-FFF2-40B4-BE49-F238E27FC236}">
                <ns2:creationId id="{1B148A85-012F-4244-ABE8-BAAEECD95CD7}"/>
              </a:ext>
            </a:extLst>
          </p:cNvPr>
          <p:cNvSpPr>
            <a:spLocks noGrp="1"/>
          </p:cNvSpPr>
          <p:nvPr/>
        </p:nvSpPr>
        <p:spPr>
          <a:xfrm>
            <a:off x="866775" y="4733925"/>
            <a:ext cx="1323975" cy="276225"/>
          </a:xfrm>
          <a:prstGeom prst="rect">
            <a:avLst/>
          </a:prstGeom>
          <a:noFill/>
          <a:ln w="0">
            <a:noFill/>
          </a:ln>
        </p:spPr>
        <p:txBody>
          <a:bodyPr wrap="square" lIns="0" tIns="0" rIns="0" bIns="0" anchor="t">
            <a:noAutofit/>
          </a:bodyPr>
          <a:lstStyle>
            <a:defPPr algn="l">
              <a:defRPr sz="1575" b="0">
                <a:solidFill>
                  <a:srgbClr val="FFFFFF"/>
                </a:solidFill>
                <a:latin typeface="Helvetica Neue"/>
                <a:ea typeface="Helvetica Neue"/>
                <a:cs typeface="Helvetica Neue"/>
              </a:defRPr>
            </a:defPPr>
          </a:lstStyle>
          <a:p>
            <a:pPr algn="l">
              <a:lnSpc>
                <a:spcPct val="113000"/>
              </a:lnSpc>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hlinkClick r:id="Rb5a236fbead94178" action="ppaction://hlinksldjump"/>
              </a:rPr>
              <a:t>Builder</a:t>
            </a:r>
          </a:p>
        </p:txBody>
      </p:sp>
      <p:sp>
        <p:nvSpPr>
          <p:cNvPr id="14" name="text-53">
            <a:hlinkClick r:id="Re4095868f8a0412b" action="ppaction://hlinksldjump"/>
            <a:extLst>
              <a:ext uri="{FF2B5EF4-FFF2-40B4-BE49-F238E27FC236}">
                <ns2:creationId id="{EBD9302F-1ADE-4BAE-B1B9-185586F359E2}"/>
              </a:ext>
            </a:extLst>
          </p:cNvPr>
          <p:cNvSpPr>
            <a:spLocks noGrp="1"/>
          </p:cNvSpPr>
          <p:nvPr/>
        </p:nvSpPr>
        <p:spPr>
          <a:xfrm>
            <a:off x="866775" y="5086350"/>
            <a:ext cx="1323975" cy="276225"/>
          </a:xfrm>
          <a:prstGeom prst="rect">
            <a:avLst/>
          </a:prstGeom>
          <a:noFill/>
          <a:ln w="0">
            <a:noFill/>
          </a:ln>
        </p:spPr>
        <p:txBody>
          <a:bodyPr wrap="square" lIns="0" tIns="0" rIns="0" bIns="0" anchor="t">
            <a:noAutofit/>
          </a:bodyPr>
          <a:lstStyle>
            <a:defPPr algn="l">
              <a:defRPr sz="1575" b="0">
                <a:solidFill>
                  <a:srgbClr val="FFFFFF"/>
                </a:solidFill>
                <a:latin typeface="Helvetica Neue"/>
                <a:ea typeface="Helvetica Neue"/>
                <a:cs typeface="Helvetica Neue"/>
              </a:defRPr>
            </a:defPPr>
          </a:lstStyle>
          <a:p>
            <a:pPr algn="l">
              <a:lnSpc>
                <a:spcPct val="113000"/>
              </a:lnSpc>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hlinkClick r:id="Re4095868f8a0412b" action="ppaction://hlinksldjump"/>
              </a:rPr>
              <a:t>Reauthoring</a:t>
            </a:r>
          </a:p>
        </p:txBody>
      </p:sp>
      <p:sp>
        <p:nvSpPr>
          <p:cNvPr id="15" name="text-54">
            <a:hlinkClick r:id="Rcb8c0c4dc1a74a36" action="ppaction://hlinksldjump"/>
            <a:extLst>
              <a:ext uri="{FF2B5EF4-FFF2-40B4-BE49-F238E27FC236}">
                <ns2:creationId id="{E1D2C2DB-51BC-4261-885D-6E2741E609EE}"/>
              </a:ext>
            </a:extLst>
          </p:cNvPr>
          <p:cNvSpPr>
            <a:spLocks noGrp="1"/>
          </p:cNvSpPr>
          <p:nvPr/>
        </p:nvSpPr>
        <p:spPr>
          <a:xfrm>
            <a:off x="866775" y="5438775"/>
            <a:ext cx="1323975" cy="276225"/>
          </a:xfrm>
          <a:prstGeom prst="rect">
            <a:avLst/>
          </a:prstGeom>
          <a:noFill/>
          <a:ln w="0">
            <a:noFill/>
          </a:ln>
        </p:spPr>
        <p:txBody>
          <a:bodyPr wrap="square" lIns="0" tIns="0" rIns="0" bIns="0" anchor="t">
            <a:noAutofit/>
          </a:bodyPr>
          <a:lstStyle>
            <a:defPPr algn="l">
              <a:defRPr sz="1575" b="0">
                <a:solidFill>
                  <a:srgbClr val="FFFFFF"/>
                </a:solidFill>
                <a:latin typeface="Helvetica Neue"/>
                <a:ea typeface="Helvetica Neue"/>
                <a:cs typeface="Helvetica Neue"/>
              </a:defRPr>
            </a:defPPr>
          </a:lstStyle>
          <a:p>
            <a:pPr algn="l">
              <a:lnSpc>
                <a:spcPct val="113000"/>
              </a:lnSpc>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hlinkClick r:id="Rcb8c0c4dc1a74a36" action="ppaction://hlinksldjump"/>
              </a:rPr>
              <a:t>Ontology</a:t>
            </a:r>
          </a:p>
        </p:txBody>
      </p:sp>
      <p:sp>
        <p:nvSpPr>
          <p:cNvPr id="16" name="text-55">
            <a:hlinkClick r:id="Rb0b5f50454204ede" action="ppaction://hlinksldjump"/>
            <a:extLst>
              <a:ext uri="{FF2B5EF4-FFF2-40B4-BE49-F238E27FC236}">
                <ns2:creationId id="{DA8ED519-F877-4CE9-9774-5E9ED071ABF2}"/>
              </a:ext>
            </a:extLst>
          </p:cNvPr>
          <p:cNvSpPr>
            <a:spLocks noGrp="1"/>
          </p:cNvSpPr>
          <p:nvPr/>
        </p:nvSpPr>
        <p:spPr>
          <a:xfrm>
            <a:off x="866775" y="5791200"/>
            <a:ext cx="1323975" cy="276225"/>
          </a:xfrm>
          <a:prstGeom prst="rect">
            <a:avLst/>
          </a:prstGeom>
          <a:noFill/>
          <a:ln w="0">
            <a:noFill/>
          </a:ln>
        </p:spPr>
        <p:txBody>
          <a:bodyPr wrap="square" lIns="0" tIns="0" rIns="0" bIns="0" anchor="t">
            <a:noAutofit/>
          </a:bodyPr>
          <a:lstStyle>
            <a:defPPr algn="l">
              <a:defRPr sz="1575" b="0">
                <a:solidFill>
                  <a:srgbClr val="FFFFFF"/>
                </a:solidFill>
                <a:latin typeface="Helvetica Neue"/>
                <a:ea typeface="Helvetica Neue"/>
                <a:cs typeface="Helvetica Neue"/>
              </a:defRPr>
            </a:defPPr>
          </a:lstStyle>
          <a:p>
            <a:pPr algn="l">
              <a:lnSpc>
                <a:spcPct val="113000"/>
              </a:lnSpc>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hlinkClick r:id="Rb0b5f50454204ede" action="ppaction://hlinksldjump"/>
              </a:rPr>
              <a:t>Agents</a:t>
            </a:r>
          </a:p>
        </p:txBody>
      </p:sp>
      <p:sp>
        <p:nvSpPr>
          <p:cNvPr id="17" name="text-56">
            <a:hlinkClick r:id="Rb5129a0abb324f2c" action="ppaction://hlinksldjump"/>
            <a:extLst>
              <a:ext uri="{FF2B5EF4-FFF2-40B4-BE49-F238E27FC236}">
                <ns2:creationId id="{D580C8F6-4A9C-4BDB-9177-1842C386B5DF}"/>
              </a:ext>
            </a:extLst>
          </p:cNvPr>
          <p:cNvSpPr>
            <a:spLocks noGrp="1"/>
          </p:cNvSpPr>
          <p:nvPr/>
        </p:nvSpPr>
        <p:spPr>
          <a:xfrm>
            <a:off x="866775" y="6143625"/>
            <a:ext cx="1323975" cy="276225"/>
          </a:xfrm>
          <a:prstGeom prst="rect">
            <a:avLst/>
          </a:prstGeom>
          <a:noFill/>
          <a:ln w="0">
            <a:noFill/>
          </a:ln>
        </p:spPr>
        <p:txBody>
          <a:bodyPr wrap="square" lIns="0" tIns="0" rIns="0" bIns="0" anchor="t">
            <a:noAutofit/>
          </a:bodyPr>
          <a:lstStyle>
            <a:defPPr algn="l">
              <a:defRPr sz="1575" b="0">
                <a:solidFill>
                  <a:srgbClr val="FFFFFF"/>
                </a:solidFill>
                <a:latin typeface="Helvetica Neue"/>
                <a:ea typeface="Helvetica Neue"/>
                <a:cs typeface="Helvetica Neue"/>
              </a:defRPr>
            </a:defPPr>
          </a:lstStyle>
          <a:p>
            <a:pPr algn="l">
              <a:lnSpc>
                <a:spcPct val="113000"/>
              </a:lnSpc>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hlinkClick r:id="Rb5129a0abb324f2c" action="ppaction://hlinksldjump"/>
              </a:rPr>
              <a:t>Memory</a:t>
            </a:r>
          </a:p>
        </p:txBody>
      </p:sp>
      <p:sp>
        <p:nvSpPr>
          <p:cNvPr id="18" name="text-57">
            <a:extLst>
              <a:ext uri="{FF2B5EF4-FFF2-40B4-BE49-F238E27FC236}">
                <ns2:creationId id="{30AD3E99-7563-4AA4-B142-B8EA1DEDF9EF}"/>
              </a:ext>
            </a:extLst>
          </p:cNvPr>
          <p:cNvSpPr>
            <a:spLocks noGrp="1"/>
          </p:cNvSpPr>
          <p:nvPr/>
        </p:nvSpPr>
        <p:spPr>
          <a:xfrm>
            <a:off x="809625" y="7029450"/>
            <a:ext cx="1343025" cy="561975"/>
          </a:xfrm>
          <a:prstGeom prst="rect">
            <a:avLst/>
          </a:prstGeom>
          <a:noFill/>
          <a:ln w="0">
            <a:noFill/>
          </a:ln>
        </p:spPr>
        <p:txBody>
          <a:bodyPr wrap="square" lIns="0" tIns="0" rIns="0" bIns="0" anchor="t">
            <a:noAutofit/>
          </a:bodyPr>
          <a:lstStyle>
            <a:defPPr algn="l">
              <a:defRPr sz="1350" b="0">
                <a:solidFill>
                  <a:srgbClr val="FFFFFF"/>
                </a:solidFill>
                <a:latin typeface="Helvetica Neue"/>
                <a:ea typeface="Helvetica Neue"/>
                <a:cs typeface="Helvetica Neue"/>
              </a:defRPr>
            </a:defPPr>
          </a:lstStyle>
          <a:p>
            <a:pPr algn="l">
              <a:lnSpc>
                <a:spcPct val="113000"/>
              </a:lnSpc>
              <a:buNone/>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Agent access</a:t>
            </a:r>
          </a:p>
          <a:p>
            <a:pPr algn="l">
              <a:lnSpc>
                <a:spcPct val="113000"/>
              </a:lnSpc>
              <a:buNone/>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MCP and HTTP</a:t>
            </a:r>
          </a:p>
        </p:txBody>
      </p:sp>
      <p:sp>
        <p:nvSpPr>
          <p:cNvPr id="19" name="text-58">
            <a:extLst>
              <a:ext uri="{FF2B5EF4-FFF2-40B4-BE49-F238E27FC236}">
                <ns2:creationId id="{58161D79-1B60-4BD7-8ACF-47A7B1FE3DEA}"/>
              </a:ext>
            </a:extLst>
          </p:cNvPr>
          <p:cNvSpPr>
            <a:spLocks noGrp="1"/>
          </p:cNvSpPr>
          <p:nvPr/>
        </p:nvSpPr>
        <p:spPr>
          <a:xfrm>
            <a:off x="2552700" y="3552825"/>
            <a:ext cx="4381500" cy="35242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Knowledge catalogue</a:t>
            </a:r>
          </a:p>
        </p:txBody>
      </p:sp>
      <p:sp>
        <p:nvSpPr>
          <p:cNvPr id="20" name="text-59">
            <a:extLst>
              <a:ext uri="{FF2B5EF4-FFF2-40B4-BE49-F238E27FC236}">
                <ns2:creationId id="{E3485842-D142-4665-8A65-71584B0458A6}"/>
              </a:ext>
            </a:extLst>
          </p:cNvPr>
          <p:cNvSpPr>
            <a:spLocks noGrp="1"/>
          </p:cNvSpPr>
          <p:nvPr/>
        </p:nvSpPr>
        <p:spPr>
          <a:xfrm>
            <a:off x="2552700" y="3943350"/>
            <a:ext cx="4381500" cy="266700"/>
          </a:xfrm>
          <a:prstGeom prst="rect">
            <a:avLst/>
          </a:prstGeom>
          <a:noFill/>
          <a:ln w="0">
            <a:noFill/>
          </a:ln>
        </p:spPr>
        <p:txBody>
          <a:bodyPr wrap="square" lIns="0" tIns="0" rIns="0" bIns="0" anchor="t">
            <a:noAutofit/>
          </a:bodyPr>
          <a:lstStyle>
            <a:defPPr algn="l">
              <a:defRPr sz="1425" b="0">
                <a:solidFill>
                  <a:srgbClr val="686560"/>
                </a:solidFill>
                <a:latin typeface="Helvetica Neue"/>
                <a:ea typeface="Helvetica Neue"/>
                <a:cs typeface="Helvetica Neue"/>
              </a:defRPr>
            </a:defPPr>
          </a:lstStyle>
          <a:p>
            <a:pPr algn="l">
              <a:lnSpc>
                <a:spcPct val="113000"/>
              </a:lnSpc>
              <a:buNone/>
              <a:defRPr sz="1425" b="0">
                <a:solidFill>
                  <a:srgbClr val="686560"/>
                </a:solidFill>
                <a:latin typeface="Helvetica Neue"/>
                <a:ea typeface="Helvetica Neue"/>
                <a:cs typeface="Helvetica Neue"/>
              </a:defRPr>
            </a:pPr>
            <a:r>
              <a:rPr sz="1425" b="0">
                <a:solidFill>
                  <a:srgbClr val="686560"/>
                </a:solidFill>
                <a:latin typeface="Helvetica Neue"/>
                <a:ea typeface="Helvetica Neue"/>
                <a:cs typeface="Helvetica Neue"/>
              </a:rPr>
              <a:t>Selected asset: service deployment</a:t>
            </a:r>
          </a:p>
        </p:txBody>
      </p:sp>
      <p:sp>
        <p:nvSpPr>
          <p:cNvPr id="21" name="shape-60">
            <a:extLst>
              <a:ext uri="{FF2B5EF4-FFF2-40B4-BE49-F238E27FC236}">
                <ns2:creationId id="{16DC9337-2DF6-49EC-9B15-9A28C114E5F7}"/>
              </a:ext>
            </a:extLst>
          </p:cNvPr>
          <p:cNvSpPr>
            <a:spLocks noGrp="1"/>
          </p:cNvSpPr>
          <p:nvPr/>
        </p:nvSpPr>
        <p:spPr>
          <a:xfrm>
            <a:off x="2552700" y="4352925"/>
            <a:ext cx="4381500" cy="2324100"/>
          </a:xfrm>
          <a:prstGeom prst="roundRect">
            <a:avLst>
              <a:gd name="adj" fmla="val 2459"/>
            </a:avLst>
          </a:prstGeom>
          <a:solidFill>
            <a:srgbClr val="F4F2EE"/>
          </a:solidFill>
          <a:ln w="0">
            <a:noFill/>
          </a:ln>
        </p:spPr>
      </p:sp>
      <p:sp>
        <p:nvSpPr>
          <p:cNvPr id="22" name="shape-61">
            <a:extLst>
              <a:ext uri="{FF2B5EF4-FFF2-40B4-BE49-F238E27FC236}">
                <ns2:creationId id="{350271AF-9F9A-4B09-99D2-0E17C9EEFDF8}"/>
              </a:ext>
            </a:extLst>
          </p:cNvPr>
          <p:cNvSpPr>
            <a:spLocks noGrp="1"/>
          </p:cNvSpPr>
          <p:nvPr/>
        </p:nvSpPr>
        <p:spPr>
          <a:xfrm>
            <a:off x="4048125" y="5114925"/>
            <a:ext cx="1466850" cy="581025"/>
          </a:xfrm>
          <a:prstGeom prst="roundRect">
            <a:avLst>
              <a:gd name="adj" fmla="val 8197"/>
            </a:avLst>
          </a:prstGeom>
          <a:solidFill>
            <a:srgbClr val="C9433C"/>
          </a:solidFill>
          <a:ln w="0">
            <a:noFill/>
          </a:ln>
        </p:spPr>
      </p:sp>
      <p:sp>
        <p:nvSpPr>
          <p:cNvPr id="23" name="text-62">
            <a:extLst>
              <a:ext uri="{FF2B5EF4-FFF2-40B4-BE49-F238E27FC236}">
                <ns2:creationId id="{FED62D61-5A2E-4B40-AE35-D18A995C6C8C}"/>
              </a:ext>
            </a:extLst>
          </p:cNvPr>
          <p:cNvSpPr>
            <a:spLocks noGrp="1"/>
          </p:cNvSpPr>
          <p:nvPr/>
        </p:nvSpPr>
        <p:spPr>
          <a:xfrm>
            <a:off x="4124325" y="5229225"/>
            <a:ext cx="1314450" cy="390525"/>
          </a:xfrm>
          <a:prstGeom prst="rect">
            <a:avLst/>
          </a:prstGeom>
          <a:noFill/>
          <a:ln w="0">
            <a:noFill/>
          </a:ln>
        </p:spPr>
        <p:txBody>
          <a:bodyPr wrap="square" lIns="0" tIns="0" rIns="0" bIns="0" anchor="t">
            <a:noAutofit/>
          </a:bodyPr>
          <a:lstStyle>
            <a:defPPr algn="ctr">
              <a:defRPr sz="1575" b="0">
                <a:solidFill>
                  <a:srgbClr val="FFFFFF"/>
                </a:solidFill>
                <a:latin typeface="Helvetica Neue"/>
                <a:ea typeface="Helvetica Neue"/>
                <a:cs typeface="Helvetica Neue"/>
              </a:defRPr>
            </a:defPPr>
          </a:lstStyle>
          <a:p>
            <a:pPr algn="ctr">
              <a:lnSpc>
                <a:spcPct val="113000"/>
              </a:lnSpc>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Deployment</a:t>
            </a:r>
          </a:p>
        </p:txBody>
      </p:sp>
      <p:sp>
        <p:nvSpPr>
          <p:cNvPr id="24" name="shape-63">
            <a:extLst>
              <a:ext uri="{FF2B5EF4-FFF2-40B4-BE49-F238E27FC236}">
                <ns2:creationId id="{87EFB01D-16E7-4B82-8C5C-C13B4EEE5656}"/>
              </a:ext>
            </a:extLst>
          </p:cNvPr>
          <p:cNvSpPr>
            <a:spLocks noGrp="1"/>
          </p:cNvSpPr>
          <p:nvPr/>
        </p:nvSpPr>
        <p:spPr>
          <a:xfrm>
            <a:off x="2781300" y="4514850"/>
            <a:ext cx="1314450" cy="514350"/>
          </a:xfrm>
          <a:prstGeom prst="roundRect">
            <a:avLst>
              <a:gd name="adj" fmla="val 9259"/>
            </a:avLst>
          </a:prstGeom>
          <a:solidFill>
            <a:srgbClr val="FFFFFF"/>
          </a:solidFill>
          <a:ln w="0">
            <a:noFill/>
          </a:ln>
        </p:spPr>
      </p:sp>
      <p:sp>
        <p:nvSpPr>
          <p:cNvPr id="25" name="text-64">
            <a:extLst>
              <a:ext uri="{FF2B5EF4-FFF2-40B4-BE49-F238E27FC236}">
                <ns2:creationId id="{60432468-D947-47B2-82EF-03D63B3AC894}"/>
              </a:ext>
            </a:extLst>
          </p:cNvPr>
          <p:cNvSpPr>
            <a:spLocks noGrp="1"/>
          </p:cNvSpPr>
          <p:nvPr/>
        </p:nvSpPr>
        <p:spPr>
          <a:xfrm>
            <a:off x="2857500" y="4629150"/>
            <a:ext cx="1162050" cy="323850"/>
          </a:xfrm>
          <a:prstGeom prst="rect">
            <a:avLst/>
          </a:prstGeom>
          <a:noFill/>
          <a:ln w="0">
            <a:noFill/>
          </a:ln>
        </p:spPr>
        <p:txBody>
          <a:bodyPr wrap="square" lIns="0" tIns="0" rIns="0" bIns="0" anchor="t">
            <a:noAutofit/>
          </a:bodyPr>
          <a:lstStyle>
            <a:defPPr algn="ctr">
              <a:defRPr sz="1575" b="0">
                <a:solidFill>
                  <a:srgbClr val="252524"/>
                </a:solidFill>
                <a:latin typeface="Helvetica Neue"/>
                <a:ea typeface="Helvetica Neue"/>
                <a:cs typeface="Helvetica Neue"/>
              </a:defRPr>
            </a:defPPr>
          </a:lstStyle>
          <a:p>
            <a:pPr algn="ctr">
              <a:lnSpc>
                <a:spcPct val="113000"/>
              </a:lnSpc>
              <a:buNone/>
              <a:defRPr sz="1575" b="0">
                <a:solidFill>
                  <a:srgbClr val="252524"/>
                </a:solidFill>
                <a:latin typeface="Helvetica Neue"/>
                <a:ea typeface="Helvetica Neue"/>
                <a:cs typeface="Helvetica Neue"/>
              </a:defRPr>
            </a:pPr>
            <a:r>
              <a:rPr sz="1575" b="0">
                <a:solidFill>
                  <a:srgbClr val="252524"/>
                </a:solidFill>
                <a:latin typeface="Helvetica Neue"/>
                <a:ea typeface="Helvetica Neue"/>
                <a:cs typeface="Helvetica Neue"/>
              </a:rPr>
              <a:t>Package</a:t>
            </a:r>
          </a:p>
        </p:txBody>
      </p:sp>
      <p:sp>
        <p:nvSpPr>
          <p:cNvPr id="26" name="shape-65">
            <a:extLst>
              <a:ext uri="{FF2B5EF4-FFF2-40B4-BE49-F238E27FC236}">
                <ns2:creationId id="{068E92D5-08D3-47A1-ADA6-73E018FE1D28}"/>
              </a:ext>
            </a:extLst>
          </p:cNvPr>
          <p:cNvSpPr>
            <a:spLocks noGrp="1"/>
          </p:cNvSpPr>
          <p:nvPr/>
        </p:nvSpPr>
        <p:spPr>
          <a:xfrm>
            <a:off x="5448300" y="4514850"/>
            <a:ext cx="1314450" cy="514350"/>
          </a:xfrm>
          <a:prstGeom prst="roundRect">
            <a:avLst>
              <a:gd name="adj" fmla="val 9259"/>
            </a:avLst>
          </a:prstGeom>
          <a:solidFill>
            <a:srgbClr val="FFFFFF"/>
          </a:solidFill>
          <a:ln w="0">
            <a:noFill/>
          </a:ln>
        </p:spPr>
      </p:sp>
      <p:sp>
        <p:nvSpPr>
          <p:cNvPr id="27" name="text-66">
            <a:extLst>
              <a:ext uri="{FF2B5EF4-FFF2-40B4-BE49-F238E27FC236}">
                <ns2:creationId id="{192D0F1E-7DFE-4698-94E4-B3981942E495}"/>
              </a:ext>
            </a:extLst>
          </p:cNvPr>
          <p:cNvSpPr>
            <a:spLocks noGrp="1"/>
          </p:cNvSpPr>
          <p:nvPr/>
        </p:nvSpPr>
        <p:spPr>
          <a:xfrm>
            <a:off x="5524500" y="4629150"/>
            <a:ext cx="1162050" cy="323850"/>
          </a:xfrm>
          <a:prstGeom prst="rect">
            <a:avLst/>
          </a:prstGeom>
          <a:noFill/>
          <a:ln w="0">
            <a:noFill/>
          </a:ln>
        </p:spPr>
        <p:txBody>
          <a:bodyPr wrap="square" lIns="0" tIns="0" rIns="0" bIns="0" anchor="t">
            <a:noAutofit/>
          </a:bodyPr>
          <a:lstStyle>
            <a:defPPr algn="ctr">
              <a:defRPr sz="1575" b="0">
                <a:solidFill>
                  <a:srgbClr val="252524"/>
                </a:solidFill>
                <a:latin typeface="Helvetica Neue"/>
                <a:ea typeface="Helvetica Neue"/>
                <a:cs typeface="Helvetica Neue"/>
              </a:defRPr>
            </a:defPPr>
          </a:lstStyle>
          <a:p>
            <a:pPr algn="ctr">
              <a:lnSpc>
                <a:spcPct val="113000"/>
              </a:lnSpc>
              <a:buNone/>
              <a:defRPr sz="1575" b="0">
                <a:solidFill>
                  <a:srgbClr val="252524"/>
                </a:solidFill>
                <a:latin typeface="Helvetica Neue"/>
                <a:ea typeface="Helvetica Neue"/>
                <a:cs typeface="Helvetica Neue"/>
              </a:defRPr>
            </a:pPr>
            <a:r>
              <a:rPr sz="1575" b="0">
                <a:solidFill>
                  <a:srgbClr val="252524"/>
                </a:solidFill>
                <a:latin typeface="Helvetica Neue"/>
                <a:ea typeface="Helvetica Neue"/>
                <a:cs typeface="Helvetica Neue"/>
              </a:rPr>
              <a:t>Advisory</a:t>
            </a:r>
          </a:p>
        </p:txBody>
      </p:sp>
      <p:sp>
        <p:nvSpPr>
          <p:cNvPr id="28" name="shape-67">
            <a:extLst>
              <a:ext uri="{FF2B5EF4-FFF2-40B4-BE49-F238E27FC236}">
                <ns2:creationId id="{AF53025A-FCA2-4FC2-94B8-6637CD011550}"/>
              </a:ext>
            </a:extLst>
          </p:cNvPr>
          <p:cNvSpPr>
            <a:spLocks noGrp="1"/>
          </p:cNvSpPr>
          <p:nvPr/>
        </p:nvSpPr>
        <p:spPr>
          <a:xfrm>
            <a:off x="2781300" y="6000750"/>
            <a:ext cx="1314450" cy="514350"/>
          </a:xfrm>
          <a:prstGeom prst="roundRect">
            <a:avLst>
              <a:gd name="adj" fmla="val 9259"/>
            </a:avLst>
          </a:prstGeom>
          <a:solidFill>
            <a:srgbClr val="FFFFFF"/>
          </a:solidFill>
          <a:ln w="0">
            <a:noFill/>
          </a:ln>
        </p:spPr>
      </p:sp>
      <p:sp>
        <p:nvSpPr>
          <p:cNvPr id="29" name="text-68">
            <a:extLst>
              <a:ext uri="{FF2B5EF4-FFF2-40B4-BE49-F238E27FC236}">
                <ns2:creationId id="{2F62605E-329F-4D5D-909C-D69716BB6D13}"/>
              </a:ext>
            </a:extLst>
          </p:cNvPr>
          <p:cNvSpPr>
            <a:spLocks noGrp="1"/>
          </p:cNvSpPr>
          <p:nvPr/>
        </p:nvSpPr>
        <p:spPr>
          <a:xfrm>
            <a:off x="2857500" y="6115050"/>
            <a:ext cx="1162050" cy="323850"/>
          </a:xfrm>
          <a:prstGeom prst="rect">
            <a:avLst/>
          </a:prstGeom>
          <a:noFill/>
          <a:ln w="0">
            <a:noFill/>
          </a:ln>
        </p:spPr>
        <p:txBody>
          <a:bodyPr wrap="square" lIns="0" tIns="0" rIns="0" bIns="0" anchor="t">
            <a:noAutofit/>
          </a:bodyPr>
          <a:lstStyle>
            <a:defPPr algn="ctr">
              <a:defRPr sz="1575" b="0">
                <a:solidFill>
                  <a:srgbClr val="252524"/>
                </a:solidFill>
                <a:latin typeface="Helvetica Neue"/>
                <a:ea typeface="Helvetica Neue"/>
                <a:cs typeface="Helvetica Neue"/>
              </a:defRPr>
            </a:defPPr>
          </a:lstStyle>
          <a:p>
            <a:pPr algn="ctr">
              <a:lnSpc>
                <a:spcPct val="113000"/>
              </a:lnSpc>
              <a:buNone/>
              <a:defRPr sz="1575" b="0">
                <a:solidFill>
                  <a:srgbClr val="252524"/>
                </a:solidFill>
                <a:latin typeface="Helvetica Neue"/>
                <a:ea typeface="Helvetica Neue"/>
                <a:cs typeface="Helvetica Neue"/>
              </a:defRPr>
            </a:pPr>
            <a:r>
              <a:rPr sz="1575" b="0">
                <a:solidFill>
                  <a:srgbClr val="252524"/>
                </a:solidFill>
                <a:latin typeface="Helvetica Neue"/>
                <a:ea typeface="Helvetica Neue"/>
                <a:cs typeface="Helvetica Neue"/>
              </a:rPr>
              <a:t>Assessment</a:t>
            </a:r>
          </a:p>
        </p:txBody>
      </p:sp>
      <p:sp>
        <p:nvSpPr>
          <p:cNvPr id="30" name="shape-69">
            <a:extLst>
              <a:ext uri="{FF2B5EF4-FFF2-40B4-BE49-F238E27FC236}">
                <ns2:creationId id="{9BFA1CDB-1BC3-4C2E-8198-5F3659BAE88F}"/>
              </a:ext>
            </a:extLst>
          </p:cNvPr>
          <p:cNvSpPr>
            <a:spLocks noGrp="1"/>
          </p:cNvSpPr>
          <p:nvPr/>
        </p:nvSpPr>
        <p:spPr>
          <a:xfrm>
            <a:off x="5448300" y="6000750"/>
            <a:ext cx="1314450" cy="514350"/>
          </a:xfrm>
          <a:prstGeom prst="roundRect">
            <a:avLst>
              <a:gd name="adj" fmla="val 9259"/>
            </a:avLst>
          </a:prstGeom>
          <a:solidFill>
            <a:srgbClr val="FFFFFF"/>
          </a:solidFill>
          <a:ln w="0">
            <a:noFill/>
          </a:ln>
        </p:spPr>
      </p:sp>
      <p:sp>
        <p:nvSpPr>
          <p:cNvPr id="31" name="text-70">
            <a:extLst>
              <a:ext uri="{FF2B5EF4-FFF2-40B4-BE49-F238E27FC236}">
                <ns2:creationId id="{097DA1A6-BD0B-4340-A198-C9F03EB7D1C7}"/>
              </a:ext>
            </a:extLst>
          </p:cNvPr>
          <p:cNvSpPr>
            <a:spLocks noGrp="1"/>
          </p:cNvSpPr>
          <p:nvPr/>
        </p:nvSpPr>
        <p:spPr>
          <a:xfrm>
            <a:off x="5524500" y="6115050"/>
            <a:ext cx="1162050" cy="323850"/>
          </a:xfrm>
          <a:prstGeom prst="rect">
            <a:avLst/>
          </a:prstGeom>
          <a:noFill/>
          <a:ln w="0">
            <a:noFill/>
          </a:ln>
        </p:spPr>
        <p:txBody>
          <a:bodyPr wrap="square" lIns="0" tIns="0" rIns="0" bIns="0" anchor="t">
            <a:noAutofit/>
          </a:bodyPr>
          <a:lstStyle>
            <a:defPPr algn="ctr">
              <a:defRPr sz="1575" b="0">
                <a:solidFill>
                  <a:srgbClr val="252524"/>
                </a:solidFill>
                <a:latin typeface="Helvetica Neue"/>
                <a:ea typeface="Helvetica Neue"/>
                <a:cs typeface="Helvetica Neue"/>
              </a:defRPr>
            </a:defPPr>
          </a:lstStyle>
          <a:p>
            <a:pPr algn="ctr">
              <a:lnSpc>
                <a:spcPct val="113000"/>
              </a:lnSpc>
              <a:buNone/>
              <a:defRPr sz="1575" b="0">
                <a:solidFill>
                  <a:srgbClr val="252524"/>
                </a:solidFill>
                <a:latin typeface="Helvetica Neue"/>
                <a:ea typeface="Helvetica Neue"/>
                <a:cs typeface="Helvetica Neue"/>
              </a:defRPr>
            </a:pPr>
            <a:r>
              <a:rPr sz="1575" b="0">
                <a:solidFill>
                  <a:srgbClr val="252524"/>
                </a:solidFill>
                <a:latin typeface="Helvetica Neue"/>
                <a:ea typeface="Helvetica Neue"/>
                <a:cs typeface="Helvetica Neue"/>
              </a:rPr>
              <a:t>Open task</a:t>
            </a:r>
          </a:p>
        </p:txBody>
      </p:sp>
      <p:cxnSp>
        <p:nvCxnSpPr>
          <p:cNvPr id="32" name="">
            <a:extLst>
              <a:ext uri="{FF2B5EF4-FFF2-40B4-BE49-F238E27FC236}">
                <ns2:creationId id="{5A246B88-1492-4CE2-9EF5-E9096528D7E4}"/>
              </a:ext>
            </a:extLst>
          </p:cNvPr>
          <p:cNvCxnSpPr>
            <a:stCxn id="24" idx="3"/>
            <a:endCxn id="22" idx="1"/>
          </p:cNvCxnSpPr>
          <p:nvPr/>
        </p:nvCxnSpPr>
        <p:spPr>
          <a:xfrm flipH="1">
            <a:off x="4048125" y="4772025"/>
            <a:ext cx="47625" cy="633413"/>
          </a:xfrm>
          <a:prstGeom prst="bentConnector3">
            <a:avLst>
              <a:gd name="adj1" fmla="val 50000"/>
            </a:avLst>
          </a:prstGeom>
          <a:ln w="17145">
            <a:solidFill>
              <a:srgbClr val="C9433C"/>
            </a:solidFill>
            <a:tailEnd type="none" w="sm" len="sm"/>
          </a:ln>
        </p:spPr>
      </p:cxnSp>
      <p:cxnSp>
        <p:nvCxnSpPr>
          <p:cNvPr id="33" name="">
            <a:extLst>
              <a:ext uri="{FF2B5EF4-FFF2-40B4-BE49-F238E27FC236}">
                <ns2:creationId id="{4051127B-F25C-4F41-BD5E-46612260E82C}"/>
              </a:ext>
            </a:extLst>
          </p:cNvPr>
          <p:cNvCxnSpPr>
            <a:stCxn id="26" idx="1"/>
            <a:endCxn id="22" idx="3"/>
          </p:cNvCxnSpPr>
          <p:nvPr/>
        </p:nvCxnSpPr>
        <p:spPr>
          <a:xfrm>
            <a:off x="5448300" y="4772025"/>
            <a:ext cx="66675" cy="633413"/>
          </a:xfrm>
          <a:prstGeom prst="bentConnector3">
            <a:avLst>
              <a:gd name="adj1" fmla="val 50000"/>
            </a:avLst>
          </a:prstGeom>
          <a:ln w="17145">
            <a:solidFill>
              <a:srgbClr val="C9433C"/>
            </a:solidFill>
            <a:tailEnd type="none" w="sm" len="sm"/>
          </a:ln>
        </p:spPr>
      </p:cxnSp>
      <p:cxnSp>
        <p:nvCxnSpPr>
          <p:cNvPr id="34" name="">
            <a:extLst>
              <a:ext uri="{FF2B5EF4-FFF2-40B4-BE49-F238E27FC236}">
                <ns2:creationId id="{81B500BE-40B4-4EBE-9B0C-E3B196A05D12}"/>
              </a:ext>
            </a:extLst>
          </p:cNvPr>
          <p:cNvCxnSpPr>
            <a:stCxn id="28" idx="3"/>
            <a:endCxn id="22" idx="1"/>
          </p:cNvCxnSpPr>
          <p:nvPr/>
        </p:nvCxnSpPr>
        <p:spPr>
          <a:xfrm flipH="1" flipV="1">
            <a:off x="4048125" y="5405438"/>
            <a:ext cx="47625" cy="852488"/>
          </a:xfrm>
          <a:prstGeom prst="bentConnector3">
            <a:avLst>
              <a:gd name="adj1" fmla="val 50000"/>
            </a:avLst>
          </a:prstGeom>
          <a:ln w="17145">
            <a:solidFill>
              <a:srgbClr val="C9433C"/>
            </a:solidFill>
            <a:tailEnd type="none" w="sm" len="sm"/>
          </a:ln>
        </p:spPr>
      </p:cxnSp>
      <p:cxnSp>
        <p:nvCxnSpPr>
          <p:cNvPr id="35" name="">
            <a:extLst>
              <a:ext uri="{FF2B5EF4-FFF2-40B4-BE49-F238E27FC236}">
                <ns2:creationId id="{CD518F5B-5124-4473-8B62-40AB77DE675E}"/>
              </a:ext>
            </a:extLst>
          </p:cNvPr>
          <p:cNvCxnSpPr>
            <a:stCxn id="30" idx="1"/>
            <a:endCxn id="22" idx="3"/>
          </p:cNvCxnSpPr>
          <p:nvPr/>
        </p:nvCxnSpPr>
        <p:spPr>
          <a:xfrm flipV="1">
            <a:off x="5448300" y="5405438"/>
            <a:ext cx="66675" cy="852488"/>
          </a:xfrm>
          <a:prstGeom prst="bentConnector3">
            <a:avLst>
              <a:gd name="adj1" fmla="val 50000"/>
            </a:avLst>
          </a:prstGeom>
          <a:ln w="17145">
            <a:solidFill>
              <a:srgbClr val="C9433C"/>
            </a:solidFill>
            <a:tailEnd type="none" w="sm" len="sm"/>
          </a:ln>
        </p:spPr>
      </p:cxnSp>
      <p:sp>
        <p:nvSpPr>
          <p:cNvPr id="36" name="shape-71">
            <a:extLst>
              <a:ext uri="{FF2B5EF4-FFF2-40B4-BE49-F238E27FC236}">
                <ns2:creationId id="{C10CB33F-E62C-4396-8651-C3025D419C15}"/>
              </a:ext>
            </a:extLst>
          </p:cNvPr>
          <p:cNvSpPr>
            <a:spLocks noGrp="1"/>
          </p:cNvSpPr>
          <p:nvPr/>
        </p:nvSpPr>
        <p:spPr>
          <a:xfrm>
            <a:off x="2552700" y="6877050"/>
            <a:ext cx="4381500" cy="733425"/>
          </a:xfrm>
          <a:prstGeom prst="roundRect">
            <a:avLst>
              <a:gd name="adj" fmla="val 7792"/>
            </a:avLst>
          </a:prstGeom>
          <a:solidFill>
            <a:srgbClr val="EEE0DB"/>
          </a:solidFill>
          <a:ln w="0">
            <a:noFill/>
          </a:ln>
        </p:spPr>
      </p:sp>
      <p:sp>
        <p:nvSpPr>
          <p:cNvPr id="37" name="text-72">
            <a:extLst>
              <a:ext uri="{FF2B5EF4-FFF2-40B4-BE49-F238E27FC236}">
                <ns2:creationId id="{4F1A46A2-680B-4E4A-8A70-00B347BEBA45}"/>
              </a:ext>
            </a:extLst>
          </p:cNvPr>
          <p:cNvSpPr>
            <a:spLocks noGrp="1"/>
          </p:cNvSpPr>
          <p:nvPr/>
        </p:nvSpPr>
        <p:spPr>
          <a:xfrm>
            <a:off x="2714625" y="6981825"/>
            <a:ext cx="4057650" cy="295275"/>
          </a:xfrm>
          <a:prstGeom prst="rect">
            <a:avLst/>
          </a:prstGeom>
          <a:noFill/>
          <a:ln w="0">
            <a:noFill/>
          </a:ln>
        </p:spPr>
        <p:txBody>
          <a:bodyPr wrap="square" lIns="0" tIns="0" rIns="0" bIns="0" anchor="t">
            <a:noAutofit/>
          </a:bodyPr>
          <a:lstStyle>
            <a:defPPr algn="l">
              <a:defRPr sz="1725" b="0">
                <a:solidFill>
                  <a:srgbClr val="C9433C"/>
                </a:solidFill>
                <a:latin typeface="Helvetica Neue"/>
                <a:ea typeface="Helvetica Neue"/>
                <a:cs typeface="Helvetica Neue"/>
              </a:defRPr>
            </a:defPPr>
          </a:lstStyle>
          <a:p>
            <a:pPr algn="l">
              <a:lnSpc>
                <a:spcPct val="113000"/>
              </a:lnSpc>
              <a:buNone/>
              <a:defRPr sz="1725" b="0">
                <a:solidFill>
                  <a:srgbClr val="C9433C"/>
                </a:solidFill>
                <a:latin typeface="Helvetica Neue"/>
                <a:ea typeface="Helvetica Neue"/>
                <a:cs typeface="Helvetica Neue"/>
              </a:defRPr>
            </a:pPr>
            <a:r>
              <a:rPr sz="1725" b="0">
                <a:solidFill>
                  <a:srgbClr val="C9433C"/>
                </a:solidFill>
                <a:latin typeface="Helvetica Neue"/>
                <a:ea typeface="Helvetica Neue"/>
                <a:cs typeface="Helvetica Neue"/>
              </a:rPr>
              <a:t>Portable context pack</a:t>
            </a:r>
          </a:p>
        </p:txBody>
      </p:sp>
      <p:sp>
        <p:nvSpPr>
          <p:cNvPr id="38" name="text-73">
            <a:extLst>
              <a:ext uri="{FF2B5EF4-FFF2-40B4-BE49-F238E27FC236}">
                <ns2:creationId id="{4ED284A7-97FB-48DB-985F-DE3B0CC57171}"/>
              </a:ext>
            </a:extLst>
          </p:cNvPr>
          <p:cNvSpPr>
            <a:spLocks noGrp="1"/>
          </p:cNvSpPr>
          <p:nvPr/>
        </p:nvSpPr>
        <p:spPr>
          <a:xfrm>
            <a:off x="2714625" y="7334250"/>
            <a:ext cx="4057650" cy="238125"/>
          </a:xfrm>
          <a:prstGeom prst="rect">
            <a:avLst/>
          </a:prstGeom>
          <a:noFill/>
          <a:ln w="0">
            <a:noFill/>
          </a:ln>
        </p:spPr>
        <p:txBody>
          <a:bodyPr wrap="square" lIns="0" tIns="0" rIns="0" bIns="0" anchor="t">
            <a:noAutofit/>
          </a:bodyPr>
          <a:lstStyle>
            <a:defPPr algn="l">
              <a:defRPr sz="1350" b="0">
                <a:solidFill>
                  <a:srgbClr val="252524"/>
                </a:solidFill>
                <a:latin typeface="Helvetica Neue"/>
                <a:ea typeface="Helvetica Neue"/>
                <a:cs typeface="Helvetica Neue"/>
              </a:defRPr>
            </a:defPPr>
          </a:lstStyle>
          <a:p>
            <a:pPr algn="l">
              <a:lnSpc>
                <a:spcPct val="113000"/>
              </a:lnSpc>
              <a:buNone/>
              <a:defRPr sz="1350" b="0">
                <a:solidFill>
                  <a:srgbClr val="252524"/>
                </a:solidFill>
                <a:latin typeface="Helvetica Neue"/>
                <a:ea typeface="Helvetica Neue"/>
                <a:cs typeface="Helvetica Neue"/>
              </a:defRPr>
            </a:pPr>
            <a:r>
              <a:rPr sz="1350" b="0">
                <a:solidFill>
                  <a:srgbClr val="252524"/>
                </a:solidFill>
                <a:latin typeface="Helvetica Neue"/>
                <a:ea typeface="Helvetica Neue"/>
                <a:cs typeface="Helvetica Neue"/>
              </a:rPr>
              <a:t>Reviewed definitions and evidence references</a:t>
            </a:r>
          </a:p>
        </p:txBody>
      </p:sp>
      <p:sp>
        <p:nvSpPr>
          <p:cNvPr id="39" name="shape-74">
            <a:extLst>
              <a:ext uri="{FF2B5EF4-FFF2-40B4-BE49-F238E27FC236}">
                <ns2:creationId id="{9E295F70-0076-43C1-8C4B-8ED8E032D227}"/>
              </a:ext>
            </a:extLst>
          </p:cNvPr>
          <p:cNvSpPr>
            <a:spLocks noGrp="1"/>
          </p:cNvSpPr>
          <p:nvPr/>
        </p:nvSpPr>
        <p:spPr>
          <a:xfrm>
            <a:off x="7134225" y="3552825"/>
            <a:ext cx="0" cy="4057650"/>
          </a:xfrm>
          <a:prstGeom prst="line">
            <a:avLst/>
          </a:prstGeom>
          <a:noFill/>
          <a:ln w="9525">
            <a:solidFill>
              <a:srgbClr val="D6D2CB"/>
            </a:solidFill>
          </a:ln>
        </p:spPr>
      </p:sp>
      <p:sp>
        <p:nvSpPr>
          <p:cNvPr id="40" name="text-75">
            <a:extLst>
              <a:ext uri="{FF2B5EF4-FFF2-40B4-BE49-F238E27FC236}">
                <ns2:creationId id="{D2A44B1D-3E2A-4983-A3DE-628517B755BF}"/>
              </a:ext>
            </a:extLst>
          </p:cNvPr>
          <p:cNvSpPr>
            <a:spLocks noGrp="1"/>
          </p:cNvSpPr>
          <p:nvPr/>
        </p:nvSpPr>
        <p:spPr>
          <a:xfrm>
            <a:off x="7334250" y="3581400"/>
            <a:ext cx="1981200" cy="352425"/>
          </a:xfrm>
          <a:prstGeom prst="rect">
            <a:avLst/>
          </a:prstGeom>
          <a:noFill/>
          <a:ln w="0">
            <a:noFill/>
          </a:ln>
        </p:spPr>
        <p:txBody>
          <a:bodyPr wrap="square" lIns="0" tIns="0" rIns="0" bIns="0" anchor="t">
            <a:noAutofit/>
          </a:bodyPr>
          <a:lstStyle>
            <a:defPPr algn="l">
              <a:defRPr sz="2025" b="0">
                <a:solidFill>
                  <a:srgbClr val="C9433C"/>
                </a:solidFill>
                <a:latin typeface="Helvetica Neue"/>
                <a:ea typeface="Helvetica Neue"/>
                <a:cs typeface="Helvetica Neue"/>
              </a:defRPr>
            </a:defPPr>
          </a:lstStyle>
          <a:p>
            <a:pPr algn="l">
              <a:lnSpc>
                <a:spcPct val="113000"/>
              </a:lnSpc>
              <a:buNone/>
              <a:defRPr sz="2025" b="0">
                <a:solidFill>
                  <a:srgbClr val="C9433C"/>
                </a:solidFill>
                <a:latin typeface="Helvetica Neue"/>
                <a:ea typeface="Helvetica Neue"/>
                <a:cs typeface="Helvetica Neue"/>
              </a:defRPr>
            </a:pPr>
            <a:r>
              <a:rPr sz="2025" b="0">
                <a:solidFill>
                  <a:srgbClr val="C9433C"/>
                </a:solidFill>
                <a:latin typeface="Helvetica Neue"/>
                <a:ea typeface="Helvetica Neue"/>
                <a:cs typeface="Helvetica Neue"/>
              </a:rPr>
              <a:t>Details</a:t>
            </a:r>
          </a:p>
        </p:txBody>
      </p:sp>
      <p:sp>
        <p:nvSpPr>
          <p:cNvPr id="41" name="text-76">
            <a:extLst>
              <a:ext uri="{FF2B5EF4-FFF2-40B4-BE49-F238E27FC236}">
                <ns2:creationId id="{4C4B5699-6D63-4782-9895-1D0985D9E2F5}"/>
              </a:ext>
            </a:extLst>
          </p:cNvPr>
          <p:cNvSpPr>
            <a:spLocks noGrp="1"/>
          </p:cNvSpPr>
          <p:nvPr/>
        </p:nvSpPr>
        <p:spPr>
          <a:xfrm>
            <a:off x="7334250" y="4333875"/>
            <a:ext cx="1981200" cy="304800"/>
          </a:xfrm>
          <a:prstGeom prst="rect">
            <a:avLst/>
          </a:prstGeom>
          <a:noFill/>
          <a:ln w="0">
            <a:noFill/>
          </a:ln>
        </p:spPr>
        <p:txBody>
          <a:bodyPr wrap="square" lIns="0" tIns="0" rIns="0" bIns="0" anchor="t">
            <a:noAutofit/>
          </a:bodyPr>
          <a:lstStyle>
            <a:defPPr algn="l">
              <a:defRPr sz="1500" b="0">
                <a:solidFill>
                  <a:srgbClr val="252524"/>
                </a:solidFill>
                <a:latin typeface="Helvetica Neue"/>
                <a:ea typeface="Helvetica Neue"/>
                <a:cs typeface="Helvetica Neue"/>
              </a:defRPr>
            </a:defPPr>
          </a:lstStyle>
          <a:p>
            <a:pPr algn="l">
              <a:lnSpc>
                <a:spcPct val="113000"/>
              </a:lnSpc>
              <a:buNone/>
              <a:defRPr sz="1500" b="0">
                <a:solidFill>
                  <a:srgbClr val="252524"/>
                </a:solidFill>
                <a:latin typeface="Helvetica Neue"/>
                <a:ea typeface="Helvetica Neue"/>
                <a:cs typeface="Helvetica Neue"/>
              </a:defRPr>
            </a:pPr>
            <a:r>
              <a:rPr sz="1500" b="0">
                <a:solidFill>
                  <a:srgbClr val="252524"/>
                </a:solidFill>
                <a:latin typeface="Helvetica Neue"/>
                <a:ea typeface="Helvetica Neue"/>
                <a:cs typeface="Helvetica Neue"/>
              </a:rPr>
              <a:t>Owner</a:t>
            </a:r>
          </a:p>
        </p:txBody>
      </p:sp>
      <p:sp>
        <p:nvSpPr>
          <p:cNvPr id="42" name="text-77">
            <a:extLst>
              <a:ext uri="{FF2B5EF4-FFF2-40B4-BE49-F238E27FC236}">
                <ns2:creationId id="{DE632515-E551-4A8E-986D-9D1A5EA609B7}"/>
              </a:ext>
            </a:extLst>
          </p:cNvPr>
          <p:cNvSpPr>
            <a:spLocks noGrp="1"/>
          </p:cNvSpPr>
          <p:nvPr/>
        </p:nvSpPr>
        <p:spPr>
          <a:xfrm>
            <a:off x="7334250" y="4676775"/>
            <a:ext cx="1981200" cy="457200"/>
          </a:xfrm>
          <a:prstGeom prst="rect">
            <a:avLst/>
          </a:prstGeom>
          <a:noFill/>
          <a:ln w="0">
            <a:noFill/>
          </a:ln>
        </p:spPr>
        <p:txBody>
          <a:bodyPr wrap="square" lIns="0" tIns="0" rIns="0" bIns="0" anchor="t">
            <a:noAutofit/>
          </a:bodyPr>
          <a:lstStyle>
            <a:defPPr algn="l">
              <a:defRPr sz="1350" b="0">
                <a:solidFill>
                  <a:srgbClr val="686560"/>
                </a:solidFill>
                <a:latin typeface="Helvetica Neue"/>
                <a:ea typeface="Helvetica Neue"/>
                <a:cs typeface="Helvetica Neue"/>
              </a:defRPr>
            </a:defPPr>
          </a:lstStyle>
          <a:p>
            <a:pPr algn="l">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Maintainer team</a:t>
            </a:r>
          </a:p>
        </p:txBody>
      </p:sp>
      <p:sp>
        <p:nvSpPr>
          <p:cNvPr id="43" name="shape-78">
            <a:extLst>
              <a:ext uri="{FF2B5EF4-FFF2-40B4-BE49-F238E27FC236}">
                <ns2:creationId id="{58FAB0CA-05AE-4071-AE98-0D39EAC15FE6}"/>
              </a:ext>
            </a:extLst>
          </p:cNvPr>
          <p:cNvSpPr>
            <a:spLocks noGrp="1"/>
          </p:cNvSpPr>
          <p:nvPr/>
        </p:nvSpPr>
        <p:spPr>
          <a:xfrm>
            <a:off x="7334250" y="5153025"/>
            <a:ext cx="1981200" cy="0"/>
          </a:xfrm>
          <a:prstGeom prst="line">
            <a:avLst/>
          </a:prstGeom>
          <a:noFill/>
          <a:ln w="9525">
            <a:solidFill>
              <a:srgbClr val="D6D2CB"/>
            </a:solidFill>
          </a:ln>
        </p:spPr>
      </p:sp>
      <p:sp>
        <p:nvSpPr>
          <p:cNvPr id="44" name="text-79">
            <a:extLst>
              <a:ext uri="{FF2B5EF4-FFF2-40B4-BE49-F238E27FC236}">
                <ns2:creationId id="{E5EE2136-DC6C-47F5-AAD1-E4526C2A5FCC}"/>
              </a:ext>
            </a:extLst>
          </p:cNvPr>
          <p:cNvSpPr>
            <a:spLocks noGrp="1"/>
          </p:cNvSpPr>
          <p:nvPr/>
        </p:nvSpPr>
        <p:spPr>
          <a:xfrm>
            <a:off x="7334250" y="5334000"/>
            <a:ext cx="1981200" cy="304800"/>
          </a:xfrm>
          <a:prstGeom prst="rect">
            <a:avLst/>
          </a:prstGeom>
          <a:noFill/>
          <a:ln w="0">
            <a:noFill/>
          </a:ln>
        </p:spPr>
        <p:txBody>
          <a:bodyPr wrap="square" lIns="0" tIns="0" rIns="0" bIns="0" anchor="t">
            <a:noAutofit/>
          </a:bodyPr>
          <a:lstStyle>
            <a:defPPr algn="l">
              <a:defRPr sz="1500" b="0">
                <a:solidFill>
                  <a:srgbClr val="252524"/>
                </a:solidFill>
                <a:latin typeface="Helvetica Neue"/>
                <a:ea typeface="Helvetica Neue"/>
                <a:cs typeface="Helvetica Neue"/>
              </a:defRPr>
            </a:defPPr>
          </a:lstStyle>
          <a:p>
            <a:pPr algn="l">
              <a:lnSpc>
                <a:spcPct val="113000"/>
              </a:lnSpc>
              <a:buNone/>
              <a:defRPr sz="1500" b="0">
                <a:solidFill>
                  <a:srgbClr val="252524"/>
                </a:solidFill>
                <a:latin typeface="Helvetica Neue"/>
                <a:ea typeface="Helvetica Neue"/>
                <a:cs typeface="Helvetica Neue"/>
              </a:defRPr>
            </a:pPr>
            <a:r>
              <a:rPr sz="1500" b="0">
                <a:solidFill>
                  <a:srgbClr val="252524"/>
                </a:solidFill>
                <a:latin typeface="Helvetica Neue"/>
                <a:ea typeface="Helvetica Neue"/>
                <a:cs typeface="Helvetica Neue"/>
              </a:rPr>
              <a:t>Source version</a:t>
            </a:r>
          </a:p>
        </p:txBody>
      </p:sp>
      <p:sp>
        <p:nvSpPr>
          <p:cNvPr id="45" name="text-80">
            <a:extLst>
              <a:ext uri="{FF2B5EF4-FFF2-40B4-BE49-F238E27FC236}">
                <ns2:creationId id="{BAE76511-BF17-4A6C-B370-FA0B354C6450}"/>
              </a:ext>
            </a:extLst>
          </p:cNvPr>
          <p:cNvSpPr>
            <a:spLocks noGrp="1"/>
          </p:cNvSpPr>
          <p:nvPr/>
        </p:nvSpPr>
        <p:spPr>
          <a:xfrm>
            <a:off x="7334250" y="5676900"/>
            <a:ext cx="1981200" cy="457200"/>
          </a:xfrm>
          <a:prstGeom prst="rect">
            <a:avLst/>
          </a:prstGeom>
          <a:noFill/>
          <a:ln w="0">
            <a:noFill/>
          </a:ln>
        </p:spPr>
        <p:txBody>
          <a:bodyPr wrap="square" lIns="0" tIns="0" rIns="0" bIns="0" anchor="t">
            <a:noAutofit/>
          </a:bodyPr>
          <a:lstStyle>
            <a:defPPr algn="l">
              <a:defRPr sz="1350" b="0">
                <a:solidFill>
                  <a:srgbClr val="686560"/>
                </a:solidFill>
                <a:latin typeface="Helvetica Neue"/>
                <a:ea typeface="Helvetica Neue"/>
                <a:cs typeface="Helvetica Neue"/>
              </a:defRPr>
            </a:defPPr>
          </a:lstStyle>
          <a:p>
            <a:pPr algn="l">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Evidence linked</a:t>
            </a:r>
          </a:p>
        </p:txBody>
      </p:sp>
      <p:sp>
        <p:nvSpPr>
          <p:cNvPr id="46" name="shape-81">
            <a:extLst>
              <a:ext uri="{FF2B5EF4-FFF2-40B4-BE49-F238E27FC236}">
                <ns2:creationId id="{727F5857-3E17-4284-9349-C6BE79D3EDA0}"/>
              </a:ext>
            </a:extLst>
          </p:cNvPr>
          <p:cNvSpPr>
            <a:spLocks noGrp="1"/>
          </p:cNvSpPr>
          <p:nvPr/>
        </p:nvSpPr>
        <p:spPr>
          <a:xfrm>
            <a:off x="7334250" y="6153150"/>
            <a:ext cx="1981200" cy="0"/>
          </a:xfrm>
          <a:prstGeom prst="line">
            <a:avLst/>
          </a:prstGeom>
          <a:noFill/>
          <a:ln w="9525">
            <a:solidFill>
              <a:srgbClr val="D6D2CB"/>
            </a:solidFill>
          </a:ln>
        </p:spPr>
      </p:sp>
      <p:sp>
        <p:nvSpPr>
          <p:cNvPr id="47" name="text-82">
            <a:extLst>
              <a:ext uri="{FF2B5EF4-FFF2-40B4-BE49-F238E27FC236}">
                <ns2:creationId id="{7BEA5FE0-A04D-42FF-8FA1-C9208729E296}"/>
              </a:ext>
            </a:extLst>
          </p:cNvPr>
          <p:cNvSpPr>
            <a:spLocks noGrp="1"/>
          </p:cNvSpPr>
          <p:nvPr/>
        </p:nvSpPr>
        <p:spPr>
          <a:xfrm>
            <a:off x="7334250" y="6334125"/>
            <a:ext cx="1981200" cy="304800"/>
          </a:xfrm>
          <a:prstGeom prst="rect">
            <a:avLst/>
          </a:prstGeom>
          <a:noFill/>
          <a:ln w="0">
            <a:noFill/>
          </a:ln>
        </p:spPr>
        <p:txBody>
          <a:bodyPr wrap="square" lIns="0" tIns="0" rIns="0" bIns="0" anchor="t">
            <a:noAutofit/>
          </a:bodyPr>
          <a:lstStyle>
            <a:defPPr algn="l">
              <a:defRPr sz="1500" b="0">
                <a:solidFill>
                  <a:srgbClr val="252524"/>
                </a:solidFill>
                <a:latin typeface="Helvetica Neue"/>
                <a:ea typeface="Helvetica Neue"/>
                <a:cs typeface="Helvetica Neue"/>
              </a:defRPr>
            </a:defPPr>
          </a:lstStyle>
          <a:p>
            <a:pPr algn="l">
              <a:lnSpc>
                <a:spcPct val="113000"/>
              </a:lnSpc>
              <a:buNone/>
              <a:defRPr sz="1500" b="0">
                <a:solidFill>
                  <a:srgbClr val="252524"/>
                </a:solidFill>
                <a:latin typeface="Helvetica Neue"/>
                <a:ea typeface="Helvetica Neue"/>
                <a:cs typeface="Helvetica Neue"/>
              </a:defRPr>
            </a:pPr>
            <a:r>
              <a:rPr sz="1500" b="0">
                <a:solidFill>
                  <a:srgbClr val="252524"/>
                </a:solidFill>
                <a:latin typeface="Helvetica Neue"/>
                <a:ea typeface="Helvetica Neue"/>
                <a:cs typeface="Helvetica Neue"/>
              </a:rPr>
              <a:t>Review status</a:t>
            </a:r>
          </a:p>
        </p:txBody>
      </p:sp>
      <p:sp>
        <p:nvSpPr>
          <p:cNvPr id="48" name="text-83">
            <a:extLst>
              <a:ext uri="{FF2B5EF4-FFF2-40B4-BE49-F238E27FC236}">
                <ns2:creationId id="{7308C7B4-18B6-44EB-A13B-4C98D80AF23C}"/>
              </a:ext>
            </a:extLst>
          </p:cNvPr>
          <p:cNvSpPr>
            <a:spLocks noGrp="1"/>
          </p:cNvSpPr>
          <p:nvPr/>
        </p:nvSpPr>
        <p:spPr>
          <a:xfrm>
            <a:off x="7334250" y="6677025"/>
            <a:ext cx="1981200" cy="457200"/>
          </a:xfrm>
          <a:prstGeom prst="rect">
            <a:avLst/>
          </a:prstGeom>
          <a:noFill/>
          <a:ln w="0">
            <a:noFill/>
          </a:ln>
        </p:spPr>
        <p:txBody>
          <a:bodyPr wrap="square" lIns="0" tIns="0" rIns="0" bIns="0" anchor="t">
            <a:noAutofit/>
          </a:bodyPr>
          <a:lstStyle>
            <a:defPPr algn="l">
              <a:defRPr sz="1350" b="0">
                <a:solidFill>
                  <a:srgbClr val="686560"/>
                </a:solidFill>
                <a:latin typeface="Helvetica Neue"/>
                <a:ea typeface="Helvetica Neue"/>
                <a:cs typeface="Helvetica Neue"/>
              </a:defRPr>
            </a:defPPr>
          </a:lstStyle>
          <a:p>
            <a:pPr algn="l">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Needs review</a:t>
            </a:r>
          </a:p>
        </p:txBody>
      </p:sp>
      <p:sp>
        <p:nvSpPr>
          <p:cNvPr id="49" name="text-84">
            <a:hlinkClick r:id="R71a6f69008eb441a" action="ppaction://hlinksldjump"/>
            <a:extLst>
              <a:ext uri="{FF2B5EF4-FFF2-40B4-BE49-F238E27FC236}">
                <ns2:creationId id="{9B6A8CB9-DD7A-4902-B7C8-36974FC98237}"/>
              </a:ext>
            </a:extLst>
          </p:cNvPr>
          <p:cNvSpPr>
            <a:spLocks noGrp="1"/>
          </p:cNvSpPr>
          <p:nvPr/>
        </p:nvSpPr>
        <p:spPr>
          <a:xfrm>
            <a:off x="9925050" y="2771775"/>
            <a:ext cx="4705350" cy="352425"/>
          </a:xfrm>
          <a:prstGeom prst="rect">
            <a:avLst/>
          </a:prstGeom>
          <a:noFill/>
          <a:ln w="0">
            <a:noFill/>
          </a:ln>
        </p:spPr>
        <p:txBody>
          <a:bodyPr wrap="square" lIns="0" tIns="0" rIns="0" bIns="0" anchor="t">
            <a:noAutofit/>
          </a:bodyPr>
          <a:lstStyle>
            <a:defPPr algn="l">
              <a:defRPr sz="2100" b="0">
                <a:solidFill>
                  <a:srgbClr val="C9433C"/>
                </a:solidFill>
                <a:latin typeface="Helvetica Neue"/>
                <a:ea typeface="Helvetica Neue"/>
                <a:cs typeface="Helvetica Neue"/>
              </a:defRPr>
            </a:defPPr>
          </a:lstStyle>
          <a:p>
            <a:pPr algn="l">
              <a:lnSpc>
                <a:spcPct val="113000"/>
              </a:lnSpc>
              <a:buNone/>
              <a:defRPr sz="2100" b="0">
                <a:solidFill>
                  <a:srgbClr val="C9433C"/>
                </a:solidFill>
                <a:latin typeface="Helvetica Neue"/>
                <a:ea typeface="Helvetica Neue"/>
                <a:cs typeface="Helvetica Neue"/>
              </a:defRPr>
            </a:pPr>
            <a:r>
              <a:rPr sz="2100" b="0">
                <a:solidFill>
                  <a:srgbClr val="C9433C"/>
                </a:solidFill>
                <a:latin typeface="Helvetica Neue"/>
                <a:ea typeface="Helvetica Neue"/>
                <a:cs typeface="Helvetica Neue"/>
                <a:hlinkClick r:id="R71a6f69008eb441a" action="ppaction://hlinksldjump"/>
              </a:rPr>
              <a:t>Knowledge catalogue</a:t>
            </a:r>
          </a:p>
        </p:txBody>
      </p:sp>
      <p:sp>
        <p:nvSpPr>
          <p:cNvPr id="50" name="text-85">
            <a:extLst>
              <a:ext uri="{FF2B5EF4-FFF2-40B4-BE49-F238E27FC236}">
                <ns2:creationId id="{D6A44C85-6CAA-4EFD-80B5-3B04C94FDD3A}"/>
              </a:ext>
            </a:extLst>
          </p:cNvPr>
          <p:cNvSpPr>
            <a:spLocks noGrp="1"/>
          </p:cNvSpPr>
          <p:nvPr/>
        </p:nvSpPr>
        <p:spPr>
          <a:xfrm>
            <a:off x="9925050" y="3162300"/>
            <a:ext cx="4705350" cy="428625"/>
          </a:xfrm>
          <a:prstGeom prst="rect">
            <a:avLst/>
          </a:prstGeom>
          <a:noFill/>
          <a:ln w="0">
            <a:noFill/>
          </a:ln>
        </p:spPr>
        <p:txBody>
          <a:bodyPr wrap="square" lIns="0" tIns="0" rIns="0" bIns="0" anchor="t">
            <a:noAutofit/>
          </a:bodyPr>
          <a:lstStyle>
            <a:defPPr algn="l">
              <a:defRPr sz="1800" b="0">
                <a:solidFill>
                  <a:srgbClr val="252524"/>
                </a:solidFill>
                <a:latin typeface="Helvetica Neue"/>
                <a:ea typeface="Helvetica Neue"/>
                <a:cs typeface="Helvetica Neue"/>
              </a:defRPr>
            </a:defPPr>
          </a:lstStyle>
          <a:p>
            <a:pPr algn="l">
              <a:lnSpc>
                <a:spcPct val="113000"/>
              </a:lnSpc>
              <a:buNone/>
              <a:defRPr sz="1800" b="0">
                <a:solidFill>
                  <a:srgbClr val="252524"/>
                </a:solidFill>
                <a:latin typeface="Helvetica Neue"/>
                <a:ea typeface="Helvetica Neue"/>
                <a:cs typeface="Helvetica Neue"/>
              </a:defRPr>
            </a:pPr>
            <a:r>
              <a:rPr sz="1800" b="0">
                <a:solidFill>
                  <a:srgbClr val="252524"/>
                </a:solidFill>
                <a:latin typeface="Helvetica Neue"/>
                <a:ea typeface="Helvetica Neue"/>
                <a:cs typeface="Helvetica Neue"/>
              </a:rPr>
              <a:t>Find knowledge with owners and evidence.</a:t>
            </a:r>
          </a:p>
        </p:txBody>
      </p:sp>
      <p:sp>
        <p:nvSpPr>
          <p:cNvPr id="51" name="text-86">
            <a:hlinkClick r:id="R40bcf1a535534d90" action="ppaction://hlinksldjump"/>
            <a:extLst>
              <a:ext uri="{FF2B5EF4-FFF2-40B4-BE49-F238E27FC236}">
                <ns2:creationId id="{CF752781-C4E3-4FBC-923A-FF5607B8DDFF}"/>
              </a:ext>
            </a:extLst>
          </p:cNvPr>
          <p:cNvSpPr>
            <a:spLocks noGrp="1"/>
          </p:cNvSpPr>
          <p:nvPr/>
        </p:nvSpPr>
        <p:spPr>
          <a:xfrm>
            <a:off x="9925050" y="3629025"/>
            <a:ext cx="4705350" cy="352425"/>
          </a:xfrm>
          <a:prstGeom prst="rect">
            <a:avLst/>
          </a:prstGeom>
          <a:noFill/>
          <a:ln w="0">
            <a:noFill/>
          </a:ln>
        </p:spPr>
        <p:txBody>
          <a:bodyPr wrap="square" lIns="0" tIns="0" rIns="0" bIns="0" anchor="t">
            <a:noAutofit/>
          </a:bodyPr>
          <a:lstStyle>
            <a:defPPr algn="l">
              <a:defRPr sz="2100" b="0">
                <a:solidFill>
                  <a:srgbClr val="C9433C"/>
                </a:solidFill>
                <a:latin typeface="Helvetica Neue"/>
                <a:ea typeface="Helvetica Neue"/>
                <a:cs typeface="Helvetica Neue"/>
              </a:defRPr>
            </a:defPPr>
          </a:lstStyle>
          <a:p>
            <a:pPr algn="l">
              <a:lnSpc>
                <a:spcPct val="113000"/>
              </a:lnSpc>
              <a:buNone/>
              <a:defRPr sz="2100" b="0">
                <a:solidFill>
                  <a:srgbClr val="C9433C"/>
                </a:solidFill>
                <a:latin typeface="Helvetica Neue"/>
                <a:ea typeface="Helvetica Neue"/>
                <a:cs typeface="Helvetica Neue"/>
              </a:defRPr>
            </a:pPr>
            <a:r>
              <a:rPr sz="2100" b="0">
                <a:solidFill>
                  <a:srgbClr val="C9433C"/>
                </a:solidFill>
                <a:latin typeface="Helvetica Neue"/>
                <a:ea typeface="Helvetica Neue"/>
                <a:cs typeface="Helvetica Neue"/>
                <a:hlinkClick r:id="R40bcf1a535534d90" action="ppaction://hlinksldjump"/>
              </a:rPr>
              <a:t>Knowledge builder</a:t>
            </a:r>
          </a:p>
        </p:txBody>
      </p:sp>
      <p:sp>
        <p:nvSpPr>
          <p:cNvPr id="52" name="text-87">
            <a:extLst>
              <a:ext uri="{FF2B5EF4-FFF2-40B4-BE49-F238E27FC236}">
                <ns2:creationId id="{A168C8B2-3F22-43A2-A84D-8B608D9913E4}"/>
              </a:ext>
            </a:extLst>
          </p:cNvPr>
          <p:cNvSpPr>
            <a:spLocks noGrp="1"/>
          </p:cNvSpPr>
          <p:nvPr/>
        </p:nvSpPr>
        <p:spPr>
          <a:xfrm>
            <a:off x="9925050" y="4019550"/>
            <a:ext cx="4705350" cy="428625"/>
          </a:xfrm>
          <a:prstGeom prst="rect">
            <a:avLst/>
          </a:prstGeom>
          <a:noFill/>
          <a:ln w="0">
            <a:noFill/>
          </a:ln>
        </p:spPr>
        <p:txBody>
          <a:bodyPr wrap="square" lIns="0" tIns="0" rIns="0" bIns="0" anchor="t">
            <a:noAutofit/>
          </a:bodyPr>
          <a:lstStyle>
            <a:defPPr algn="l">
              <a:defRPr sz="1800" b="0">
                <a:solidFill>
                  <a:srgbClr val="252524"/>
                </a:solidFill>
                <a:latin typeface="Helvetica Neue"/>
                <a:ea typeface="Helvetica Neue"/>
                <a:cs typeface="Helvetica Neue"/>
              </a:defRPr>
            </a:defPPr>
          </a:lstStyle>
          <a:p>
            <a:pPr algn="l">
              <a:lnSpc>
                <a:spcPct val="113000"/>
              </a:lnSpc>
              <a:buNone/>
              <a:defRPr sz="1800" b="0">
                <a:solidFill>
                  <a:srgbClr val="252524"/>
                </a:solidFill>
                <a:latin typeface="Helvetica Neue"/>
                <a:ea typeface="Helvetica Neue"/>
                <a:cs typeface="Helvetica Neue"/>
              </a:defRPr>
            </a:pPr>
            <a:r>
              <a:rPr sz="1800" b="0">
                <a:solidFill>
                  <a:srgbClr val="252524"/>
                </a:solidFill>
                <a:latin typeface="Helvetica Neue"/>
                <a:ea typeface="Helvetica Neue"/>
                <a:cs typeface="Helvetica Neue"/>
              </a:rPr>
              <a:t>Map sources into reusable context packs.</a:t>
            </a:r>
          </a:p>
        </p:txBody>
      </p:sp>
      <p:sp>
        <p:nvSpPr>
          <p:cNvPr id="53" name="text-88">
            <a:hlinkClick r:id="R3b9cd51e5e8b4286" action="ppaction://hlinksldjump"/>
            <a:extLst>
              <a:ext uri="{FF2B5EF4-FFF2-40B4-BE49-F238E27FC236}">
                <ns2:creationId id="{29E3C0F2-1471-484B-A572-6DA13BF48FD3}"/>
              </a:ext>
            </a:extLst>
          </p:cNvPr>
          <p:cNvSpPr>
            <a:spLocks noGrp="1"/>
          </p:cNvSpPr>
          <p:nvPr/>
        </p:nvSpPr>
        <p:spPr>
          <a:xfrm>
            <a:off x="9925050" y="4486275"/>
            <a:ext cx="4705350" cy="352425"/>
          </a:xfrm>
          <a:prstGeom prst="rect">
            <a:avLst/>
          </a:prstGeom>
          <a:noFill/>
          <a:ln w="0">
            <a:noFill/>
          </a:ln>
        </p:spPr>
        <p:txBody>
          <a:bodyPr wrap="square" lIns="0" tIns="0" rIns="0" bIns="0" anchor="t">
            <a:noAutofit/>
          </a:bodyPr>
          <a:lstStyle>
            <a:defPPr algn="l">
              <a:defRPr sz="2100" b="0">
                <a:solidFill>
                  <a:srgbClr val="C9433C"/>
                </a:solidFill>
                <a:latin typeface="Helvetica Neue"/>
                <a:ea typeface="Helvetica Neue"/>
                <a:cs typeface="Helvetica Neue"/>
              </a:defRPr>
            </a:defPPr>
          </a:lstStyle>
          <a:p>
            <a:pPr algn="l">
              <a:lnSpc>
                <a:spcPct val="113000"/>
              </a:lnSpc>
              <a:buNone/>
              <a:defRPr sz="2100" b="0">
                <a:solidFill>
                  <a:srgbClr val="C9433C"/>
                </a:solidFill>
                <a:latin typeface="Helvetica Neue"/>
                <a:ea typeface="Helvetica Neue"/>
                <a:cs typeface="Helvetica Neue"/>
              </a:defRPr>
            </a:pPr>
            <a:r>
              <a:rPr sz="2100" b="0">
                <a:solidFill>
                  <a:srgbClr val="C9433C"/>
                </a:solidFill>
                <a:latin typeface="Helvetica Neue"/>
                <a:ea typeface="Helvetica Neue"/>
                <a:cs typeface="Helvetica Neue"/>
                <a:hlinkClick r:id="R3b9cd51e5e8b4286" action="ppaction://hlinksldjump"/>
              </a:rPr>
              <a:t>Reauthoring</a:t>
            </a:r>
          </a:p>
        </p:txBody>
      </p:sp>
      <p:sp>
        <p:nvSpPr>
          <p:cNvPr id="54" name="text-89">
            <a:extLst>
              <a:ext uri="{FF2B5EF4-FFF2-40B4-BE49-F238E27FC236}">
                <ns2:creationId id="{D9C8FEBA-9C52-4144-95A6-7485DC8944DC}"/>
              </a:ext>
            </a:extLst>
          </p:cNvPr>
          <p:cNvSpPr>
            <a:spLocks noGrp="1"/>
          </p:cNvSpPr>
          <p:nvPr/>
        </p:nvSpPr>
        <p:spPr>
          <a:xfrm>
            <a:off x="9925050" y="4876800"/>
            <a:ext cx="4705350" cy="428625"/>
          </a:xfrm>
          <a:prstGeom prst="rect">
            <a:avLst/>
          </a:prstGeom>
          <a:noFill/>
          <a:ln w="0">
            <a:noFill/>
          </a:ln>
        </p:spPr>
        <p:txBody>
          <a:bodyPr wrap="square" lIns="0" tIns="0" rIns="0" bIns="0" anchor="t">
            <a:noAutofit/>
          </a:bodyPr>
          <a:lstStyle>
            <a:defPPr algn="l">
              <a:defRPr sz="1800" b="0">
                <a:solidFill>
                  <a:srgbClr val="252524"/>
                </a:solidFill>
                <a:latin typeface="Helvetica Neue"/>
                <a:ea typeface="Helvetica Neue"/>
                <a:cs typeface="Helvetica Neue"/>
              </a:defRPr>
            </a:defPPr>
          </a:lstStyle>
          <a:p>
            <a:pPr algn="l">
              <a:lnSpc>
                <a:spcPct val="113000"/>
              </a:lnSpc>
              <a:buNone/>
              <a:defRPr sz="1800" b="0">
                <a:solidFill>
                  <a:srgbClr val="252524"/>
                </a:solidFill>
                <a:latin typeface="Helvetica Neue"/>
                <a:ea typeface="Helvetica Neue"/>
                <a:cs typeface="Helvetica Neue"/>
              </a:defRPr>
            </a:pPr>
            <a:r>
              <a:rPr sz="1800" b="0">
                <a:solidFill>
                  <a:srgbClr val="252524"/>
                </a:solidFill>
                <a:latin typeface="Helvetica Neue"/>
                <a:ea typeface="Helvetica Neue"/>
                <a:cs typeface="Helvetica Neue"/>
              </a:rPr>
              <a:t>Revise knowledge with reviewed changes.</a:t>
            </a:r>
          </a:p>
        </p:txBody>
      </p:sp>
      <p:sp>
        <p:nvSpPr>
          <p:cNvPr id="55" name="text-90">
            <a:hlinkClick r:id="R6f7766c4e3bb4ac9" action="ppaction://hlinksldjump"/>
            <a:extLst>
              <a:ext uri="{FF2B5EF4-FFF2-40B4-BE49-F238E27FC236}">
                <ns2:creationId id="{96AC806D-BE93-4D8A-864A-ED6908A78D32}"/>
              </a:ext>
            </a:extLst>
          </p:cNvPr>
          <p:cNvSpPr>
            <a:spLocks noGrp="1"/>
          </p:cNvSpPr>
          <p:nvPr/>
        </p:nvSpPr>
        <p:spPr>
          <a:xfrm>
            <a:off x="9925050" y="5343525"/>
            <a:ext cx="4705350" cy="352425"/>
          </a:xfrm>
          <a:prstGeom prst="rect">
            <a:avLst/>
          </a:prstGeom>
          <a:noFill/>
          <a:ln w="0">
            <a:noFill/>
          </a:ln>
        </p:spPr>
        <p:txBody>
          <a:bodyPr wrap="square" lIns="0" tIns="0" rIns="0" bIns="0" anchor="t">
            <a:noAutofit/>
          </a:bodyPr>
          <a:lstStyle>
            <a:defPPr algn="l">
              <a:defRPr sz="2100" b="0">
                <a:solidFill>
                  <a:srgbClr val="C9433C"/>
                </a:solidFill>
                <a:latin typeface="Helvetica Neue"/>
                <a:ea typeface="Helvetica Neue"/>
                <a:cs typeface="Helvetica Neue"/>
              </a:defRPr>
            </a:defPPr>
          </a:lstStyle>
          <a:p>
            <a:pPr algn="l">
              <a:lnSpc>
                <a:spcPct val="113000"/>
              </a:lnSpc>
              <a:buNone/>
              <a:defRPr sz="2100" b="0">
                <a:solidFill>
                  <a:srgbClr val="C9433C"/>
                </a:solidFill>
                <a:latin typeface="Helvetica Neue"/>
                <a:ea typeface="Helvetica Neue"/>
                <a:cs typeface="Helvetica Neue"/>
              </a:defRPr>
            </a:pPr>
            <a:r>
              <a:rPr sz="2100" b="0">
                <a:solidFill>
                  <a:srgbClr val="C9433C"/>
                </a:solidFill>
                <a:latin typeface="Helvetica Neue"/>
                <a:ea typeface="Helvetica Neue"/>
                <a:cs typeface="Helvetica Neue"/>
                <a:hlinkClick r:id="R6f7766c4e3bb4ac9" action="ppaction://hlinksldjump"/>
              </a:rPr>
              <a:t>Ontology management</a:t>
            </a:r>
          </a:p>
        </p:txBody>
      </p:sp>
      <p:sp>
        <p:nvSpPr>
          <p:cNvPr id="56" name="text-91">
            <a:extLst>
              <a:ext uri="{FF2B5EF4-FFF2-40B4-BE49-F238E27FC236}">
                <ns2:creationId id="{C3A6EA3A-F166-441B-AF82-16F9E18434FB}"/>
              </a:ext>
            </a:extLst>
          </p:cNvPr>
          <p:cNvSpPr>
            <a:spLocks noGrp="1"/>
          </p:cNvSpPr>
          <p:nvPr/>
        </p:nvSpPr>
        <p:spPr>
          <a:xfrm>
            <a:off x="9925050" y="5734050"/>
            <a:ext cx="4705350" cy="428625"/>
          </a:xfrm>
          <a:prstGeom prst="rect">
            <a:avLst/>
          </a:prstGeom>
          <a:noFill/>
          <a:ln w="0">
            <a:noFill/>
          </a:ln>
        </p:spPr>
        <p:txBody>
          <a:bodyPr wrap="square" lIns="0" tIns="0" rIns="0" bIns="0" anchor="t">
            <a:noAutofit/>
          </a:bodyPr>
          <a:lstStyle>
            <a:defPPr algn="l">
              <a:defRPr sz="1800" b="0">
                <a:solidFill>
                  <a:srgbClr val="252524"/>
                </a:solidFill>
                <a:latin typeface="Helvetica Neue"/>
                <a:ea typeface="Helvetica Neue"/>
                <a:cs typeface="Helvetica Neue"/>
              </a:defRPr>
            </a:defPPr>
          </a:lstStyle>
          <a:p>
            <a:pPr algn="l">
              <a:lnSpc>
                <a:spcPct val="113000"/>
              </a:lnSpc>
              <a:buNone/>
              <a:defRPr sz="1800" b="0">
                <a:solidFill>
                  <a:srgbClr val="252524"/>
                </a:solidFill>
                <a:latin typeface="Helvetica Neue"/>
                <a:ea typeface="Helvetica Neue"/>
                <a:cs typeface="Helvetica Neue"/>
              </a:defRPr>
            </a:pPr>
            <a:r>
              <a:rPr sz="1800" b="0">
                <a:solidFill>
                  <a:srgbClr val="252524"/>
                </a:solidFill>
                <a:latin typeface="Helvetica Neue"/>
                <a:ea typeface="Helvetica Neue"/>
                <a:cs typeface="Helvetica Neue"/>
              </a:rPr>
              <a:t>Keep domain meanings and rules consistent.</a:t>
            </a:r>
          </a:p>
        </p:txBody>
      </p:sp>
      <p:sp>
        <p:nvSpPr>
          <p:cNvPr id="57" name="text-92">
            <a:hlinkClick r:id="R3cb2a05cbc3f42fb" action="ppaction://hlinksldjump"/>
            <a:extLst>
              <a:ext uri="{FF2B5EF4-FFF2-40B4-BE49-F238E27FC236}">
                <ns2:creationId id="{33F25CAA-3C04-45D3-A366-52B13264D304}"/>
              </a:ext>
            </a:extLst>
          </p:cNvPr>
          <p:cNvSpPr>
            <a:spLocks noGrp="1"/>
          </p:cNvSpPr>
          <p:nvPr/>
        </p:nvSpPr>
        <p:spPr>
          <a:xfrm>
            <a:off x="9925050" y="6200775"/>
            <a:ext cx="4705350" cy="352425"/>
          </a:xfrm>
          <a:prstGeom prst="rect">
            <a:avLst/>
          </a:prstGeom>
          <a:noFill/>
          <a:ln w="0">
            <a:noFill/>
          </a:ln>
        </p:spPr>
        <p:txBody>
          <a:bodyPr wrap="square" lIns="0" tIns="0" rIns="0" bIns="0" anchor="t">
            <a:noAutofit/>
          </a:bodyPr>
          <a:lstStyle>
            <a:defPPr algn="l">
              <a:defRPr sz="2100" b="0">
                <a:solidFill>
                  <a:srgbClr val="C9433C"/>
                </a:solidFill>
                <a:latin typeface="Helvetica Neue"/>
                <a:ea typeface="Helvetica Neue"/>
                <a:cs typeface="Helvetica Neue"/>
              </a:defRPr>
            </a:defPPr>
          </a:lstStyle>
          <a:p>
            <a:pPr algn="l">
              <a:lnSpc>
                <a:spcPct val="113000"/>
              </a:lnSpc>
              <a:buNone/>
              <a:defRPr sz="2100" b="0">
                <a:solidFill>
                  <a:srgbClr val="C9433C"/>
                </a:solidFill>
                <a:latin typeface="Helvetica Neue"/>
                <a:ea typeface="Helvetica Neue"/>
                <a:cs typeface="Helvetica Neue"/>
              </a:defRPr>
            </a:pPr>
            <a:r>
              <a:rPr sz="2100" b="0">
                <a:solidFill>
                  <a:srgbClr val="C9433C"/>
                </a:solidFill>
                <a:latin typeface="Helvetica Neue"/>
                <a:ea typeface="Helvetica Neue"/>
                <a:cs typeface="Helvetica Neue"/>
                <a:hlinkClick r:id="R3cb2a05cbc3f42fb" action="ppaction://hlinksldjump"/>
              </a:rPr>
              <a:t>Agent integrations</a:t>
            </a:r>
          </a:p>
        </p:txBody>
      </p:sp>
      <p:sp>
        <p:nvSpPr>
          <p:cNvPr id="58" name="text-93">
            <a:extLst>
              <a:ext uri="{FF2B5EF4-FFF2-40B4-BE49-F238E27FC236}">
                <ns2:creationId id="{466FF11C-7E11-4DC2-B955-880FB083AAFB}"/>
              </a:ext>
            </a:extLst>
          </p:cNvPr>
          <p:cNvSpPr>
            <a:spLocks noGrp="1"/>
          </p:cNvSpPr>
          <p:nvPr/>
        </p:nvSpPr>
        <p:spPr>
          <a:xfrm>
            <a:off x="9925050" y="6591300"/>
            <a:ext cx="4705350" cy="428625"/>
          </a:xfrm>
          <a:prstGeom prst="rect">
            <a:avLst/>
          </a:prstGeom>
          <a:noFill/>
          <a:ln w="0">
            <a:noFill/>
          </a:ln>
        </p:spPr>
        <p:txBody>
          <a:bodyPr wrap="square" lIns="0" tIns="0" rIns="0" bIns="0" anchor="t">
            <a:noAutofit/>
          </a:bodyPr>
          <a:lstStyle>
            <a:defPPr algn="l">
              <a:defRPr sz="1800" b="0">
                <a:solidFill>
                  <a:srgbClr val="252524"/>
                </a:solidFill>
                <a:latin typeface="Helvetica Neue"/>
                <a:ea typeface="Helvetica Neue"/>
                <a:cs typeface="Helvetica Neue"/>
              </a:defRPr>
            </a:defPPr>
          </a:lstStyle>
          <a:p>
            <a:pPr algn="l">
              <a:lnSpc>
                <a:spcPct val="113000"/>
              </a:lnSpc>
              <a:buNone/>
              <a:defRPr sz="1800" b="0">
                <a:solidFill>
                  <a:srgbClr val="252524"/>
                </a:solidFill>
                <a:latin typeface="Helvetica Neue"/>
                <a:ea typeface="Helvetica Neue"/>
                <a:cs typeface="Helvetica Neue"/>
              </a:defRPr>
            </a:pPr>
            <a:r>
              <a:rPr sz="1800" b="0">
                <a:solidFill>
                  <a:srgbClr val="252524"/>
                </a:solidFill>
                <a:latin typeface="Helvetica Neue"/>
                <a:ea typeface="Helvetica Neue"/>
                <a:cs typeface="Helvetica Neue"/>
              </a:rPr>
              <a:t>Give agents scoped access via MCP.</a:t>
            </a:r>
          </a:p>
        </p:txBody>
      </p:sp>
      <p:sp>
        <p:nvSpPr>
          <p:cNvPr id="59" name="text-94">
            <a:hlinkClick r:id="Rbd0f4dc51b124a3b" action="ppaction://hlinksldjump"/>
            <a:extLst>
              <a:ext uri="{FF2B5EF4-FFF2-40B4-BE49-F238E27FC236}">
                <ns2:creationId id="{28B708F5-6B7A-408C-8CDE-175A021FDCFC}"/>
              </a:ext>
            </a:extLst>
          </p:cNvPr>
          <p:cNvSpPr>
            <a:spLocks noGrp="1"/>
          </p:cNvSpPr>
          <p:nvPr/>
        </p:nvSpPr>
        <p:spPr>
          <a:xfrm>
            <a:off x="9925050" y="7058025"/>
            <a:ext cx="4705350" cy="352425"/>
          </a:xfrm>
          <a:prstGeom prst="rect">
            <a:avLst/>
          </a:prstGeom>
          <a:noFill/>
          <a:ln w="0">
            <a:noFill/>
          </a:ln>
        </p:spPr>
        <p:txBody>
          <a:bodyPr wrap="square" lIns="0" tIns="0" rIns="0" bIns="0" anchor="t">
            <a:noAutofit/>
          </a:bodyPr>
          <a:lstStyle>
            <a:defPPr algn="l">
              <a:defRPr sz="2100" b="0">
                <a:solidFill>
                  <a:srgbClr val="C9433C"/>
                </a:solidFill>
                <a:latin typeface="Helvetica Neue"/>
                <a:ea typeface="Helvetica Neue"/>
                <a:cs typeface="Helvetica Neue"/>
              </a:defRPr>
            </a:defPPr>
          </a:lstStyle>
          <a:p>
            <a:pPr algn="l">
              <a:lnSpc>
                <a:spcPct val="113000"/>
              </a:lnSpc>
              <a:buNone/>
              <a:defRPr sz="2100" b="0">
                <a:solidFill>
                  <a:srgbClr val="C9433C"/>
                </a:solidFill>
                <a:latin typeface="Helvetica Neue"/>
                <a:ea typeface="Helvetica Neue"/>
                <a:cs typeface="Helvetica Neue"/>
              </a:defRPr>
            </a:pPr>
            <a:r>
              <a:rPr sz="2100" b="0">
                <a:solidFill>
                  <a:srgbClr val="C9433C"/>
                </a:solidFill>
                <a:latin typeface="Helvetica Neue"/>
                <a:ea typeface="Helvetica Neue"/>
                <a:cs typeface="Helvetica Neue"/>
                <a:hlinkClick r:id="Rbd0f4dc51b124a3b" action="ppaction://hlinksldjump"/>
              </a:rPr>
              <a:t>Persistent memory</a:t>
            </a:r>
          </a:p>
        </p:txBody>
      </p:sp>
      <p:sp>
        <p:nvSpPr>
          <p:cNvPr id="60" name="text-95">
            <a:extLst>
              <a:ext uri="{FF2B5EF4-FFF2-40B4-BE49-F238E27FC236}">
                <ns2:creationId id="{F8729322-217A-4BAA-B0E1-7F663FBDA239}"/>
              </a:ext>
            </a:extLst>
          </p:cNvPr>
          <p:cNvSpPr>
            <a:spLocks noGrp="1"/>
          </p:cNvSpPr>
          <p:nvPr/>
        </p:nvSpPr>
        <p:spPr>
          <a:xfrm>
            <a:off x="9925050" y="7448550"/>
            <a:ext cx="4705350" cy="428625"/>
          </a:xfrm>
          <a:prstGeom prst="rect">
            <a:avLst/>
          </a:prstGeom>
          <a:noFill/>
          <a:ln w="0">
            <a:noFill/>
          </a:ln>
        </p:spPr>
        <p:txBody>
          <a:bodyPr wrap="square" lIns="0" tIns="0" rIns="0" bIns="0" anchor="t">
            <a:noAutofit/>
          </a:bodyPr>
          <a:lstStyle>
            <a:defPPr algn="l">
              <a:defRPr sz="1800" b="0">
                <a:solidFill>
                  <a:srgbClr val="252524"/>
                </a:solidFill>
                <a:latin typeface="Helvetica Neue"/>
                <a:ea typeface="Helvetica Neue"/>
                <a:cs typeface="Helvetica Neue"/>
              </a:defRPr>
            </a:defPPr>
          </a:lstStyle>
          <a:p>
            <a:pPr algn="l">
              <a:lnSpc>
                <a:spcPct val="113000"/>
              </a:lnSpc>
              <a:buNone/>
              <a:defRPr sz="1800" b="0">
                <a:solidFill>
                  <a:srgbClr val="252524"/>
                </a:solidFill>
                <a:latin typeface="Helvetica Neue"/>
                <a:ea typeface="Helvetica Neue"/>
                <a:cs typeface="Helvetica Neue"/>
              </a:defRPr>
            </a:pPr>
            <a:r>
              <a:rPr sz="1800" b="0">
                <a:solidFill>
                  <a:srgbClr val="252524"/>
                </a:solidFill>
                <a:latin typeface="Helvetica Neue"/>
                <a:ea typeface="Helvetica Neue"/>
                <a:cs typeface="Helvetica Neue"/>
              </a:rPr>
              <a:t>Resume findings, tasks and handoffs.</a:t>
            </a:r>
          </a:p>
        </p:txBody>
      </p:sp>
    </p:spTree>
    <p:extLst>
      <p:ext uri="{BB962C8B-B14F-4D97-AF65-F5344CB8AC3E}">
        <ns4:creationId val="1163897806"/>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F2EE"/>
        </a:solidFill>
      </p:bgPr>
    </p:bg>
    <p:spTree>
      <p:nvGrpSpPr>
        <p:cNvPr id="1" name=""/>
        <p:cNvGrpSpPr/>
        <p:nvPr/>
      </p:nvGrpSpPr>
      <p:grpSpPr>
        <a:xfrm/>
      </p:grpSpPr>
      <p:sp>
        <p:nvSpPr>
          <p:cNvPr id="29" name="text-96">
            <a:extLst>
              <a:ext uri="{FF2B5EF4-FFF2-40B4-BE49-F238E27FC236}">
                <ns2:creationId id="{4EE257A2-D29C-48AC-AB80-B5B66352D65F}"/>
              </a:ext>
            </a:extLst>
          </p:cNvPr>
          <p:cNvSpPr>
            <a:spLocks noGrp="1"/>
          </p:cNvSpPr>
          <p:nvPr/>
        </p:nvSpPr>
        <p:spPr>
          <a:xfrm>
            <a:off x="609600" y="523875"/>
            <a:ext cx="14020800" cy="809625"/>
          </a:xfrm>
          <a:prstGeom prst="rect">
            <a:avLst/>
          </a:prstGeom>
          <a:noFill/>
          <a:ln w="0">
            <a:noFill/>
          </a:ln>
        </p:spPr>
        <p:txBody>
          <a:bodyPr wrap="square" lIns="0" tIns="0" rIns="0" bIns="0" anchor="t">
            <a:noAutofit/>
          </a:bodyPr>
          <a:lstStyle>
            <a:defPPr algn="l">
              <a:defRPr sz="4200" b="0">
                <a:solidFill>
                  <a:srgbClr val="252524"/>
                </a:solidFill>
                <a:latin typeface="Helvetica Neue"/>
                <a:ea typeface="Helvetica Neue"/>
                <a:cs typeface="Helvetica Neue"/>
              </a:defRPr>
            </a:defPPr>
          </a:lstStyle>
          <a:p>
            <a:pPr algn="l">
              <a:lnSpc>
                <a:spcPct val="113000"/>
              </a:lnSpc>
              <a:buNone/>
              <a:defRPr sz="4200" b="0">
                <a:solidFill>
                  <a:srgbClr val="252524"/>
                </a:solidFill>
                <a:latin typeface="Helvetica Neue"/>
                <a:ea typeface="Helvetica Neue"/>
                <a:cs typeface="Helvetica Neue"/>
              </a:defRPr>
            </a:pPr>
            <a:r>
              <a:rPr sz="4200" b="0">
                <a:solidFill>
                  <a:srgbClr val="252524"/>
                </a:solidFill>
                <a:latin typeface="Helvetica Neue"/>
                <a:ea typeface="Helvetica Neue"/>
                <a:cs typeface="Helvetica Neue"/>
              </a:rPr>
              <a:t>How the graph becomes useful context</a:t>
            </a:r>
          </a:p>
        </p:txBody>
      </p:sp>
      <p:sp>
        <p:nvSpPr>
          <p:cNvPr id="2" name="text-97">
            <a:extLst>
              <a:ext uri="{FF2B5EF4-FFF2-40B4-BE49-F238E27FC236}">
                <ns2:creationId id="{D8D33849-A652-415C-94B2-9A73AD801599}"/>
              </a:ext>
            </a:extLst>
          </p:cNvPr>
          <p:cNvSpPr>
            <a:spLocks noGrp="1"/>
          </p:cNvSpPr>
          <p:nvPr/>
        </p:nvSpPr>
        <p:spPr>
          <a:xfrm>
            <a:off x="628650" y="1476375"/>
            <a:ext cx="13963650" cy="914400"/>
          </a:xfrm>
          <a:prstGeom prst="rect">
            <a:avLst/>
          </a:prstGeom>
          <a:noFill/>
          <a:ln w="0">
            <a:noFill/>
          </a:ln>
        </p:spPr>
        <p:txBody>
          <a:bodyPr wrap="square" lIns="0" tIns="0" rIns="0" bIns="0" anchor="t">
            <a:noAutofit/>
          </a:bodyPr>
          <a:lstStyle>
            <a:defPPr algn="l">
              <a:defRPr sz="2025" b="0">
                <a:solidFill>
                  <a:srgbClr val="686560"/>
                </a:solidFill>
                <a:latin typeface="Helvetica Neue"/>
                <a:ea typeface="Helvetica Neue"/>
                <a:cs typeface="Helvetica Neue"/>
              </a:defRPr>
            </a:defPPr>
          </a:lstStyle>
          <a:p>
            <a:pPr algn="l">
              <a:lnSpc>
                <a:spcPct val="113000"/>
              </a:lnSpc>
              <a:buNone/>
              <a:defRPr sz="2025" b="0">
                <a:solidFill>
                  <a:srgbClr val="686560"/>
                </a:solidFill>
                <a:latin typeface="Helvetica Neue"/>
                <a:ea typeface="Helvetica Neue"/>
                <a:cs typeface="Helvetica Neue"/>
              </a:defRPr>
            </a:pPr>
            <a:r>
              <a:rPr sz="2025" b="0">
                <a:solidFill>
                  <a:srgbClr val="686560"/>
                </a:solidFill>
                <a:latin typeface="Helvetica Neue"/>
                <a:ea typeface="Helvetica Neue"/>
                <a:cs typeface="Helvetica Neue"/>
              </a:rPr>
              <a:t>Every agent step can read shared context, contribute experience and preserve work for the next session. Steward review governs what becomes reusable knowledge.</a:t>
            </a:r>
          </a:p>
        </p:txBody>
      </p:sp>
      <p:sp>
        <p:nvSpPr>
          <p:cNvPr id="3" name="shape-98">
            <a:extLst>
              <a:ext uri="{FF2B5EF4-FFF2-40B4-BE49-F238E27FC236}">
                <ns2:creationId id="{11013858-4114-49FA-A1F6-11DADEE19110}"/>
              </a:ext>
            </a:extLst>
          </p:cNvPr>
          <p:cNvSpPr>
            <a:spLocks noGrp="1"/>
          </p:cNvSpPr>
          <p:nvPr/>
        </p:nvSpPr>
        <p:spPr>
          <a:xfrm>
            <a:off x="609600" y="8153400"/>
            <a:ext cx="14020800" cy="0"/>
          </a:xfrm>
          <a:prstGeom prst="line">
            <a:avLst/>
          </a:prstGeom>
          <a:noFill/>
          <a:ln w="9525">
            <a:solidFill>
              <a:srgbClr val="D6D2CB"/>
            </a:solidFill>
          </a:ln>
        </p:spPr>
      </p:sp>
      <p:sp>
        <p:nvSpPr>
          <p:cNvPr id="4" name="text-99">
            <a:extLst>
              <a:ext uri="{FF2B5EF4-FFF2-40B4-BE49-F238E27FC236}">
                <ns2:creationId id="{D70F7700-3167-4CC4-B5AF-DAE77E158D35}"/>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686560"/>
                </a:solidFill>
                <a:latin typeface="Helvetica Neue"/>
                <a:ea typeface="Helvetica Neue"/>
                <a:cs typeface="Helvetica Neue"/>
              </a:defRPr>
            </a:defPPr>
          </a:lstStyle>
          <a:p>
            <a:pPr algn="r">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04</a:t>
            </a:r>
          </a:p>
        </p:txBody>
      </p:sp>
      <p:sp>
        <p:nvSpPr>
          <p:cNvPr id="5" name="shape-100">
            <a:extLst>
              <a:ext uri="{FF2B5EF4-FFF2-40B4-BE49-F238E27FC236}">
                <ns2:creationId id="{5CE51358-3498-4E4A-872A-A56CBD128DDD}"/>
              </a:ext>
            </a:extLst>
          </p:cNvPr>
          <p:cNvSpPr>
            <a:spLocks noGrp="1"/>
          </p:cNvSpPr>
          <p:nvPr/>
        </p:nvSpPr>
        <p:spPr>
          <a:xfrm>
            <a:off x="609600" y="2657475"/>
            <a:ext cx="419100" cy="419100"/>
          </a:xfrm>
          <a:prstGeom prst="ellipse">
            <a:avLst/>
          </a:prstGeom>
          <a:solidFill>
            <a:srgbClr val="C9433C"/>
          </a:solidFill>
          <a:ln w="0">
            <a:noFill/>
          </a:ln>
        </p:spPr>
      </p:sp>
      <p:sp>
        <p:nvSpPr>
          <p:cNvPr id="6" name="text-101">
            <a:extLst>
              <a:ext uri="{FF2B5EF4-FFF2-40B4-BE49-F238E27FC236}">
                <ns2:creationId id="{A99645D5-B736-4F2F-BEFB-DFDB33DD520A}"/>
              </a:ext>
            </a:extLst>
          </p:cNvPr>
          <p:cNvSpPr>
            <a:spLocks noGrp="1"/>
          </p:cNvSpPr>
          <p:nvPr/>
        </p:nvSpPr>
        <p:spPr>
          <a:xfrm>
            <a:off x="619125" y="2724150"/>
            <a:ext cx="400050" cy="285750"/>
          </a:xfrm>
          <a:prstGeom prst="rect">
            <a:avLst/>
          </a:prstGeom>
          <a:noFill/>
          <a:ln w="0">
            <a:noFill/>
          </a:ln>
        </p:spPr>
        <p:txBody>
          <a:bodyPr wrap="square" lIns="0" tIns="0" rIns="0" bIns="0" anchor="t">
            <a:noAutofit/>
          </a:bodyPr>
          <a:lstStyle>
            <a:defPPr algn="ctr">
              <a:defRPr sz="1725" b="0">
                <a:solidFill>
                  <a:srgbClr val="FFFFFF"/>
                </a:solidFill>
                <a:latin typeface="Helvetica Neue"/>
                <a:ea typeface="Helvetica Neue"/>
                <a:cs typeface="Helvetica Neue"/>
              </a:defRPr>
            </a:defPPr>
          </a:lstStyle>
          <a:p>
            <a:pPr algn="ctr">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1</a:t>
            </a:r>
          </a:p>
        </p:txBody>
      </p:sp>
      <p:sp>
        <p:nvSpPr>
          <p:cNvPr id="7" name="shape-102">
            <a:extLst>
              <a:ext uri="{FF2B5EF4-FFF2-40B4-BE49-F238E27FC236}">
                <ns2:creationId id="{CC87CB08-5120-4AE9-A4D5-54679AA657B8}"/>
              </a:ext>
            </a:extLst>
          </p:cNvPr>
          <p:cNvSpPr>
            <a:spLocks noGrp="1"/>
          </p:cNvSpPr>
          <p:nvPr/>
        </p:nvSpPr>
        <p:spPr>
          <a:xfrm>
            <a:off x="819150" y="3105150"/>
            <a:ext cx="0" cy="800100"/>
          </a:xfrm>
          <a:prstGeom prst="line">
            <a:avLst/>
          </a:prstGeom>
          <a:noFill/>
          <a:ln w="11430">
            <a:solidFill>
              <a:srgbClr val="D6D2CB"/>
            </a:solidFill>
          </a:ln>
        </p:spPr>
      </p:sp>
      <p:sp>
        <p:nvSpPr>
          <p:cNvPr id="8" name="text-103">
            <a:extLst>
              <a:ext uri="{FF2B5EF4-FFF2-40B4-BE49-F238E27FC236}">
                <ns2:creationId id="{7CDFD5EC-EEF9-4026-A2E4-DD9425DEFDD1}"/>
              </a:ext>
            </a:extLst>
          </p:cNvPr>
          <p:cNvSpPr>
            <a:spLocks noGrp="1"/>
          </p:cNvSpPr>
          <p:nvPr/>
        </p:nvSpPr>
        <p:spPr>
          <a:xfrm>
            <a:off x="1276350" y="2638425"/>
            <a:ext cx="7839075" cy="400050"/>
          </a:xfrm>
          <a:prstGeom prst="rect">
            <a:avLst/>
          </a:prstGeom>
          <a:noFill/>
          <a:ln w="0">
            <a:noFill/>
          </a:ln>
        </p:spPr>
        <p:txBody>
          <a:bodyPr wrap="square" lIns="0" tIns="0" rIns="0" bIns="0" anchor="t">
            <a:noAutofit/>
          </a:bodyPr>
          <a:lstStyle>
            <a:defPPr algn="l">
              <a:defRPr sz="2325" b="0">
                <a:solidFill>
                  <a:srgbClr val="C9433C"/>
                </a:solidFill>
                <a:latin typeface="Helvetica Neue"/>
                <a:ea typeface="Helvetica Neue"/>
                <a:cs typeface="Helvetica Neue"/>
              </a:defRPr>
            </a:defPPr>
          </a:lstStyle>
          <a:p>
            <a:pPr algn="l">
              <a:lnSpc>
                <a:spcPct val="113000"/>
              </a:lnSpc>
              <a:buNone/>
              <a:defRPr sz="2325" b="0">
                <a:solidFill>
                  <a:srgbClr val="C9433C"/>
                </a:solidFill>
                <a:latin typeface="Helvetica Neue"/>
                <a:ea typeface="Helvetica Neue"/>
                <a:cs typeface="Helvetica Neue"/>
              </a:defRPr>
            </a:pPr>
            <a:r>
              <a:rPr sz="2325" b="0">
                <a:solidFill>
                  <a:srgbClr val="C9433C"/>
                </a:solidFill>
                <a:latin typeface="Helvetica Neue"/>
                <a:ea typeface="Helvetica Neue"/>
                <a:cs typeface="Helvetica Neue"/>
              </a:rPr>
              <a:t>Import and govern</a:t>
            </a:r>
          </a:p>
        </p:txBody>
      </p:sp>
      <p:sp>
        <p:nvSpPr>
          <p:cNvPr id="9" name="text-104">
            <a:extLst>
              <a:ext uri="{FF2B5EF4-FFF2-40B4-BE49-F238E27FC236}">
                <ns2:creationId id="{FB5A5469-B6A7-4AB3-A5E7-011AE3477DF6}"/>
              </a:ext>
            </a:extLst>
          </p:cNvPr>
          <p:cNvSpPr>
            <a:spLocks noGrp="1"/>
          </p:cNvSpPr>
          <p:nvPr/>
        </p:nvSpPr>
        <p:spPr>
          <a:xfrm>
            <a:off x="1276350" y="3095625"/>
            <a:ext cx="7839075" cy="73342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Capture sources, resolve explicit IDs and review typed links. Keep conflicting accounts attributed.</a:t>
            </a:r>
          </a:p>
        </p:txBody>
      </p:sp>
      <p:sp>
        <p:nvSpPr>
          <p:cNvPr id="10" name="shape-105">
            <a:extLst>
              <a:ext uri="{FF2B5EF4-FFF2-40B4-BE49-F238E27FC236}">
                <ns2:creationId id="{020A0031-EA11-49D6-8F6C-042E112F4403}"/>
              </a:ext>
            </a:extLst>
          </p:cNvPr>
          <p:cNvSpPr>
            <a:spLocks noGrp="1"/>
          </p:cNvSpPr>
          <p:nvPr/>
        </p:nvSpPr>
        <p:spPr>
          <a:xfrm>
            <a:off x="609600" y="3933825"/>
            <a:ext cx="419100" cy="419100"/>
          </a:xfrm>
          <a:prstGeom prst="ellipse">
            <a:avLst/>
          </a:prstGeom>
          <a:solidFill>
            <a:srgbClr val="C9433C"/>
          </a:solidFill>
          <a:ln w="0">
            <a:noFill/>
          </a:ln>
        </p:spPr>
      </p:sp>
      <p:sp>
        <p:nvSpPr>
          <p:cNvPr id="11" name="text-106">
            <a:extLst>
              <a:ext uri="{FF2B5EF4-FFF2-40B4-BE49-F238E27FC236}">
                <ns2:creationId id="{73293BAF-BE28-4DE1-9179-EED2FC92D416}"/>
              </a:ext>
            </a:extLst>
          </p:cNvPr>
          <p:cNvSpPr>
            <a:spLocks noGrp="1"/>
          </p:cNvSpPr>
          <p:nvPr/>
        </p:nvSpPr>
        <p:spPr>
          <a:xfrm>
            <a:off x="619125" y="4000500"/>
            <a:ext cx="400050" cy="285750"/>
          </a:xfrm>
          <a:prstGeom prst="rect">
            <a:avLst/>
          </a:prstGeom>
          <a:noFill/>
          <a:ln w="0">
            <a:noFill/>
          </a:ln>
        </p:spPr>
        <p:txBody>
          <a:bodyPr wrap="square" lIns="0" tIns="0" rIns="0" bIns="0" anchor="t">
            <a:noAutofit/>
          </a:bodyPr>
          <a:lstStyle>
            <a:defPPr algn="ctr">
              <a:defRPr sz="1725" b="0">
                <a:solidFill>
                  <a:srgbClr val="FFFFFF"/>
                </a:solidFill>
                <a:latin typeface="Helvetica Neue"/>
                <a:ea typeface="Helvetica Neue"/>
                <a:cs typeface="Helvetica Neue"/>
              </a:defRPr>
            </a:defPPr>
          </a:lstStyle>
          <a:p>
            <a:pPr algn="ctr">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2</a:t>
            </a:r>
          </a:p>
        </p:txBody>
      </p:sp>
      <p:sp>
        <p:nvSpPr>
          <p:cNvPr id="12" name="shape-107">
            <a:extLst>
              <a:ext uri="{FF2B5EF4-FFF2-40B4-BE49-F238E27FC236}">
                <ns2:creationId id="{89E82E4C-6698-44CA-A7C5-8A05B2C4B5E5}"/>
              </a:ext>
            </a:extLst>
          </p:cNvPr>
          <p:cNvSpPr>
            <a:spLocks noGrp="1"/>
          </p:cNvSpPr>
          <p:nvPr/>
        </p:nvSpPr>
        <p:spPr>
          <a:xfrm>
            <a:off x="819150" y="4381500"/>
            <a:ext cx="0" cy="800100"/>
          </a:xfrm>
          <a:prstGeom prst="line">
            <a:avLst/>
          </a:prstGeom>
          <a:noFill/>
          <a:ln w="11430">
            <a:solidFill>
              <a:srgbClr val="D6D2CB"/>
            </a:solidFill>
          </a:ln>
        </p:spPr>
      </p:sp>
      <p:sp>
        <p:nvSpPr>
          <p:cNvPr id="13" name="text-108">
            <a:extLst>
              <a:ext uri="{FF2B5EF4-FFF2-40B4-BE49-F238E27FC236}">
                <ns2:creationId id="{4B8826A1-D6E4-4CCA-BFFA-BF000B651020}"/>
              </a:ext>
            </a:extLst>
          </p:cNvPr>
          <p:cNvSpPr>
            <a:spLocks noGrp="1"/>
          </p:cNvSpPr>
          <p:nvPr/>
        </p:nvSpPr>
        <p:spPr>
          <a:xfrm>
            <a:off x="1276350" y="3914775"/>
            <a:ext cx="7839075" cy="400050"/>
          </a:xfrm>
          <a:prstGeom prst="rect">
            <a:avLst/>
          </a:prstGeom>
          <a:noFill/>
          <a:ln w="0">
            <a:noFill/>
          </a:ln>
        </p:spPr>
        <p:txBody>
          <a:bodyPr wrap="square" lIns="0" tIns="0" rIns="0" bIns="0" anchor="t">
            <a:noAutofit/>
          </a:bodyPr>
          <a:lstStyle>
            <a:defPPr algn="l">
              <a:defRPr sz="2325" b="0">
                <a:solidFill>
                  <a:srgbClr val="C9433C"/>
                </a:solidFill>
                <a:latin typeface="Helvetica Neue"/>
                <a:ea typeface="Helvetica Neue"/>
                <a:cs typeface="Helvetica Neue"/>
              </a:defRPr>
            </a:defPPr>
          </a:lstStyle>
          <a:p>
            <a:pPr algn="l">
              <a:lnSpc>
                <a:spcPct val="113000"/>
              </a:lnSpc>
              <a:buNone/>
              <a:defRPr sz="2325" b="0">
                <a:solidFill>
                  <a:srgbClr val="C9433C"/>
                </a:solidFill>
                <a:latin typeface="Helvetica Neue"/>
                <a:ea typeface="Helvetica Neue"/>
                <a:cs typeface="Helvetica Neue"/>
              </a:defRPr>
            </a:pPr>
            <a:r>
              <a:rPr sz="2325" b="0">
                <a:solidFill>
                  <a:srgbClr val="C9433C"/>
                </a:solidFill>
                <a:latin typeface="Helvetica Neue"/>
                <a:ea typeface="Helvetica Neue"/>
                <a:cs typeface="Helvetica Neue"/>
              </a:rPr>
              <a:t>Retrieve with evidence</a:t>
            </a:r>
          </a:p>
        </p:txBody>
      </p:sp>
      <p:sp>
        <p:nvSpPr>
          <p:cNvPr id="14" name="text-109">
            <a:extLst>
              <a:ext uri="{FF2B5EF4-FFF2-40B4-BE49-F238E27FC236}">
                <ns2:creationId id="{3791CA39-A73F-4C75-999D-0857C90F414C}"/>
              </a:ext>
            </a:extLst>
          </p:cNvPr>
          <p:cNvSpPr>
            <a:spLocks noGrp="1"/>
          </p:cNvSpPr>
          <p:nvPr/>
        </p:nvSpPr>
        <p:spPr>
          <a:xfrm>
            <a:off x="1276350" y="4371975"/>
            <a:ext cx="7839075" cy="73342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Assemble relevant assertions with their definitions, support and missing information. A receipt pins the selected versions.</a:t>
            </a:r>
          </a:p>
        </p:txBody>
      </p:sp>
      <p:sp>
        <p:nvSpPr>
          <p:cNvPr id="15" name="shape-110">
            <a:extLst>
              <a:ext uri="{FF2B5EF4-FFF2-40B4-BE49-F238E27FC236}">
                <ns2:creationId id="{AA76C465-FC94-4E38-9DDC-7B0036B7AAD0}"/>
              </a:ext>
            </a:extLst>
          </p:cNvPr>
          <p:cNvSpPr>
            <a:spLocks noGrp="1"/>
          </p:cNvSpPr>
          <p:nvPr/>
        </p:nvSpPr>
        <p:spPr>
          <a:xfrm>
            <a:off x="609600" y="5210175"/>
            <a:ext cx="419100" cy="419100"/>
          </a:xfrm>
          <a:prstGeom prst="ellipse">
            <a:avLst/>
          </a:prstGeom>
          <a:solidFill>
            <a:srgbClr val="C9433C"/>
          </a:solidFill>
          <a:ln w="0">
            <a:noFill/>
          </a:ln>
        </p:spPr>
      </p:sp>
      <p:sp>
        <p:nvSpPr>
          <p:cNvPr id="16" name="text-111">
            <a:extLst>
              <a:ext uri="{FF2B5EF4-FFF2-40B4-BE49-F238E27FC236}">
                <ns2:creationId id="{150543FF-CD52-4A36-BEA2-C313581657BC}"/>
              </a:ext>
            </a:extLst>
          </p:cNvPr>
          <p:cNvSpPr>
            <a:spLocks noGrp="1"/>
          </p:cNvSpPr>
          <p:nvPr/>
        </p:nvSpPr>
        <p:spPr>
          <a:xfrm>
            <a:off x="619125" y="5276850"/>
            <a:ext cx="400050" cy="285750"/>
          </a:xfrm>
          <a:prstGeom prst="rect">
            <a:avLst/>
          </a:prstGeom>
          <a:noFill/>
          <a:ln w="0">
            <a:noFill/>
          </a:ln>
        </p:spPr>
        <p:txBody>
          <a:bodyPr wrap="square" lIns="0" tIns="0" rIns="0" bIns="0" anchor="t">
            <a:noAutofit/>
          </a:bodyPr>
          <a:lstStyle>
            <a:defPPr algn="ctr">
              <a:defRPr sz="1725" b="0">
                <a:solidFill>
                  <a:srgbClr val="FFFFFF"/>
                </a:solidFill>
                <a:latin typeface="Helvetica Neue"/>
                <a:ea typeface="Helvetica Neue"/>
                <a:cs typeface="Helvetica Neue"/>
              </a:defRPr>
            </a:defPPr>
          </a:lstStyle>
          <a:p>
            <a:pPr algn="ctr">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3</a:t>
            </a:r>
          </a:p>
        </p:txBody>
      </p:sp>
      <p:sp>
        <p:nvSpPr>
          <p:cNvPr id="17" name="shape-112">
            <a:extLst>
              <a:ext uri="{FF2B5EF4-FFF2-40B4-BE49-F238E27FC236}">
                <ns2:creationId id="{51EF240F-512E-46EA-9E8A-38833E0C2271}"/>
              </a:ext>
            </a:extLst>
          </p:cNvPr>
          <p:cNvSpPr>
            <a:spLocks noGrp="1"/>
          </p:cNvSpPr>
          <p:nvPr/>
        </p:nvSpPr>
        <p:spPr>
          <a:xfrm>
            <a:off x="819150" y="5657850"/>
            <a:ext cx="0" cy="800100"/>
          </a:xfrm>
          <a:prstGeom prst="line">
            <a:avLst/>
          </a:prstGeom>
          <a:noFill/>
          <a:ln w="11430">
            <a:solidFill>
              <a:srgbClr val="D6D2CB"/>
            </a:solidFill>
          </a:ln>
        </p:spPr>
      </p:sp>
      <p:sp>
        <p:nvSpPr>
          <p:cNvPr id="18" name="text-113">
            <a:extLst>
              <a:ext uri="{FF2B5EF4-FFF2-40B4-BE49-F238E27FC236}">
                <ns2:creationId id="{50C22A66-F15D-4792-8249-1936AB2C7A0A}"/>
              </a:ext>
            </a:extLst>
          </p:cNvPr>
          <p:cNvSpPr>
            <a:spLocks noGrp="1"/>
          </p:cNvSpPr>
          <p:nvPr/>
        </p:nvSpPr>
        <p:spPr>
          <a:xfrm>
            <a:off x="1276350" y="5191125"/>
            <a:ext cx="7839075" cy="400050"/>
          </a:xfrm>
          <a:prstGeom prst="rect">
            <a:avLst/>
          </a:prstGeom>
          <a:noFill/>
          <a:ln w="0">
            <a:noFill/>
          </a:ln>
        </p:spPr>
        <p:txBody>
          <a:bodyPr wrap="square" lIns="0" tIns="0" rIns="0" bIns="0" anchor="t">
            <a:noAutofit/>
          </a:bodyPr>
          <a:lstStyle>
            <a:defPPr algn="l">
              <a:defRPr sz="2325" b="0">
                <a:solidFill>
                  <a:srgbClr val="C9433C"/>
                </a:solidFill>
                <a:latin typeface="Helvetica Neue"/>
                <a:ea typeface="Helvetica Neue"/>
                <a:cs typeface="Helvetica Neue"/>
              </a:defRPr>
            </a:defPPr>
          </a:lstStyle>
          <a:p>
            <a:pPr algn="l">
              <a:lnSpc>
                <a:spcPct val="113000"/>
              </a:lnSpc>
              <a:buNone/>
              <a:defRPr sz="2325" b="0">
                <a:solidFill>
                  <a:srgbClr val="C9433C"/>
                </a:solidFill>
                <a:latin typeface="Helvetica Neue"/>
                <a:ea typeface="Helvetica Neue"/>
                <a:cs typeface="Helvetica Neue"/>
              </a:defRPr>
            </a:pPr>
            <a:r>
              <a:rPr sz="2325" b="0">
                <a:solidFill>
                  <a:srgbClr val="C9433C"/>
                </a:solidFill>
                <a:latin typeface="Helvetica Neue"/>
                <a:ea typeface="Helvetica Neue"/>
                <a:cs typeface="Helvetica Neue"/>
              </a:rPr>
              <a:t>Execute and remember</a:t>
            </a:r>
          </a:p>
        </p:txBody>
      </p:sp>
      <p:sp>
        <p:nvSpPr>
          <p:cNvPr id="19" name="text-114">
            <a:extLst>
              <a:ext uri="{FF2B5EF4-FFF2-40B4-BE49-F238E27FC236}">
                <ns2:creationId id="{55AAD09F-11BF-4E18-942B-B37AB1F45586}"/>
              </a:ext>
            </a:extLst>
          </p:cNvPr>
          <p:cNvSpPr>
            <a:spLocks noGrp="1"/>
          </p:cNvSpPr>
          <p:nvPr/>
        </p:nvSpPr>
        <p:spPr>
          <a:xfrm>
            <a:off x="1276350" y="5648325"/>
            <a:ext cx="7839075" cy="73342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Run a registered computation against authorized inputs. Save its support, session findings and pending work in the same graph.</a:t>
            </a:r>
          </a:p>
        </p:txBody>
      </p:sp>
      <p:sp>
        <p:nvSpPr>
          <p:cNvPr id="20" name="shape-115">
            <a:extLst>
              <a:ext uri="{FF2B5EF4-FFF2-40B4-BE49-F238E27FC236}">
                <ns2:creationId id="{831FC527-573A-417E-965B-630F72BF888D}"/>
              </a:ext>
            </a:extLst>
          </p:cNvPr>
          <p:cNvSpPr>
            <a:spLocks noGrp="1"/>
          </p:cNvSpPr>
          <p:nvPr/>
        </p:nvSpPr>
        <p:spPr>
          <a:xfrm>
            <a:off x="609600" y="6486525"/>
            <a:ext cx="419100" cy="419100"/>
          </a:xfrm>
          <a:prstGeom prst="ellipse">
            <a:avLst/>
          </a:prstGeom>
          <a:solidFill>
            <a:srgbClr val="C9433C"/>
          </a:solidFill>
          <a:ln w="0">
            <a:noFill/>
          </a:ln>
        </p:spPr>
      </p:sp>
      <p:sp>
        <p:nvSpPr>
          <p:cNvPr id="21" name="text-116">
            <a:extLst>
              <a:ext uri="{FF2B5EF4-FFF2-40B4-BE49-F238E27FC236}">
                <ns2:creationId id="{4EF7273B-9C12-430A-B66A-B6134DD4DA04}"/>
              </a:ext>
            </a:extLst>
          </p:cNvPr>
          <p:cNvSpPr>
            <a:spLocks noGrp="1"/>
          </p:cNvSpPr>
          <p:nvPr/>
        </p:nvSpPr>
        <p:spPr>
          <a:xfrm>
            <a:off x="619125" y="6553200"/>
            <a:ext cx="400050" cy="285750"/>
          </a:xfrm>
          <a:prstGeom prst="rect">
            <a:avLst/>
          </a:prstGeom>
          <a:noFill/>
          <a:ln w="0">
            <a:noFill/>
          </a:ln>
        </p:spPr>
        <p:txBody>
          <a:bodyPr wrap="square" lIns="0" tIns="0" rIns="0" bIns="0" anchor="t">
            <a:noAutofit/>
          </a:bodyPr>
          <a:lstStyle>
            <a:defPPr algn="ctr">
              <a:defRPr sz="1725" b="0">
                <a:solidFill>
                  <a:srgbClr val="FFFFFF"/>
                </a:solidFill>
                <a:latin typeface="Helvetica Neue"/>
                <a:ea typeface="Helvetica Neue"/>
                <a:cs typeface="Helvetica Neue"/>
              </a:defRPr>
            </a:defPPr>
          </a:lstStyle>
          <a:p>
            <a:pPr algn="ctr">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4</a:t>
            </a:r>
          </a:p>
        </p:txBody>
      </p:sp>
      <p:sp>
        <p:nvSpPr>
          <p:cNvPr id="22" name="text-117">
            <a:extLst>
              <a:ext uri="{FF2B5EF4-FFF2-40B4-BE49-F238E27FC236}">
                <ns2:creationId id="{763BAA22-C33B-422C-8A13-F9CB18B737AB}"/>
              </a:ext>
            </a:extLst>
          </p:cNvPr>
          <p:cNvSpPr>
            <a:spLocks noGrp="1"/>
          </p:cNvSpPr>
          <p:nvPr/>
        </p:nvSpPr>
        <p:spPr>
          <a:xfrm>
            <a:off x="1276350" y="6467475"/>
            <a:ext cx="7839075" cy="400050"/>
          </a:xfrm>
          <a:prstGeom prst="rect">
            <a:avLst/>
          </a:prstGeom>
          <a:noFill/>
          <a:ln w="0">
            <a:noFill/>
          </a:ln>
        </p:spPr>
        <p:txBody>
          <a:bodyPr wrap="square" lIns="0" tIns="0" rIns="0" bIns="0" anchor="t">
            <a:noAutofit/>
          </a:bodyPr>
          <a:lstStyle>
            <a:defPPr algn="l">
              <a:defRPr sz="2325" b="0">
                <a:solidFill>
                  <a:srgbClr val="C9433C"/>
                </a:solidFill>
                <a:latin typeface="Helvetica Neue"/>
                <a:ea typeface="Helvetica Neue"/>
                <a:cs typeface="Helvetica Neue"/>
              </a:defRPr>
            </a:defPPr>
          </a:lstStyle>
          <a:p>
            <a:pPr algn="l">
              <a:lnSpc>
                <a:spcPct val="113000"/>
              </a:lnSpc>
              <a:buNone/>
              <a:defRPr sz="2325" b="0">
                <a:solidFill>
                  <a:srgbClr val="C9433C"/>
                </a:solidFill>
                <a:latin typeface="Helvetica Neue"/>
                <a:ea typeface="Helvetica Neue"/>
                <a:cs typeface="Helvetica Neue"/>
              </a:defRPr>
            </a:pPr>
            <a:r>
              <a:rPr sz="2325" b="0">
                <a:solidFill>
                  <a:srgbClr val="C9433C"/>
                </a:solidFill>
                <a:latin typeface="Helvetica Neue"/>
                <a:ea typeface="Helvetica Neue"/>
                <a:cs typeface="Helvetica Neue"/>
              </a:rPr>
              <a:t>Correct and hand off</a:t>
            </a:r>
          </a:p>
        </p:txBody>
      </p:sp>
      <p:sp>
        <p:nvSpPr>
          <p:cNvPr id="23" name="text-118">
            <a:extLst>
              <a:ext uri="{FF2B5EF4-FFF2-40B4-BE49-F238E27FC236}">
                <ns2:creationId id="{D8B38FBE-C5A2-4704-9D30-E24067AE1FDD}"/>
              </a:ext>
            </a:extLst>
          </p:cNvPr>
          <p:cNvSpPr>
            <a:spLocks noGrp="1"/>
          </p:cNvSpPr>
          <p:nvPr/>
        </p:nvSpPr>
        <p:spPr>
          <a:xfrm>
            <a:off x="1276350" y="6924675"/>
            <a:ext cx="7839075" cy="733425"/>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Trace changed dependencies, refresh affected context and let another client accept the task with its unresolved questions.</a:t>
            </a:r>
          </a:p>
        </p:txBody>
      </p:sp>
      <p:sp>
        <p:nvSpPr>
          <p:cNvPr id="24" name="shape-119">
            <a:extLst>
              <a:ext uri="{FF2B5EF4-FFF2-40B4-BE49-F238E27FC236}">
                <ns2:creationId id="{4D2BCF0A-8504-4AF6-8185-706B5D9EC469}"/>
              </a:ext>
            </a:extLst>
          </p:cNvPr>
          <p:cNvSpPr>
            <a:spLocks noGrp="1"/>
          </p:cNvSpPr>
          <p:nvPr/>
        </p:nvSpPr>
        <p:spPr>
          <a:xfrm>
            <a:off x="9658350" y="2638425"/>
            <a:ext cx="4972050" cy="5181600"/>
          </a:xfrm>
          <a:prstGeom prst="roundRect">
            <a:avLst>
              <a:gd name="adj" fmla="val 1341"/>
            </a:avLst>
          </a:prstGeom>
          <a:solidFill>
            <a:srgbClr val="252524"/>
          </a:solidFill>
          <a:ln w="0">
            <a:noFill/>
          </a:ln>
        </p:spPr>
      </p:sp>
      <p:sp>
        <p:nvSpPr>
          <p:cNvPr id="25" name="text-120">
            <a:extLst>
              <a:ext uri="{FF2B5EF4-FFF2-40B4-BE49-F238E27FC236}">
                <ns2:creationId id="{068F869A-0B82-4B99-9D62-484C50F876A8}"/>
              </a:ext>
            </a:extLst>
          </p:cNvPr>
          <p:cNvSpPr>
            <a:spLocks noGrp="1"/>
          </p:cNvSpPr>
          <p:nvPr/>
        </p:nvSpPr>
        <p:spPr>
          <a:xfrm>
            <a:off x="9944100" y="2924175"/>
            <a:ext cx="4400550" cy="457200"/>
          </a:xfrm>
          <a:prstGeom prst="rect">
            <a:avLst/>
          </a:prstGeom>
          <a:noFill/>
          <a:ln w="0">
            <a:noFill/>
          </a:ln>
        </p:spPr>
        <p:txBody>
          <a:bodyPr wrap="square" lIns="0" tIns="0" rIns="0" bIns="0" anchor="t">
            <a:noAutofit/>
          </a:bodyPr>
          <a:lstStyle>
            <a:defPPr algn="l">
              <a:defRPr sz="2625" b="0">
                <a:solidFill>
                  <a:srgbClr val="FFFFFF"/>
                </a:solidFill>
                <a:latin typeface="Helvetica Neue"/>
                <a:ea typeface="Helvetica Neue"/>
                <a:cs typeface="Helvetica Neue"/>
              </a:defRPr>
            </a:defPPr>
          </a:lstStyle>
          <a:p>
            <a:pPr algn="l">
              <a:lnSpc>
                <a:spcPct val="113000"/>
              </a:lnSpc>
              <a:buNone/>
              <a:defRPr sz="2625" b="0">
                <a:solidFill>
                  <a:srgbClr val="FFFFFF"/>
                </a:solidFill>
                <a:latin typeface="Helvetica Neue"/>
                <a:ea typeface="Helvetica Neue"/>
                <a:cs typeface="Helvetica Neue"/>
              </a:defRPr>
            </a:pPr>
            <a:r>
              <a:rPr sz="2625" b="0">
                <a:solidFill>
                  <a:srgbClr val="FFFFFF"/>
                </a:solidFill>
                <a:latin typeface="Helvetica Neue"/>
                <a:ea typeface="Helvetica Neue"/>
                <a:cs typeface="Helvetica Neue"/>
              </a:rPr>
              <a:t>The context package</a:t>
            </a:r>
          </a:p>
        </p:txBody>
      </p:sp>
      <p:sp>
        <p:nvSpPr>
          <p:cNvPr id="26" name="text-121">
            <a:extLst>
              <a:ext uri="{FF2B5EF4-FFF2-40B4-BE49-F238E27FC236}">
                <ns2:creationId id="{256F4288-0715-4DEB-ADA9-A32AC37001D3}"/>
              </a:ext>
            </a:extLst>
          </p:cNvPr>
          <p:cNvSpPr>
            <a:spLocks noGrp="1"/>
          </p:cNvSpPr>
          <p:nvPr/>
        </p:nvSpPr>
        <p:spPr>
          <a:xfrm>
            <a:off x="9944100" y="3648075"/>
            <a:ext cx="4400550" cy="2543175"/>
          </a:xfrm>
          <a:prstGeom prst="rect">
            <a:avLst/>
          </a:prstGeom>
          <a:noFill/>
          <a:ln w="0">
            <a:noFill/>
          </a:ln>
        </p:spPr>
        <p:txBody>
          <a:bodyPr wrap="square" lIns="0" tIns="0" rIns="0" bIns="0" anchor="t">
            <a:noAutofit/>
          </a:bodyPr>
          <a:lstStyle>
            <a:defPPr algn="l">
              <a:defRPr sz="2025" b="0">
                <a:solidFill>
                  <a:srgbClr val="FFFFFF"/>
                </a:solidFill>
                <a:latin typeface="Helvetica Neue"/>
                <a:ea typeface="Helvetica Neue"/>
                <a:cs typeface="Helvetica Neue"/>
              </a:defRPr>
            </a:defPPr>
          </a:lstStyle>
          <a:p>
            <a:pPr algn="l">
              <a:lnSpc>
                <a:spcPct val="113000"/>
              </a:lnSpc>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Accepted source statements</a:t>
            </a:r>
          </a:p>
          <a:p>
            <a:pPr algn="l">
              <a:lnSpc>
                <a:spcPct val="113000"/>
              </a:lnSpc>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Unresolved alternatives</a:t>
            </a:r>
          </a:p>
          <a:p>
            <a:pPr algn="l">
              <a:lnSpc>
                <a:spcPct val="113000"/>
              </a:lnSpc>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Definitions and approved procedures</a:t>
            </a:r>
          </a:p>
          <a:p>
            <a:pPr algn="l">
              <a:lnSpc>
                <a:spcPct val="113000"/>
              </a:lnSpc>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Evidence references</a:t>
            </a:r>
          </a:p>
          <a:p>
            <a:pPr algn="l">
              <a:lnSpc>
                <a:spcPct val="113000"/>
              </a:lnSpc>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Prior findings and pending tasks</a:t>
            </a:r>
          </a:p>
          <a:p>
            <a:pPr algn="l">
              <a:lnSpc>
                <a:spcPct val="113000"/>
              </a:lnSpc>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Versions and completeness</a:t>
            </a:r>
          </a:p>
        </p:txBody>
      </p:sp>
      <p:sp>
        <p:nvSpPr>
          <p:cNvPr id="27" name="shape-122">
            <a:extLst>
              <a:ext uri="{FF2B5EF4-FFF2-40B4-BE49-F238E27FC236}">
                <ns2:creationId id="{1587FF35-5A4D-4212-8388-9E243BDAEDBA}"/>
              </a:ext>
            </a:extLst>
          </p:cNvPr>
          <p:cNvSpPr>
            <a:spLocks noGrp="1"/>
          </p:cNvSpPr>
          <p:nvPr/>
        </p:nvSpPr>
        <p:spPr>
          <a:xfrm>
            <a:off x="9944100" y="6486525"/>
            <a:ext cx="4400550" cy="0"/>
          </a:xfrm>
          <a:prstGeom prst="line">
            <a:avLst/>
          </a:prstGeom>
          <a:noFill/>
          <a:ln w="9525">
            <a:solidFill>
              <a:srgbClr val="66625E"/>
            </a:solidFill>
          </a:ln>
        </p:spPr>
      </p:sp>
      <p:sp>
        <p:nvSpPr>
          <p:cNvPr id="28" name="text-123">
            <a:extLst>
              <a:ext uri="{FF2B5EF4-FFF2-40B4-BE49-F238E27FC236}">
                <ns2:creationId id="{57035CEA-7082-4DA3-BCAB-A996B00B2E1C}"/>
              </a:ext>
            </a:extLst>
          </p:cNvPr>
          <p:cNvSpPr>
            <a:spLocks noGrp="1"/>
          </p:cNvSpPr>
          <p:nvPr/>
        </p:nvSpPr>
        <p:spPr>
          <a:xfrm>
            <a:off x="9944100" y="6772275"/>
            <a:ext cx="4400550" cy="914400"/>
          </a:xfrm>
          <a:prstGeom prst="rect">
            <a:avLst/>
          </a:prstGeom>
          <a:noFill/>
          <a:ln w="0">
            <a:noFill/>
          </a:ln>
        </p:spPr>
        <p:txBody>
          <a:bodyPr wrap="square" lIns="0" tIns="0" rIns="0" bIns="0" anchor="t">
            <a:noAutofit/>
          </a:bodyPr>
          <a:lstStyle>
            <a:defPPr algn="l">
              <a:defRPr sz="1950" b="0">
                <a:solidFill>
                  <a:srgbClr val="FFFFFF"/>
                </a:solidFill>
                <a:latin typeface="Helvetica Neue"/>
                <a:ea typeface="Helvetica Neue"/>
                <a:cs typeface="Helvetica Neue"/>
              </a:defRPr>
            </a:defPPr>
          </a:lstStyle>
          <a:p>
            <a:pPr algn="l">
              <a:lnSpc>
                <a:spcPct val="113000"/>
              </a:lnSpc>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Source scope follows the package into memory, results, exports and handoffs.</a:t>
            </a:r>
          </a:p>
        </p:txBody>
      </p:sp>
    </p:spTree>
    <p:extLst>
      <p:ext uri="{BB962C8B-B14F-4D97-AF65-F5344CB8AC3E}">
        <ns3:creationId val="87921588"/>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F2EE"/>
        </a:solidFill>
      </p:bgPr>
    </p:bg>
    <p:spTree>
      <p:nvGrpSpPr>
        <p:cNvPr id="1" name=""/>
        <p:cNvGrpSpPr/>
        <p:nvPr/>
      </p:nvGrpSpPr>
      <p:grpSpPr>
        <a:xfrm/>
      </p:grpSpPr>
      <p:sp>
        <p:nvSpPr>
          <p:cNvPr id="12" name="text-124">
            <a:extLst>
              <a:ext uri="{FF2B5EF4-FFF2-40B4-BE49-F238E27FC236}">
                <ns2:creationId id="{20EAD601-8E17-4D77-9606-690334D19162}"/>
              </a:ext>
            </a:extLst>
          </p:cNvPr>
          <p:cNvSpPr>
            <a:spLocks noGrp="1"/>
          </p:cNvSpPr>
          <p:nvPr/>
        </p:nvSpPr>
        <p:spPr>
          <a:xfrm>
            <a:off x="609600" y="523875"/>
            <a:ext cx="14020800" cy="809625"/>
          </a:xfrm>
          <a:prstGeom prst="rect">
            <a:avLst/>
          </a:prstGeom>
          <a:noFill/>
          <a:ln w="0">
            <a:noFill/>
          </a:ln>
        </p:spPr>
        <p:txBody>
          <a:bodyPr wrap="square" lIns="0" tIns="0" rIns="0" bIns="0" anchor="t">
            <a:noAutofit/>
          </a:bodyPr>
          <a:lstStyle>
            <a:defPPr algn="l">
              <a:defRPr sz="4200" b="0">
                <a:solidFill>
                  <a:srgbClr val="252524"/>
                </a:solidFill>
                <a:latin typeface="Helvetica Neue"/>
                <a:ea typeface="Helvetica Neue"/>
                <a:cs typeface="Helvetica Neue"/>
              </a:defRPr>
            </a:defPPr>
          </a:lstStyle>
          <a:p>
            <a:pPr algn="l">
              <a:lnSpc>
                <a:spcPct val="113000"/>
              </a:lnSpc>
              <a:buNone/>
              <a:defRPr sz="4200" b="0">
                <a:solidFill>
                  <a:srgbClr val="252524"/>
                </a:solidFill>
                <a:latin typeface="Helvetica Neue"/>
                <a:ea typeface="Helvetica Neue"/>
                <a:cs typeface="Helvetica Neue"/>
              </a:defRPr>
            </a:pPr>
            <a:r>
              <a:rPr sz="4200" b="0">
                <a:solidFill>
                  <a:srgbClr val="252524"/>
                </a:solidFill>
                <a:latin typeface="Helvetica Neue"/>
                <a:ea typeface="Helvetica Neue"/>
                <a:cs typeface="Helvetica Neue"/>
              </a:rPr>
              <a:t>One platform, public-impact applications</a:t>
            </a:r>
          </a:p>
        </p:txBody>
      </p:sp>
      <p:sp>
        <p:nvSpPr>
          <p:cNvPr id="2" name="text-125">
            <a:extLst>
              <a:ext uri="{FF2B5EF4-FFF2-40B4-BE49-F238E27FC236}">
                <ns2:creationId id="{85EB7895-CF59-4B4D-A3D0-0ADA0C498B2F}"/>
              </a:ext>
            </a:extLst>
          </p:cNvPr>
          <p:cNvSpPr>
            <a:spLocks noGrp="1"/>
          </p:cNvSpPr>
          <p:nvPr/>
        </p:nvSpPr>
        <p:spPr>
          <a:xfrm>
            <a:off x="628650" y="1476375"/>
            <a:ext cx="13963650" cy="914400"/>
          </a:xfrm>
          <a:prstGeom prst="rect">
            <a:avLst/>
          </a:prstGeom>
          <a:noFill/>
          <a:ln w="0">
            <a:noFill/>
          </a:ln>
        </p:spPr>
        <p:txBody>
          <a:bodyPr wrap="square" lIns="0" tIns="0" rIns="0" bIns="0" anchor="t">
            <a:noAutofit/>
          </a:bodyPr>
          <a:lstStyle>
            <a:defPPr algn="l">
              <a:defRPr sz="2025" b="0">
                <a:solidFill>
                  <a:srgbClr val="686560"/>
                </a:solidFill>
                <a:latin typeface="Helvetica Neue"/>
                <a:ea typeface="Helvetica Neue"/>
                <a:cs typeface="Helvetica Neue"/>
              </a:defRPr>
            </a:defPPr>
          </a:lstStyle>
          <a:p>
            <a:pPr algn="l">
              <a:lnSpc>
                <a:spcPct val="113000"/>
              </a:lnSpc>
              <a:buNone/>
              <a:defRPr sz="2025" b="0">
                <a:solidFill>
                  <a:srgbClr val="686560"/>
                </a:solidFill>
                <a:latin typeface="Helvetica Neue"/>
                <a:ea typeface="Helvetica Neue"/>
                <a:cs typeface="Helvetica Neue"/>
              </a:defRPr>
            </a:pPr>
            <a:r>
              <a:rPr sz="2025" b="0">
                <a:solidFill>
                  <a:srgbClr val="686560"/>
                </a:solidFill>
                <a:latin typeface="Helvetica Neue"/>
                <a:ea typeface="Helvetica Neue"/>
                <a:cs typeface="Helvetica Neue"/>
              </a:rPr>
              <a:t>Domain packs combine curated ontology modules, mappings, source metadata and approved procedures. The same governance, retrieval, memory and handoff services support each experience.</a:t>
            </a:r>
          </a:p>
        </p:txBody>
      </p:sp>
      <p:sp>
        <p:nvSpPr>
          <p:cNvPr id="3" name="shape-126">
            <a:extLst>
              <a:ext uri="{FF2B5EF4-FFF2-40B4-BE49-F238E27FC236}">
                <ns2:creationId id="{90689636-4FDB-4A1A-AA03-A1C7B6F7D29A}"/>
              </a:ext>
            </a:extLst>
          </p:cNvPr>
          <p:cNvSpPr>
            <a:spLocks noGrp="1"/>
          </p:cNvSpPr>
          <p:nvPr/>
        </p:nvSpPr>
        <p:spPr>
          <a:xfrm>
            <a:off x="609600" y="8153400"/>
            <a:ext cx="14020800" cy="0"/>
          </a:xfrm>
          <a:prstGeom prst="line">
            <a:avLst/>
          </a:prstGeom>
          <a:noFill/>
          <a:ln w="9525">
            <a:solidFill>
              <a:srgbClr val="D6D2CB"/>
            </a:solidFill>
          </a:ln>
        </p:spPr>
      </p:sp>
      <p:sp>
        <p:nvSpPr>
          <p:cNvPr id="4" name="text-127">
            <a:extLst>
              <a:ext uri="{FF2B5EF4-FFF2-40B4-BE49-F238E27FC236}">
                <ns2:creationId id="{EA4B4396-923C-4847-8F2C-9872FA85D81E}"/>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686560"/>
                </a:solidFill>
                <a:latin typeface="Helvetica Neue"/>
                <a:ea typeface="Helvetica Neue"/>
                <a:cs typeface="Helvetica Neue"/>
              </a:defRPr>
            </a:defPPr>
          </a:lstStyle>
          <a:p>
            <a:pPr algn="r">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05</a:t>
            </a:r>
          </a:p>
        </p:txBody>
      </p:sp>
      <p:sp>
        <p:nvSpPr>
          <p:cNvPr id="5" name="shape-128">
            <a:extLst>
              <a:ext uri="{FF2B5EF4-FFF2-40B4-BE49-F238E27FC236}">
                <ns2:creationId id="{9CA76912-DCA8-41B2-8ED9-BA59132A185E}"/>
              </a:ext>
            </a:extLst>
          </p:cNvPr>
          <p:cNvSpPr>
            <a:spLocks noGrp="1"/>
          </p:cNvSpPr>
          <p:nvPr/>
        </p:nvSpPr>
        <p:spPr>
          <a:xfrm>
            <a:off x="609600" y="2638425"/>
            <a:ext cx="7010400" cy="4533900"/>
          </a:xfrm>
          <a:prstGeom prst="roundRect">
            <a:avLst>
              <a:gd name="adj" fmla="val 1471"/>
            </a:avLst>
          </a:prstGeom>
          <a:solidFill>
            <a:srgbClr val="FFFFFF"/>
          </a:solidFill>
          <a:ln w="0">
            <a:noFill/>
          </a:ln>
        </p:spPr>
      </p:sp>
      <p:sp>
        <p:nvSpPr>
          <p:cNvPr id="6" name="text-129">
            <a:extLst>
              <a:ext uri="{FF2B5EF4-FFF2-40B4-BE49-F238E27FC236}">
                <ns2:creationId id="{76CD3224-BD58-4B22-9BD5-3033A0196AD4}"/>
              </a:ext>
            </a:extLst>
          </p:cNvPr>
          <p:cNvSpPr>
            <a:spLocks noGrp="1"/>
          </p:cNvSpPr>
          <p:nvPr/>
        </p:nvSpPr>
        <p:spPr>
          <a:xfrm>
            <a:off x="876300" y="2876550"/>
            <a:ext cx="647700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Software used in public services</a:t>
            </a:r>
          </a:p>
        </p:txBody>
      </p:sp>
      <p:sp>
        <p:nvSpPr>
          <p:cNvPr id="7" name="text-130">
            <a:extLst>
              <a:ext uri="{FF2B5EF4-FFF2-40B4-BE49-F238E27FC236}">
                <ns2:creationId id="{FB9C746D-832C-4CDF-8317-1F5415428360}"/>
              </a:ext>
            </a:extLst>
          </p:cNvPr>
          <p:cNvSpPr>
            <a:spLocks noGrp="1"/>
          </p:cNvSpPr>
          <p:nvPr/>
        </p:nvSpPr>
        <p:spPr>
          <a:xfrm>
            <a:off x="876300" y="3505200"/>
            <a:ext cx="6477000" cy="3448050"/>
          </a:xfrm>
          <a:prstGeom prst="rect">
            <a:avLst/>
          </a:prstGeom>
          <a:noFill/>
          <a:ln w="0">
            <a:noFill/>
          </a:ln>
        </p:spPr>
        <p:txBody>
          <a:bodyPr wrap="square" lIns="0" tIns="0" rIns="0" bIns="0" anchor="t">
            <a:noAutofit/>
          </a:bodyPr>
          <a:lstStyle>
            <a:defPPr algn="l">
              <a:defRPr sz="2100" b="0">
                <a:solidFill>
                  <a:srgbClr val="252524"/>
                </a:solidFill>
                <a:latin typeface="Helvetica Neue"/>
                <a:ea typeface="Helvetica Neue"/>
                <a:cs typeface="Helvetica Neue"/>
              </a:defRPr>
            </a:defPPr>
          </a:lstStyle>
          <a:p>
            <a:pPr algn="l">
              <a:lnSpc>
                <a:spcPct val="113000"/>
              </a:lnSpc>
              <a:buNone/>
              <a:defRPr sz="2100" b="0">
                <a:solidFill>
                  <a:srgbClr val="252524"/>
                </a:solidFill>
                <a:latin typeface="Helvetica Neue"/>
                <a:ea typeface="Helvetica Neue"/>
                <a:cs typeface="Helvetica Neue"/>
              </a:defRPr>
            </a:pPr>
            <a:r>
              <a:rPr sz="2100" b="0">
                <a:solidFill>
                  <a:srgbClr val="252524"/>
                </a:solidFill>
                <a:latin typeface="Helvetica Neue"/>
                <a:ea typeface="Helvetica Neue"/>
                <a:cs typeface="Helvetica Neue"/>
              </a:rPr>
              <a:t>A maintainer connects package inventories, advisory evidence and deployment assumptions to one assessment. Another agent resumes the review with its open questions.</a:t>
            </a:r>
          </a:p>
          <a:p>
            <a:r>
              <a:t/>
            </a:r>
          </a:p>
          <a:p>
            <a:pPr algn="l">
              <a:lnSpc>
                <a:spcPct val="113000"/>
              </a:lnSpc>
              <a:buNone/>
              <a:defRPr sz="2100" b="0">
                <a:solidFill>
                  <a:srgbClr val="252524"/>
                </a:solidFill>
                <a:latin typeface="Helvetica Neue"/>
                <a:ea typeface="Helvetica Neue"/>
                <a:cs typeface="Helvetica Neue"/>
              </a:defRPr>
            </a:pPr>
            <a:r>
              <a:rPr sz="2100" b="0">
                <a:solidFill>
                  <a:srgbClr val="252524"/>
                </a:solidFill>
                <a:latin typeface="Helvetica Neue"/>
                <a:ea typeface="Helvetica Neue"/>
                <a:cs typeface="Helvetica Neue"/>
              </a:rPr>
              <a:t>A configuration correction reveals which conclusions need fresh support. The proposed benefit is less repeated investigation and clearer evidence behind security decisions.</a:t>
            </a:r>
          </a:p>
        </p:txBody>
      </p:sp>
      <p:sp>
        <p:nvSpPr>
          <p:cNvPr id="8" name="shape-131">
            <a:extLst>
              <a:ext uri="{FF2B5EF4-FFF2-40B4-BE49-F238E27FC236}">
                <ns2:creationId id="{60CD7664-DF97-42CD-8DA3-43D2A9EC8F11}"/>
              </a:ext>
            </a:extLst>
          </p:cNvPr>
          <p:cNvSpPr>
            <a:spLocks noGrp="1"/>
          </p:cNvSpPr>
          <p:nvPr/>
        </p:nvSpPr>
        <p:spPr>
          <a:xfrm>
            <a:off x="7848600" y="2638425"/>
            <a:ext cx="6781800" cy="4533900"/>
          </a:xfrm>
          <a:prstGeom prst="roundRect">
            <a:avLst>
              <a:gd name="adj" fmla="val 1471"/>
            </a:avLst>
          </a:prstGeom>
          <a:solidFill>
            <a:srgbClr val="EEE0DB"/>
          </a:solidFill>
          <a:ln w="0">
            <a:noFill/>
          </a:ln>
        </p:spPr>
      </p:sp>
      <p:sp>
        <p:nvSpPr>
          <p:cNvPr id="9" name="text-132">
            <a:extLst>
              <a:ext uri="{FF2B5EF4-FFF2-40B4-BE49-F238E27FC236}">
                <ns2:creationId id="{D9C8656D-277B-4D63-984B-6CA587E8625D}"/>
              </a:ext>
            </a:extLst>
          </p:cNvPr>
          <p:cNvSpPr>
            <a:spLocks noGrp="1"/>
          </p:cNvSpPr>
          <p:nvPr/>
        </p:nvSpPr>
        <p:spPr>
          <a:xfrm>
            <a:off x="8115300" y="2876550"/>
            <a:ext cx="624840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Consumer financial disputes</a:t>
            </a:r>
          </a:p>
        </p:txBody>
      </p:sp>
      <p:sp>
        <p:nvSpPr>
          <p:cNvPr id="10" name="text-133">
            <a:extLst>
              <a:ext uri="{FF2B5EF4-FFF2-40B4-BE49-F238E27FC236}">
                <ns2:creationId id="{D5C156AF-4D24-4DD3-8282-472A155884EE}"/>
              </a:ext>
            </a:extLst>
          </p:cNvPr>
          <p:cNvSpPr>
            <a:spLocks noGrp="1"/>
          </p:cNvSpPr>
          <p:nvPr/>
        </p:nvSpPr>
        <p:spPr>
          <a:xfrm>
            <a:off x="8115300" y="3505200"/>
            <a:ext cx="6248400" cy="3448050"/>
          </a:xfrm>
          <a:prstGeom prst="rect">
            <a:avLst/>
          </a:prstGeom>
          <a:noFill/>
          <a:ln w="0">
            <a:noFill/>
          </a:ln>
        </p:spPr>
        <p:txBody>
          <a:bodyPr wrap="square" lIns="0" tIns="0" rIns="0" bIns="0" anchor="t">
            <a:noAutofit/>
          </a:bodyPr>
          <a:lstStyle>
            <a:defPPr algn="l">
              <a:defRPr sz="2100" b="0">
                <a:solidFill>
                  <a:srgbClr val="252524"/>
                </a:solidFill>
                <a:latin typeface="Helvetica Neue"/>
                <a:ea typeface="Helvetica Neue"/>
                <a:cs typeface="Helvetica Neue"/>
              </a:defRPr>
            </a:defPPr>
          </a:lstStyle>
          <a:p>
            <a:pPr algn="l">
              <a:lnSpc>
                <a:spcPct val="113000"/>
              </a:lnSpc>
              <a:buNone/>
              <a:defRPr sz="2100" b="0">
                <a:solidFill>
                  <a:srgbClr val="252524"/>
                </a:solidFill>
                <a:latin typeface="Helvetica Neue"/>
                <a:ea typeface="Helvetica Neue"/>
                <a:cs typeface="Helvetica Neue"/>
              </a:defRPr>
            </a:pPr>
            <a:r>
              <a:rPr sz="2100" b="0">
                <a:solidFill>
                  <a:srgbClr val="252524"/>
                </a:solidFill>
                <a:latin typeface="Helvetica Neue"/>
                <a:ea typeface="Helvetica Neue"/>
                <a:cs typeface="Helvetica Neue"/>
              </a:rPr>
              <a:t>A case assistant connects transactions and correspondence into a sourced timeline. If the accounts disagree, both remain visible with the evidence needed to resolve them.</a:t>
            </a:r>
          </a:p>
          <a:p>
            <a:r>
              <a:t/>
            </a:r>
          </a:p>
          <a:p>
            <a:pPr algn="l">
              <a:lnSpc>
                <a:spcPct val="113000"/>
              </a:lnSpc>
              <a:buNone/>
              <a:defRPr sz="2100" b="0">
                <a:solidFill>
                  <a:srgbClr val="252524"/>
                </a:solidFill>
                <a:latin typeface="Helvetica Neue"/>
                <a:ea typeface="Helvetica Neue"/>
                <a:cs typeface="Helvetica Neue"/>
              </a:defRPr>
            </a:pPr>
            <a:r>
              <a:rPr sz="2100" b="0">
                <a:solidFill>
                  <a:srgbClr val="252524"/>
                </a:solidFill>
                <a:latin typeface="Helvetica Neue"/>
                <a:ea typeface="Helvetica Neue"/>
                <a:cs typeface="Helvetica Neue"/>
              </a:rPr>
              <a:t>A scoped handoff lets a consumer or support team continue with another helper. The proposed benefit is fewer repeated explanations and a more coherent case history.</a:t>
            </a:r>
          </a:p>
        </p:txBody>
      </p:sp>
      <p:sp>
        <p:nvSpPr>
          <p:cNvPr id="11" name="text-134">
            <a:extLst>
              <a:ext uri="{FF2B5EF4-FFF2-40B4-BE49-F238E27FC236}">
                <ns2:creationId id="{6088A59A-978B-41EA-BDFB-B7D1FEF3EDFC}"/>
              </a:ext>
            </a:extLst>
          </p:cNvPr>
          <p:cNvSpPr>
            <a:spLocks noGrp="1"/>
          </p:cNvSpPr>
          <p:nvPr/>
        </p:nvSpPr>
        <p:spPr>
          <a:xfrm>
            <a:off x="609600" y="7439025"/>
            <a:ext cx="14020800" cy="609600"/>
          </a:xfrm>
          <a:prstGeom prst="rect">
            <a:avLst/>
          </a:prstGeom>
          <a:noFill/>
          <a:ln w="0">
            <a:noFill/>
          </a:ln>
        </p:spPr>
        <p:txBody>
          <a:bodyPr wrap="square" lIns="0" tIns="0" rIns="0" bIns="0" anchor="t">
            <a:noAutofit/>
          </a:bodyPr>
          <a:lstStyle>
            <a:defPPr algn="l">
              <a:defRPr sz="1950" b="0">
                <a:solidFill>
                  <a:srgbClr val="686560"/>
                </a:solidFill>
                <a:latin typeface="Helvetica Neue"/>
                <a:ea typeface="Helvetica Neue"/>
                <a:cs typeface="Helvetica Neue"/>
              </a:defRPr>
            </a:defPPr>
          </a:lstStyle>
          <a:p>
            <a:pPr algn="l">
              <a:lnSpc>
                <a:spcPct val="113000"/>
              </a:lnSpc>
              <a:buNone/>
              <a:defRPr sz="1950" b="0">
                <a:solidFill>
                  <a:srgbClr val="686560"/>
                </a:solidFill>
                <a:latin typeface="Helvetica Neue"/>
                <a:ea typeface="Helvetica Neue"/>
                <a:cs typeface="Helvetica Neue"/>
              </a:defRPr>
            </a:pPr>
            <a:r>
              <a:rPr sz="1950" b="0">
                <a:solidFill>
                  <a:srgbClr val="686560"/>
                </a:solidFill>
                <a:latin typeface="Helvetica Neue"/>
                <a:ea typeface="Helvetica Neue"/>
                <a:cs typeface="Helvetica Neue"/>
              </a:rPr>
              <a:t>Further application: heat-service coordination can connect a service registry to seasonal notices through the same temporal and provenance model.</a:t>
            </a:r>
          </a:p>
        </p:txBody>
      </p:sp>
    </p:spTree>
    <p:extLst>
      <p:ext uri="{BB962C8B-B14F-4D97-AF65-F5344CB8AC3E}">
        <ns3:creationId val="1169782795"/>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C9433C"/>
        </a:solidFill>
      </p:bgPr>
    </p:bg>
    <p:spTree>
      <p:nvGrpSpPr>
        <p:cNvPr id="1" name=""/>
        <p:cNvGrpSpPr/>
        <p:nvPr/>
      </p:nvGrpSpPr>
      <p:grpSpPr>
        <a:xfrm/>
      </p:grpSpPr>
      <p:sp>
        <p:nvSpPr>
          <p:cNvPr id="17" name="text-135">
            <a:extLst>
              <a:ext uri="{FF2B5EF4-FFF2-40B4-BE49-F238E27FC236}">
                <ns2:creationId id="{D2EB64DC-2B7A-40E3-80ED-3F38B5288631}"/>
              </a:ext>
            </a:extLst>
          </p:cNvPr>
          <p:cNvSpPr>
            <a:spLocks noGrp="1"/>
          </p:cNvSpPr>
          <p:nvPr/>
        </p:nvSpPr>
        <p:spPr>
          <a:xfrm>
            <a:off x="609600" y="523875"/>
            <a:ext cx="14020800" cy="809625"/>
          </a:xfrm>
          <a:prstGeom prst="rect">
            <a:avLst/>
          </a:prstGeom>
          <a:noFill/>
          <a:ln w="0">
            <a:noFill/>
          </a:ln>
        </p:spPr>
        <p:txBody>
          <a:bodyPr wrap="square" lIns="0" tIns="0" rIns="0" bIns="0" anchor="t">
            <a:noAutofit/>
          </a:bodyPr>
          <a:lstStyle>
            <a:defPPr algn="l">
              <a:defRPr sz="4200" b="0">
                <a:solidFill>
                  <a:srgbClr val="FFFFFF"/>
                </a:solidFill>
                <a:latin typeface="Helvetica Neue"/>
                <a:ea typeface="Helvetica Neue"/>
                <a:cs typeface="Helvetica Neue"/>
              </a:defRPr>
            </a:defPPr>
          </a:lstStyle>
          <a:p>
            <a:pPr algn="l">
              <a:lnSpc>
                <a:spcPct val="113000"/>
              </a:lnSpc>
              <a:buNone/>
              <a:defRPr sz="4200" b="0">
                <a:solidFill>
                  <a:srgbClr val="FFFFFF"/>
                </a:solidFill>
                <a:latin typeface="Helvetica Neue"/>
                <a:ea typeface="Helvetica Neue"/>
                <a:cs typeface="Helvetica Neue"/>
              </a:defRPr>
            </a:pPr>
            <a:r>
              <a:rPr sz="4200" b="0">
                <a:solidFill>
                  <a:srgbClr val="FFFFFF"/>
                </a:solidFill>
                <a:latin typeface="Helvetica Neue"/>
                <a:ea typeface="Helvetica Neue"/>
                <a:cs typeface="Helvetica Neue"/>
              </a:rPr>
              <a:t>Business proposal and next decision</a:t>
            </a:r>
          </a:p>
        </p:txBody>
      </p:sp>
      <p:sp>
        <p:nvSpPr>
          <p:cNvPr id="2" name="text-136">
            <a:extLst>
              <a:ext uri="{FF2B5EF4-FFF2-40B4-BE49-F238E27FC236}">
                <ns2:creationId id="{B0C4205C-4FC8-4FA4-A414-FD83B3E8D818}"/>
              </a:ext>
            </a:extLst>
          </p:cNvPr>
          <p:cNvSpPr>
            <a:spLocks noGrp="1"/>
          </p:cNvSpPr>
          <p:nvPr/>
        </p:nvSpPr>
        <p:spPr>
          <a:xfrm>
            <a:off x="628650" y="1476375"/>
            <a:ext cx="13963650" cy="914400"/>
          </a:xfrm>
          <a:prstGeom prst="rect">
            <a:avLst/>
          </a:prstGeom>
          <a:noFill/>
          <a:ln w="0">
            <a:noFill/>
          </a:ln>
        </p:spPr>
        <p:txBody>
          <a:bodyPr wrap="square" lIns="0" tIns="0" rIns="0" bIns="0" anchor="t">
            <a:noAutofit/>
          </a:bodyPr>
          <a:lstStyle>
            <a:defPPr algn="l">
              <a:defRPr sz="2025" b="0">
                <a:solidFill>
                  <a:srgbClr val="FFFFFF"/>
                </a:solidFill>
                <a:latin typeface="Helvetica Neue"/>
                <a:ea typeface="Helvetica Neue"/>
                <a:cs typeface="Helvetica Neue"/>
              </a:defRPr>
            </a:defPPr>
          </a:lstStyle>
          <a:p>
            <a:pPr algn="l">
              <a:lnSpc>
                <a:spcPct val="113000"/>
              </a:lnSpc>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The value proposition is reusable organizational context across clients and workflows. Expected benefits need a pilot that measures saved effort alongside stewardship and operating cost.</a:t>
            </a:r>
          </a:p>
        </p:txBody>
      </p:sp>
      <p:sp>
        <p:nvSpPr>
          <p:cNvPr id="3" name="shape-137">
            <a:extLst>
              <a:ext uri="{FF2B5EF4-FFF2-40B4-BE49-F238E27FC236}">
                <ns2:creationId id="{7220F685-D7E0-404D-834F-E7E307907512}"/>
              </a:ext>
            </a:extLst>
          </p:cNvPr>
          <p:cNvSpPr>
            <a:spLocks noGrp="1"/>
          </p:cNvSpPr>
          <p:nvPr/>
        </p:nvSpPr>
        <p:spPr>
          <a:xfrm>
            <a:off x="609600" y="8153400"/>
            <a:ext cx="14020800" cy="0"/>
          </a:xfrm>
          <a:prstGeom prst="line">
            <a:avLst/>
          </a:prstGeom>
          <a:noFill/>
          <a:ln w="9525">
            <a:solidFill>
              <a:srgbClr val="DC8E85"/>
            </a:solidFill>
          </a:ln>
        </p:spPr>
      </p:sp>
      <p:sp>
        <p:nvSpPr>
          <p:cNvPr id="4" name="text-138">
            <a:extLst>
              <a:ext uri="{FF2B5EF4-FFF2-40B4-BE49-F238E27FC236}">
                <ns2:creationId id="{65F09B2B-7B7F-4629-9D73-9A5F426EDC92}"/>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FFFFFF"/>
                </a:solidFill>
                <a:latin typeface="Helvetica Neue"/>
                <a:ea typeface="Helvetica Neue"/>
                <a:cs typeface="Helvetica Neue"/>
              </a:defRPr>
            </a:defPPr>
          </a:lstStyle>
          <a:p>
            <a:pPr algn="r">
              <a:lnSpc>
                <a:spcPct val="113000"/>
              </a:lnSpc>
              <a:buNone/>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06</a:t>
            </a:r>
          </a:p>
        </p:txBody>
      </p:sp>
      <p:sp>
        <p:nvSpPr>
          <p:cNvPr id="5" name="text-139">
            <a:extLst>
              <a:ext uri="{FF2B5EF4-FFF2-40B4-BE49-F238E27FC236}">
                <ns2:creationId id="{B3FB70DC-EAE7-4A98-888E-146F88600863}"/>
              </a:ext>
            </a:extLst>
          </p:cNvPr>
          <p:cNvSpPr>
            <a:spLocks noGrp="1"/>
          </p:cNvSpPr>
          <p:nvPr/>
        </p:nvSpPr>
        <p:spPr>
          <a:xfrm>
            <a:off x="609600" y="2695575"/>
            <a:ext cx="7620000" cy="409575"/>
          </a:xfrm>
          <a:prstGeom prst="rect">
            <a:avLst/>
          </a:prstGeom>
          <a:noFill/>
          <a:ln w="0">
            <a:noFill/>
          </a:ln>
        </p:spPr>
        <p:txBody>
          <a:bodyPr wrap="square" lIns="0" tIns="0" rIns="0" bIns="0" anchor="t">
            <a:noAutofit/>
          </a:bodyPr>
          <a:lstStyle>
            <a:defPPr algn="l">
              <a:defRPr sz="2400" b="0">
                <a:solidFill>
                  <a:srgbClr val="FFFFFF"/>
                </a:solidFill>
                <a:latin typeface="Helvetica Neue"/>
                <a:ea typeface="Helvetica Neue"/>
                <a:cs typeface="Helvetica Neue"/>
              </a:defRPr>
            </a:defPPr>
          </a:lstStyle>
          <a:p>
            <a:pPr algn="l">
              <a:lnSpc>
                <a:spcPct val="113000"/>
              </a:lnSpc>
              <a:buNone/>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Lower repeated integration effort</a:t>
            </a:r>
          </a:p>
        </p:txBody>
      </p:sp>
      <p:sp>
        <p:nvSpPr>
          <p:cNvPr id="6" name="text-140">
            <a:extLst>
              <a:ext uri="{FF2B5EF4-FFF2-40B4-BE49-F238E27FC236}">
                <ns2:creationId id="{C05C3FC7-803A-4A4A-A549-09498F77ADFA}"/>
              </a:ext>
            </a:extLst>
          </p:cNvPr>
          <p:cNvSpPr>
            <a:spLocks noGrp="1"/>
          </p:cNvSpPr>
          <p:nvPr/>
        </p:nvSpPr>
        <p:spPr>
          <a:xfrm>
            <a:off x="609600" y="3219450"/>
            <a:ext cx="7620000" cy="828675"/>
          </a:xfrm>
          <a:prstGeom prst="rect">
            <a:avLst/>
          </a:prstGeom>
          <a:noFill/>
          <a:ln w="0">
            <a:noFill/>
          </a:ln>
        </p:spPr>
        <p:txBody>
          <a:bodyPr wrap="square" lIns="0" tIns="0" rIns="0" bIns="0" anchor="t">
            <a:noAutofit/>
          </a:bodyPr>
          <a:lstStyle>
            <a:defPPr algn="l">
              <a:defRPr sz="2025" b="0">
                <a:solidFill>
                  <a:srgbClr val="FFFFFF"/>
                </a:solidFill>
                <a:latin typeface="Helvetica Neue"/>
                <a:ea typeface="Helvetica Neue"/>
                <a:cs typeface="Helvetica Neue"/>
              </a:defRPr>
            </a:defPPr>
          </a:lstStyle>
          <a:p>
            <a:pPr algn="l">
              <a:lnSpc>
                <a:spcPct val="113000"/>
              </a:lnSpc>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A shared contract and domain packs reduce repeated integration. Measure engineering effort per client.</a:t>
            </a:r>
          </a:p>
        </p:txBody>
      </p:sp>
      <p:sp>
        <p:nvSpPr>
          <p:cNvPr id="7" name="text-141">
            <a:extLst>
              <a:ext uri="{FF2B5EF4-FFF2-40B4-BE49-F238E27FC236}">
                <ns2:creationId id="{3DA9F789-A230-4231-A4F4-B0D2C645DBE9}"/>
              </a:ext>
            </a:extLst>
          </p:cNvPr>
          <p:cNvSpPr>
            <a:spLocks noGrp="1"/>
          </p:cNvSpPr>
          <p:nvPr/>
        </p:nvSpPr>
        <p:spPr>
          <a:xfrm>
            <a:off x="609600" y="4124325"/>
            <a:ext cx="7620000" cy="409575"/>
          </a:xfrm>
          <a:prstGeom prst="rect">
            <a:avLst/>
          </a:prstGeom>
          <a:noFill/>
          <a:ln w="0">
            <a:noFill/>
          </a:ln>
        </p:spPr>
        <p:txBody>
          <a:bodyPr wrap="square" lIns="0" tIns="0" rIns="0" bIns="0" anchor="t">
            <a:noAutofit/>
          </a:bodyPr>
          <a:lstStyle>
            <a:defPPr algn="l">
              <a:defRPr sz="2400" b="0">
                <a:solidFill>
                  <a:srgbClr val="FFFFFF"/>
                </a:solidFill>
                <a:latin typeface="Helvetica Neue"/>
                <a:ea typeface="Helvetica Neue"/>
                <a:cs typeface="Helvetica Neue"/>
              </a:defRPr>
            </a:defPPr>
          </a:lstStyle>
          <a:p>
            <a:pPr algn="l">
              <a:lnSpc>
                <a:spcPct val="113000"/>
              </a:lnSpc>
              <a:buNone/>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Easier review and correction</a:t>
            </a:r>
          </a:p>
        </p:txBody>
      </p:sp>
      <p:sp>
        <p:nvSpPr>
          <p:cNvPr id="8" name="text-142">
            <a:extLst>
              <a:ext uri="{FF2B5EF4-FFF2-40B4-BE49-F238E27FC236}">
                <ns2:creationId id="{9AEE0F85-AECB-41A8-B11F-D1593E77B086}"/>
              </a:ext>
            </a:extLst>
          </p:cNvPr>
          <p:cNvSpPr>
            <a:spLocks noGrp="1"/>
          </p:cNvSpPr>
          <p:nvPr/>
        </p:nvSpPr>
        <p:spPr>
          <a:xfrm>
            <a:off x="609600" y="4648200"/>
            <a:ext cx="7620000" cy="828675"/>
          </a:xfrm>
          <a:prstGeom prst="rect">
            <a:avLst/>
          </a:prstGeom>
          <a:noFill/>
          <a:ln w="0">
            <a:noFill/>
          </a:ln>
        </p:spPr>
        <p:txBody>
          <a:bodyPr wrap="square" lIns="0" tIns="0" rIns="0" bIns="0" anchor="t">
            <a:noAutofit/>
          </a:bodyPr>
          <a:lstStyle>
            <a:defPPr algn="l">
              <a:defRPr sz="2025" b="0">
                <a:solidFill>
                  <a:srgbClr val="FFFFFF"/>
                </a:solidFill>
                <a:latin typeface="Helvetica Neue"/>
                <a:ea typeface="Helvetica Neue"/>
                <a:cs typeface="Helvetica Neue"/>
              </a:defRPr>
            </a:defPPr>
          </a:lstStyle>
          <a:p>
            <a:pPr algn="l">
              <a:lnSpc>
                <a:spcPct val="113000"/>
              </a:lnSpc>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Evidence and dependency paths make support and changes inspectable. Measure source checks and review effort.</a:t>
            </a:r>
          </a:p>
        </p:txBody>
      </p:sp>
      <p:sp>
        <p:nvSpPr>
          <p:cNvPr id="9" name="text-143">
            <a:extLst>
              <a:ext uri="{FF2B5EF4-FFF2-40B4-BE49-F238E27FC236}">
                <ns2:creationId id="{5D517D56-B0C4-4426-8E89-06644F3AABBB}"/>
              </a:ext>
            </a:extLst>
          </p:cNvPr>
          <p:cNvSpPr>
            <a:spLocks noGrp="1"/>
          </p:cNvSpPr>
          <p:nvPr/>
        </p:nvSpPr>
        <p:spPr>
          <a:xfrm>
            <a:off x="609600" y="5553075"/>
            <a:ext cx="7620000" cy="409575"/>
          </a:xfrm>
          <a:prstGeom prst="rect">
            <a:avLst/>
          </a:prstGeom>
          <a:noFill/>
          <a:ln w="0">
            <a:noFill/>
          </a:ln>
        </p:spPr>
        <p:txBody>
          <a:bodyPr wrap="square" lIns="0" tIns="0" rIns="0" bIns="0" anchor="t">
            <a:noAutofit/>
          </a:bodyPr>
          <a:lstStyle>
            <a:defPPr algn="l">
              <a:defRPr sz="2400" b="0">
                <a:solidFill>
                  <a:srgbClr val="FFFFFF"/>
                </a:solidFill>
                <a:latin typeface="Helvetica Neue"/>
                <a:ea typeface="Helvetica Neue"/>
                <a:cs typeface="Helvetica Neue"/>
              </a:defRPr>
            </a:defPPr>
          </a:lstStyle>
          <a:p>
            <a:pPr algn="l">
              <a:lnSpc>
                <a:spcPct val="113000"/>
              </a:lnSpc>
              <a:buNone/>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More continuity across helpers</a:t>
            </a:r>
          </a:p>
        </p:txBody>
      </p:sp>
      <p:sp>
        <p:nvSpPr>
          <p:cNvPr id="10" name="text-144">
            <a:extLst>
              <a:ext uri="{FF2B5EF4-FFF2-40B4-BE49-F238E27FC236}">
                <ns2:creationId id="{373B6D34-D307-48E5-9E68-0E1E533C43D8}"/>
              </a:ext>
            </a:extLst>
          </p:cNvPr>
          <p:cNvSpPr>
            <a:spLocks noGrp="1"/>
          </p:cNvSpPr>
          <p:nvPr/>
        </p:nvSpPr>
        <p:spPr>
          <a:xfrm>
            <a:off x="609600" y="6076950"/>
            <a:ext cx="7620000" cy="828675"/>
          </a:xfrm>
          <a:prstGeom prst="rect">
            <a:avLst/>
          </a:prstGeom>
          <a:noFill/>
          <a:ln w="0">
            <a:noFill/>
          </a:ln>
        </p:spPr>
        <p:txBody>
          <a:bodyPr wrap="square" lIns="0" tIns="0" rIns="0" bIns="0" anchor="t">
            <a:noAutofit/>
          </a:bodyPr>
          <a:lstStyle>
            <a:defPPr algn="l">
              <a:defRPr sz="2025" b="0">
                <a:solidFill>
                  <a:srgbClr val="FFFFFF"/>
                </a:solidFill>
                <a:latin typeface="Helvetica Neue"/>
                <a:ea typeface="Helvetica Neue"/>
                <a:cs typeface="Helvetica Neue"/>
              </a:defRPr>
            </a:defPPr>
          </a:lstStyle>
          <a:p>
            <a:pPr algn="l">
              <a:lnSpc>
                <a:spcPct val="113000"/>
              </a:lnSpc>
              <a:buNone/>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Findings and pending tasks let another agent resume. Measure reconstruction time and handoff completeness.</a:t>
            </a:r>
          </a:p>
        </p:txBody>
      </p:sp>
      <p:sp>
        <p:nvSpPr>
          <p:cNvPr id="11" name="shape-145">
            <a:extLst>
              <a:ext uri="{FF2B5EF4-FFF2-40B4-BE49-F238E27FC236}">
                <ns2:creationId id="{CE11A348-0577-40A9-8D56-BD3CB5408047}"/>
              </a:ext>
            </a:extLst>
          </p:cNvPr>
          <p:cNvSpPr>
            <a:spLocks noGrp="1"/>
          </p:cNvSpPr>
          <p:nvPr/>
        </p:nvSpPr>
        <p:spPr>
          <a:xfrm>
            <a:off x="8858250" y="2638425"/>
            <a:ext cx="5772150" cy="4210050"/>
          </a:xfrm>
          <a:prstGeom prst="roundRect">
            <a:avLst>
              <a:gd name="adj" fmla="val 1584"/>
            </a:avLst>
          </a:prstGeom>
          <a:solidFill>
            <a:srgbClr val="F4F2EE"/>
          </a:solidFill>
          <a:ln w="0">
            <a:noFill/>
          </a:ln>
        </p:spPr>
      </p:sp>
      <p:sp>
        <p:nvSpPr>
          <p:cNvPr id="12" name="text-146">
            <a:extLst>
              <a:ext uri="{FF2B5EF4-FFF2-40B4-BE49-F238E27FC236}">
                <ns2:creationId id="{9708E03E-D36A-4DE0-990E-F6B0EA01D015}"/>
              </a:ext>
            </a:extLst>
          </p:cNvPr>
          <p:cNvSpPr>
            <a:spLocks noGrp="1"/>
          </p:cNvSpPr>
          <p:nvPr/>
        </p:nvSpPr>
        <p:spPr>
          <a:xfrm>
            <a:off x="9144000" y="2952750"/>
            <a:ext cx="5200650" cy="838200"/>
          </a:xfrm>
          <a:prstGeom prst="rect">
            <a:avLst/>
          </a:prstGeom>
          <a:noFill/>
          <a:ln w="0">
            <a:noFill/>
          </a:ln>
        </p:spPr>
        <p:txBody>
          <a:bodyPr wrap="square" lIns="0" tIns="0" rIns="0" bIns="0" anchor="t">
            <a:noAutofit/>
          </a:bodyPr>
          <a:lstStyle>
            <a:defPPr algn="l">
              <a:defRPr sz="2550" b="0">
                <a:solidFill>
                  <a:srgbClr val="252524"/>
                </a:solidFill>
                <a:latin typeface="Helvetica Neue"/>
                <a:ea typeface="Helvetica Neue"/>
                <a:cs typeface="Helvetica Neue"/>
              </a:defRPr>
            </a:defPPr>
          </a:lstStyle>
          <a:p>
            <a:pPr algn="l">
              <a:lnSpc>
                <a:spcPct val="113000"/>
              </a:lnSpc>
              <a:buNone/>
              <a:defRPr sz="2550" b="0">
                <a:solidFill>
                  <a:srgbClr val="252524"/>
                </a:solidFill>
                <a:latin typeface="Helvetica Neue"/>
                <a:ea typeface="Helvetica Neue"/>
                <a:cs typeface="Helvetica Neue"/>
              </a:defRPr>
            </a:pPr>
            <a:r>
              <a:rPr sz="2550" b="0">
                <a:solidFill>
                  <a:srgbClr val="252524"/>
                </a:solidFill>
                <a:latin typeface="Helvetica Neue"/>
                <a:ea typeface="Helvetica Neue"/>
                <a:cs typeface="Helvetica Neue"/>
              </a:rPr>
              <a:t>Product and commercial options</a:t>
            </a:r>
          </a:p>
        </p:txBody>
      </p:sp>
      <p:sp>
        <p:nvSpPr>
          <p:cNvPr id="13" name="text-147">
            <a:extLst>
              <a:ext uri="{FF2B5EF4-FFF2-40B4-BE49-F238E27FC236}">
                <ns2:creationId id="{A38577C2-F897-4781-88FF-20CF160B23DD}"/>
              </a:ext>
            </a:extLst>
          </p:cNvPr>
          <p:cNvSpPr>
            <a:spLocks noGrp="1"/>
          </p:cNvSpPr>
          <p:nvPr/>
        </p:nvSpPr>
        <p:spPr>
          <a:xfrm>
            <a:off x="9144000" y="3667125"/>
            <a:ext cx="5200650" cy="2895600"/>
          </a:xfrm>
          <a:prstGeom prst="rect">
            <a:avLst/>
          </a:prstGeom>
          <a:noFill/>
          <a:ln w="0">
            <a:noFill/>
          </a:ln>
        </p:spPr>
        <p:txBody>
          <a:bodyPr wrap="square" lIns="0" tIns="0" rIns="0" bIns="0" anchor="t">
            <a:noAutofit/>
          </a:bodyPr>
          <a:lstStyle>
            <a:defPPr algn="l">
              <a:defRPr sz="2100" b="0">
                <a:solidFill>
                  <a:srgbClr val="252524"/>
                </a:solidFill>
                <a:latin typeface="Helvetica Neue"/>
                <a:ea typeface="Helvetica Neue"/>
                <a:cs typeface="Helvetica Neue"/>
              </a:defRPr>
            </a:defPPr>
          </a:lstStyle>
          <a:p>
            <a:pPr algn="l">
              <a:lnSpc>
                <a:spcPct val="113000"/>
              </a:lnSpc>
              <a:buNone/>
              <a:defRPr sz="2100" b="0">
                <a:solidFill>
                  <a:srgbClr val="252524"/>
                </a:solidFill>
                <a:latin typeface="Helvetica Neue"/>
                <a:ea typeface="Helvetica Neue"/>
                <a:cs typeface="Helvetica Neue"/>
              </a:defRPr>
            </a:pPr>
            <a:r>
              <a:rPr sz="2100" b="0">
                <a:solidFill>
                  <a:srgbClr val="252524"/>
                </a:solidFill>
                <a:latin typeface="Helvetica Neue"/>
                <a:ea typeface="Helvetica Neue"/>
                <a:cs typeface="Helvetica Neue"/>
              </a:rPr>
              <a:t>Self-hosted core and portable packs support developer tools, consumer assistants and enterprise workbenches.</a:t>
            </a:r>
          </a:p>
          <a:p>
            <a:r>
              <a:t/>
            </a:r>
          </a:p>
          <a:p>
            <a:pPr algn="l">
              <a:lnSpc>
                <a:spcPct val="113000"/>
              </a:lnSpc>
              <a:buNone/>
              <a:defRPr sz="2100" b="0">
                <a:solidFill>
                  <a:srgbClr val="252524"/>
                </a:solidFill>
                <a:latin typeface="Helvetica Neue"/>
                <a:ea typeface="Helvetica Neue"/>
                <a:cs typeface="Helvetica Neue"/>
              </a:defRPr>
            </a:pPr>
            <a:r>
              <a:rPr sz="2100" b="0">
                <a:solidFill>
                  <a:srgbClr val="252524"/>
                </a:solidFill>
                <a:latin typeface="Helvetica Neue"/>
                <a:ea typeface="Helvetica Neue"/>
                <a:cs typeface="Helvetica Neue"/>
              </a:rPr>
              <a:t>Potential offerings include managed operation, supported connectors, integration services and domain stewardship.</a:t>
            </a:r>
          </a:p>
        </p:txBody>
      </p:sp>
      <p:sp>
        <p:nvSpPr>
          <p:cNvPr id="14" name="shape-148">
            <a:extLst>
              <a:ext uri="{FF2B5EF4-FFF2-40B4-BE49-F238E27FC236}">
                <ns2:creationId id="{F5FA63CD-267F-47E5-9F5B-B652B574F829}"/>
              </a:ext>
            </a:extLst>
          </p:cNvPr>
          <p:cNvSpPr>
            <a:spLocks noGrp="1"/>
          </p:cNvSpPr>
          <p:nvPr/>
        </p:nvSpPr>
        <p:spPr>
          <a:xfrm>
            <a:off x="609600" y="7124700"/>
            <a:ext cx="14020800" cy="0"/>
          </a:xfrm>
          <a:prstGeom prst="line">
            <a:avLst/>
          </a:prstGeom>
          <a:noFill/>
          <a:ln w="9525">
            <a:solidFill>
              <a:srgbClr val="DC8E85"/>
            </a:solidFill>
          </a:ln>
        </p:spPr>
      </p:sp>
      <p:sp>
        <p:nvSpPr>
          <p:cNvPr id="15" name="text-149">
            <a:extLst>
              <a:ext uri="{FF2B5EF4-FFF2-40B4-BE49-F238E27FC236}">
                <ns2:creationId id="{51ADD086-17F1-44FB-B613-365E915E425D}"/>
              </a:ext>
            </a:extLst>
          </p:cNvPr>
          <p:cNvSpPr>
            <a:spLocks noGrp="1"/>
          </p:cNvSpPr>
          <p:nvPr/>
        </p:nvSpPr>
        <p:spPr>
          <a:xfrm>
            <a:off x="609600" y="7334250"/>
            <a:ext cx="3333750" cy="419100"/>
          </a:xfrm>
          <a:prstGeom prst="rect">
            <a:avLst/>
          </a:prstGeom>
          <a:noFill/>
          <a:ln w="0">
            <a:noFill/>
          </a:ln>
        </p:spPr>
        <p:txBody>
          <a:bodyPr wrap="square" lIns="0" tIns="0" rIns="0" bIns="0" anchor="t">
            <a:noAutofit/>
          </a:bodyPr>
          <a:lstStyle>
            <a:defPPr algn="l">
              <a:defRPr sz="2400" b="0">
                <a:solidFill>
                  <a:srgbClr val="FFFFFF"/>
                </a:solidFill>
                <a:latin typeface="Helvetica Neue"/>
                <a:ea typeface="Helvetica Neue"/>
                <a:cs typeface="Helvetica Neue"/>
              </a:defRPr>
            </a:defPPr>
          </a:lstStyle>
          <a:p>
            <a:pPr algn="l">
              <a:lnSpc>
                <a:spcPct val="113000"/>
              </a:lnSpc>
              <a:buNone/>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Proposed decision</a:t>
            </a:r>
          </a:p>
        </p:txBody>
      </p:sp>
      <p:sp>
        <p:nvSpPr>
          <p:cNvPr id="16" name="text-150">
            <a:extLst>
              <a:ext uri="{FF2B5EF4-FFF2-40B4-BE49-F238E27FC236}">
                <ns2:creationId id="{588796B1-B0B9-4535-9336-4DCD55B3F376}"/>
              </a:ext>
            </a:extLst>
          </p:cNvPr>
          <p:cNvSpPr>
            <a:spLocks noGrp="1"/>
          </p:cNvSpPr>
          <p:nvPr/>
        </p:nvSpPr>
        <p:spPr>
          <a:xfrm>
            <a:off x="4324350" y="7334250"/>
            <a:ext cx="10306050" cy="733425"/>
          </a:xfrm>
          <a:prstGeom prst="rect">
            <a:avLst/>
          </a:prstGeom>
          <a:noFill/>
          <a:ln w="0">
            <a:noFill/>
          </a:ln>
        </p:spPr>
        <p:txBody>
          <a:bodyPr wrap="square" lIns="0" tIns="0" rIns="0" bIns="0" anchor="t">
            <a:noAutofit/>
          </a:bodyPr>
          <a:lstStyle>
            <a:defPPr algn="l">
              <a:defRPr sz="1950" b="0">
                <a:solidFill>
                  <a:srgbClr val="FFFFFF"/>
                </a:solidFill>
                <a:latin typeface="Helvetica Neue"/>
                <a:ea typeface="Helvetica Neue"/>
                <a:cs typeface="Helvetica Neue"/>
              </a:defRPr>
            </a:defPPr>
          </a:lstStyle>
          <a:p>
            <a:pPr algn="l">
              <a:lnSpc>
                <a:spcPct val="113000"/>
              </a:lnSpc>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Sponsor one evidence-heavy workflow with a developer owner and domain steward. Connect two clients, test a correction and handoff, then compare net value.</a:t>
            </a:r>
          </a:p>
        </p:txBody>
      </p:sp>
    </p:spTree>
    <p:extLst>
      <p:ext uri="{BB962C8B-B14F-4D97-AF65-F5344CB8AC3E}">
        <ns3:creationId val="1277430552"/>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show="0">
  <p:cSld>
    <p:bg>
      <p:bgPr>
        <a:solidFill>
          <a:srgbClr val="F4F2EE"/>
        </a:solidFill>
      </p:bgPr>
    </p:bg>
    <p:spTree>
      <p:nvGrpSpPr>
        <p:cNvPr id="1" name=""/>
        <p:cNvGrpSpPr/>
        <p:nvPr/>
      </p:nvGrpSpPr>
      <p:grpSpPr>
        <a:xfrm/>
      </p:grpSpPr>
      <p:sp>
        <p:nvSpPr>
          <p:cNvPr id="29" name="text-151">
            <a:extLst>
              <a:ext uri="{FF2B5EF4-FFF2-40B4-BE49-F238E27FC236}">
                <ns2:creationId id="{996EBD48-7A16-4B1F-9C7C-884A6C08028B}"/>
              </a:ext>
            </a:extLst>
          </p:cNvPr>
          <p:cNvSpPr>
            <a:spLocks noGrp="1"/>
          </p:cNvSpPr>
          <p:nvPr/>
        </p:nvSpPr>
        <p:spPr>
          <a:xfrm>
            <a:off x="609600" y="523875"/>
            <a:ext cx="14020800" cy="809625"/>
          </a:xfrm>
          <a:prstGeom prst="rect">
            <a:avLst/>
          </a:prstGeom>
          <a:noFill/>
          <a:ln w="0">
            <a:noFill/>
          </a:ln>
        </p:spPr>
        <p:txBody>
          <a:bodyPr wrap="square" lIns="0" tIns="0" rIns="0" bIns="0" anchor="t">
            <a:noAutofit/>
          </a:bodyPr>
          <a:lstStyle>
            <a:defPPr algn="l">
              <a:defRPr sz="4200" b="0">
                <a:solidFill>
                  <a:srgbClr val="252524"/>
                </a:solidFill>
                <a:latin typeface="Helvetica Neue"/>
                <a:ea typeface="Helvetica Neue"/>
                <a:cs typeface="Helvetica Neue"/>
              </a:defRPr>
            </a:defPPr>
          </a:lstStyle>
          <a:p>
            <a:pPr algn="l">
              <a:lnSpc>
                <a:spcPct val="113000"/>
              </a:lnSpc>
              <a:buNone/>
              <a:defRPr sz="4200" b="0">
                <a:solidFill>
                  <a:srgbClr val="252524"/>
                </a:solidFill>
                <a:latin typeface="Helvetica Neue"/>
                <a:ea typeface="Helvetica Neue"/>
                <a:cs typeface="Helvetica Neue"/>
              </a:defRPr>
            </a:pPr>
            <a:r>
              <a:rPr sz="4200" b="0">
                <a:solidFill>
                  <a:srgbClr val="252524"/>
                </a:solidFill>
                <a:latin typeface="Helvetica Neue"/>
                <a:ea typeface="Helvetica Neue"/>
                <a:cs typeface="Helvetica Neue"/>
              </a:rPr>
              <a:t>Knowledge catalogue</a:t>
            </a:r>
          </a:p>
        </p:txBody>
      </p:sp>
      <p:sp>
        <p:nvSpPr>
          <p:cNvPr id="2" name="text-152">
            <a:extLst>
              <a:ext uri="{FF2B5EF4-FFF2-40B4-BE49-F238E27FC236}">
                <ns2:creationId id="{7E81E100-6222-49A1-B2AF-80C9C8746E66}"/>
              </a:ext>
            </a:extLst>
          </p:cNvPr>
          <p:cNvSpPr>
            <a:spLocks noGrp="1"/>
          </p:cNvSpPr>
          <p:nvPr/>
        </p:nvSpPr>
        <p:spPr>
          <a:xfrm>
            <a:off x="628650" y="1476375"/>
            <a:ext cx="13963650" cy="914400"/>
          </a:xfrm>
          <a:prstGeom prst="rect">
            <a:avLst/>
          </a:prstGeom>
          <a:noFill/>
          <a:ln w="0">
            <a:noFill/>
          </a:ln>
        </p:spPr>
        <p:txBody>
          <a:bodyPr wrap="square" lIns="0" tIns="0" rIns="0" bIns="0" anchor="t">
            <a:noAutofit/>
          </a:bodyPr>
          <a:lstStyle>
            <a:defPPr algn="l">
              <a:defRPr sz="2025" b="0">
                <a:solidFill>
                  <a:srgbClr val="686560"/>
                </a:solidFill>
                <a:latin typeface="Helvetica Neue"/>
                <a:ea typeface="Helvetica Neue"/>
                <a:cs typeface="Helvetica Neue"/>
              </a:defRPr>
            </a:defPPr>
          </a:lstStyle>
          <a:p>
            <a:pPr algn="l">
              <a:lnSpc>
                <a:spcPct val="113000"/>
              </a:lnSpc>
              <a:buNone/>
              <a:defRPr sz="2025" b="0">
                <a:solidFill>
                  <a:srgbClr val="686560"/>
                </a:solidFill>
                <a:latin typeface="Helvetica Neue"/>
                <a:ea typeface="Helvetica Neue"/>
                <a:cs typeface="Helvetica Neue"/>
              </a:defRPr>
            </a:pPr>
            <a:r>
              <a:rPr sz="2025" b="0">
                <a:solidFill>
                  <a:srgbClr val="686560"/>
                </a:solidFill>
                <a:latin typeface="Helvetica Neue"/>
                <a:ea typeface="Helvetica Neue"/>
                <a:cs typeface="Helvetica Neue"/>
              </a:rPr>
              <a:t>A searchable inventory of reusable knowledge, with ownership, evidence and review status attached to each asset.</a:t>
            </a:r>
          </a:p>
        </p:txBody>
      </p:sp>
      <p:sp>
        <p:nvSpPr>
          <p:cNvPr id="3" name="shape-153">
            <a:extLst>
              <a:ext uri="{FF2B5EF4-FFF2-40B4-BE49-F238E27FC236}">
                <ns2:creationId id="{375BB152-55AC-4B48-98DB-16BD2A11C228}"/>
              </a:ext>
            </a:extLst>
          </p:cNvPr>
          <p:cNvSpPr>
            <a:spLocks noGrp="1"/>
          </p:cNvSpPr>
          <p:nvPr/>
        </p:nvSpPr>
        <p:spPr>
          <a:xfrm>
            <a:off x="609600" y="8153400"/>
            <a:ext cx="14020800" cy="0"/>
          </a:xfrm>
          <a:prstGeom prst="line">
            <a:avLst/>
          </a:prstGeom>
          <a:noFill/>
          <a:ln w="9525">
            <a:solidFill>
              <a:srgbClr val="D6D2CB"/>
            </a:solidFill>
          </a:ln>
        </p:spPr>
      </p:sp>
      <p:sp>
        <p:nvSpPr>
          <p:cNvPr id="4" name="text-154">
            <a:extLst>
              <a:ext uri="{FF2B5EF4-FFF2-40B4-BE49-F238E27FC236}">
                <ns2:creationId id="{115C2344-A72E-4069-AB3D-AE6881F99856}"/>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686560"/>
                </a:solidFill>
                <a:latin typeface="Helvetica Neue"/>
                <a:ea typeface="Helvetica Neue"/>
                <a:cs typeface="Helvetica Neue"/>
              </a:defRPr>
            </a:defPPr>
          </a:lstStyle>
          <a:p>
            <a:pPr algn="r">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07</a:t>
            </a:r>
          </a:p>
        </p:txBody>
      </p:sp>
      <p:sp>
        <p:nvSpPr>
          <p:cNvPr id="5" name="shape-155">
            <a:extLst>
              <a:ext uri="{FF2B5EF4-FFF2-40B4-BE49-F238E27FC236}">
                <ns2:creationId id="{6A65A9E2-FF1B-41C1-AB84-1E9A2275B405}"/>
              </a:ext>
            </a:extLst>
          </p:cNvPr>
          <p:cNvSpPr>
            <a:spLocks noGrp="1"/>
          </p:cNvSpPr>
          <p:nvPr/>
        </p:nvSpPr>
        <p:spPr>
          <a:xfrm>
            <a:off x="609600" y="2638425"/>
            <a:ext cx="2152650" cy="5181600"/>
          </a:xfrm>
          <a:prstGeom prst="roundRect">
            <a:avLst>
              <a:gd name="adj" fmla="val 3097"/>
            </a:avLst>
          </a:prstGeom>
          <a:solidFill>
            <a:srgbClr val="252524"/>
          </a:solidFill>
          <a:ln w="0">
            <a:noFill/>
          </a:ln>
        </p:spPr>
      </p:sp>
      <p:sp>
        <p:nvSpPr>
          <p:cNvPr id="6" name="text-156">
            <a:extLst>
              <a:ext uri="{FF2B5EF4-FFF2-40B4-BE49-F238E27FC236}">
                <ns2:creationId id="{65123FFF-020C-4412-8281-3667C0F2C5DA}"/>
              </a:ext>
            </a:extLst>
          </p:cNvPr>
          <p:cNvSpPr>
            <a:spLocks noGrp="1"/>
          </p:cNvSpPr>
          <p:nvPr/>
        </p:nvSpPr>
        <p:spPr>
          <a:xfrm>
            <a:off x="838200" y="2905125"/>
            <a:ext cx="1695450" cy="647700"/>
          </a:xfrm>
          <a:prstGeom prst="rect">
            <a:avLst/>
          </a:prstGeom>
          <a:noFill/>
          <a:ln w="0">
            <a:noFill/>
          </a:ln>
        </p:spPr>
        <p:txBody>
          <a:bodyPr wrap="square" lIns="0" tIns="0" rIns="0" bIns="0" anchor="t">
            <a:noAutofit/>
          </a:bodyPr>
          <a:lstStyle>
            <a:defPPr algn="l">
              <a:defRPr sz="1875" b="0">
                <a:solidFill>
                  <a:srgbClr val="FFFFFF"/>
                </a:solidFill>
                <a:latin typeface="Helvetica Neue"/>
                <a:ea typeface="Helvetica Neue"/>
                <a:cs typeface="Helvetica Neue"/>
              </a:defRPr>
            </a:defPPr>
          </a:lstStyle>
          <a:p>
            <a:pPr algn="l">
              <a:lnSpc>
                <a:spcPct val="113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Workspace areas</a:t>
            </a:r>
          </a:p>
        </p:txBody>
      </p:sp>
      <p:sp>
        <p:nvSpPr>
          <p:cNvPr id="7" name="shape-157">
            <a:extLst>
              <a:ext uri="{FF2B5EF4-FFF2-40B4-BE49-F238E27FC236}">
                <ns2:creationId id="{2C9C43E4-146C-4EC5-91F7-C546B749BB69}"/>
              </a:ext>
            </a:extLst>
          </p:cNvPr>
          <p:cNvSpPr>
            <a:spLocks noGrp="1"/>
          </p:cNvSpPr>
          <p:nvPr/>
        </p:nvSpPr>
        <p:spPr>
          <a:xfrm>
            <a:off x="762000" y="3743325"/>
            <a:ext cx="1847850" cy="400050"/>
          </a:xfrm>
          <a:prstGeom prst="roundRect">
            <a:avLst>
              <a:gd name="adj" fmla="val 11905"/>
            </a:avLst>
          </a:prstGeom>
          <a:solidFill>
            <a:srgbClr val="C9433C"/>
          </a:solidFill>
          <a:ln w="0">
            <a:noFill/>
          </a:ln>
        </p:spPr>
      </p:sp>
      <p:sp>
        <p:nvSpPr>
          <p:cNvPr id="8" name="text-158">
            <a:hlinkClick r:id="Rfd6935e71e514000" action="ppaction://hlinksldjump"/>
            <a:extLst>
              <a:ext uri="{FF2B5EF4-FFF2-40B4-BE49-F238E27FC236}">
                <ns2:creationId id="{CCB82CCC-576A-413C-AF54-8437F3E108C5}"/>
              </a:ext>
            </a:extLst>
          </p:cNvPr>
          <p:cNvSpPr>
            <a:spLocks noGrp="1"/>
          </p:cNvSpPr>
          <p:nvPr/>
        </p:nvSpPr>
        <p:spPr>
          <a:xfrm>
            <a:off x="876300" y="38004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fd6935e71e514000" action="ppaction://hlinksldjump"/>
              </a:rPr>
              <a:t>Catalogue</a:t>
            </a:r>
          </a:p>
        </p:txBody>
      </p:sp>
      <p:sp>
        <p:nvSpPr>
          <p:cNvPr id="9" name="text-159">
            <a:hlinkClick r:id="Rd3c5708c2a0c4d1b" action="ppaction://hlinksldjump"/>
            <a:extLst>
              <a:ext uri="{FF2B5EF4-FFF2-40B4-BE49-F238E27FC236}">
                <ns2:creationId id="{27201F56-D196-4441-B404-52C1D9D44BD0}"/>
              </a:ext>
            </a:extLst>
          </p:cNvPr>
          <p:cNvSpPr>
            <a:spLocks noGrp="1"/>
          </p:cNvSpPr>
          <p:nvPr/>
        </p:nvSpPr>
        <p:spPr>
          <a:xfrm>
            <a:off x="876300" y="42672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d3c5708c2a0c4d1b" action="ppaction://hlinksldjump"/>
              </a:rPr>
              <a:t>Builder</a:t>
            </a:r>
          </a:p>
        </p:txBody>
      </p:sp>
      <p:sp>
        <p:nvSpPr>
          <p:cNvPr id="10" name="text-160">
            <a:hlinkClick r:id="Rdf0e9f059c1d471a" action="ppaction://hlinksldjump"/>
            <a:extLst>
              <a:ext uri="{FF2B5EF4-FFF2-40B4-BE49-F238E27FC236}">
                <ns2:creationId id="{1F7F7739-AC43-472B-8BEA-B491954C4478}"/>
              </a:ext>
            </a:extLst>
          </p:cNvPr>
          <p:cNvSpPr>
            <a:spLocks noGrp="1"/>
          </p:cNvSpPr>
          <p:nvPr/>
        </p:nvSpPr>
        <p:spPr>
          <a:xfrm>
            <a:off x="876300" y="473392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df0e9f059c1d471a" action="ppaction://hlinksldjump"/>
              </a:rPr>
              <a:t>Reauthoring</a:t>
            </a:r>
          </a:p>
        </p:txBody>
      </p:sp>
      <p:sp>
        <p:nvSpPr>
          <p:cNvPr id="11" name="text-161">
            <a:hlinkClick r:id="Rd43046a3f98049ba" action="ppaction://hlinksldjump"/>
            <a:extLst>
              <a:ext uri="{FF2B5EF4-FFF2-40B4-BE49-F238E27FC236}">
                <ns2:creationId id="{222DEBA4-0C70-4851-9851-142E5E42225D}"/>
              </a:ext>
            </a:extLst>
          </p:cNvPr>
          <p:cNvSpPr>
            <a:spLocks noGrp="1"/>
          </p:cNvSpPr>
          <p:nvPr/>
        </p:nvSpPr>
        <p:spPr>
          <a:xfrm>
            <a:off x="876300" y="520065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d43046a3f98049ba" action="ppaction://hlinksldjump"/>
              </a:rPr>
              <a:t>Ontology</a:t>
            </a:r>
          </a:p>
        </p:txBody>
      </p:sp>
      <p:sp>
        <p:nvSpPr>
          <p:cNvPr id="12" name="text-162">
            <a:hlinkClick r:id="R02588808e14a478a" action="ppaction://hlinksldjump"/>
            <a:extLst>
              <a:ext uri="{FF2B5EF4-FFF2-40B4-BE49-F238E27FC236}">
                <ns2:creationId id="{439473D7-304D-481F-9C2B-87FCA5BCB899}"/>
              </a:ext>
            </a:extLst>
          </p:cNvPr>
          <p:cNvSpPr>
            <a:spLocks noGrp="1"/>
          </p:cNvSpPr>
          <p:nvPr/>
        </p:nvSpPr>
        <p:spPr>
          <a:xfrm>
            <a:off x="876300" y="56673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02588808e14a478a" action="ppaction://hlinksldjump"/>
              </a:rPr>
              <a:t>Agents</a:t>
            </a:r>
          </a:p>
        </p:txBody>
      </p:sp>
      <p:sp>
        <p:nvSpPr>
          <p:cNvPr id="13" name="text-163">
            <a:hlinkClick r:id="R5a3a3636532b4396" action="ppaction://hlinksldjump"/>
            <a:extLst>
              <a:ext uri="{FF2B5EF4-FFF2-40B4-BE49-F238E27FC236}">
                <ns2:creationId id="{0CAA14EE-84D2-4C63-94C0-8138D15A8340}"/>
              </a:ext>
            </a:extLst>
          </p:cNvPr>
          <p:cNvSpPr>
            <a:spLocks noGrp="1"/>
          </p:cNvSpPr>
          <p:nvPr/>
        </p:nvSpPr>
        <p:spPr>
          <a:xfrm>
            <a:off x="876300" y="61341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5a3a3636532b4396" action="ppaction://hlinksldjump"/>
              </a:rPr>
              <a:t>Memory</a:t>
            </a:r>
          </a:p>
        </p:txBody>
      </p:sp>
      <p:sp>
        <p:nvSpPr>
          <p:cNvPr id="14" name="text-164">
            <a:hlinkClick r:id="Raf63acd1ea7c45de" action="ppaction://hlinksldjump"/>
            <a:extLst>
              <a:ext uri="{FF2B5EF4-FFF2-40B4-BE49-F238E27FC236}">
                <ns2:creationId id="{E36A5B76-F6C9-41C5-A1B8-43930101EF77}"/>
              </a:ext>
            </a:extLst>
          </p:cNvPr>
          <p:cNvSpPr>
            <a:spLocks noGrp="1"/>
          </p:cNvSpPr>
          <p:nvPr/>
        </p:nvSpPr>
        <p:spPr>
          <a:xfrm>
            <a:off x="838200" y="6991350"/>
            <a:ext cx="1695450" cy="6667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6894b8732e2443ac" action="ppaction://hlinksldjump"/>
              </a:rPr>
              <a:t>Back to</a:t>
            </a:r>
          </a:p>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af63acd1ea7c45de" action="ppaction://hlinksldjump"/>
              </a:rPr>
              <a:t>workspace</a:t>
            </a:r>
          </a:p>
        </p:txBody>
      </p:sp>
      <p:sp>
        <p:nvSpPr>
          <p:cNvPr id="15" name="shape-165">
            <a:extLst>
              <a:ext uri="{FF2B5EF4-FFF2-40B4-BE49-F238E27FC236}">
                <ns2:creationId id="{0CA8B96F-25F8-43D3-99FF-8AA9C145131B}"/>
              </a:ext>
            </a:extLst>
          </p:cNvPr>
          <p:cNvSpPr>
            <a:spLocks noGrp="1"/>
          </p:cNvSpPr>
          <p:nvPr/>
        </p:nvSpPr>
        <p:spPr>
          <a:xfrm>
            <a:off x="2990850" y="2638425"/>
            <a:ext cx="6934200" cy="5181600"/>
          </a:xfrm>
          <a:prstGeom prst="roundRect">
            <a:avLst>
              <a:gd name="adj" fmla="val 1287"/>
            </a:avLst>
          </a:prstGeom>
          <a:solidFill>
            <a:srgbClr val="FFFFFF"/>
          </a:solidFill>
          <a:ln w="0">
            <a:noFill/>
          </a:ln>
        </p:spPr>
      </p:sp>
      <p:sp>
        <p:nvSpPr>
          <p:cNvPr id="16" name="text-166">
            <a:extLst>
              <a:ext uri="{FF2B5EF4-FFF2-40B4-BE49-F238E27FC236}">
                <ns2:creationId id="{3D72BAD9-0BC0-48A4-8F5A-54724E83DD65}"/>
              </a:ext>
            </a:extLst>
          </p:cNvPr>
          <p:cNvSpPr>
            <a:spLocks noGrp="1"/>
          </p:cNvSpPr>
          <p:nvPr/>
        </p:nvSpPr>
        <p:spPr>
          <a:xfrm>
            <a:off x="3257550" y="2876550"/>
            <a:ext cx="6400800" cy="495300"/>
          </a:xfrm>
          <a:prstGeom prst="rect">
            <a:avLst/>
          </a:prstGeom>
          <a:noFill/>
          <a:ln w="0">
            <a:noFill/>
          </a:ln>
        </p:spPr>
        <p:txBody>
          <a:bodyPr wrap="square" lIns="0" tIns="0" rIns="0" bIns="0" anchor="t">
            <a:noAutofit/>
          </a:bodyPr>
          <a:lstStyle>
            <a:defPPr algn="l">
              <a:defRPr sz="2550" b="0">
                <a:solidFill>
                  <a:srgbClr val="252524"/>
                </a:solidFill>
                <a:latin typeface="Helvetica Neue"/>
                <a:ea typeface="Helvetica Neue"/>
                <a:cs typeface="Helvetica Neue"/>
              </a:defRPr>
            </a:defPPr>
          </a:lstStyle>
          <a:p>
            <a:pPr algn="l">
              <a:lnSpc>
                <a:spcPct val="113000"/>
              </a:lnSpc>
              <a:buNone/>
              <a:defRPr sz="2550" b="0">
                <a:solidFill>
                  <a:srgbClr val="252524"/>
                </a:solidFill>
                <a:latin typeface="Helvetica Neue"/>
                <a:ea typeface="Helvetica Neue"/>
                <a:cs typeface="Helvetica Neue"/>
              </a:defRPr>
            </a:pPr>
            <a:r>
              <a:rPr sz="2550" b="0">
                <a:solidFill>
                  <a:srgbClr val="252524"/>
                </a:solidFill>
                <a:latin typeface="Helvetica Neue"/>
                <a:ea typeface="Helvetica Neue"/>
                <a:cs typeface="Helvetica Neue"/>
              </a:rPr>
              <a:t>Customer workflow</a:t>
            </a:r>
          </a:p>
        </p:txBody>
      </p:sp>
      <p:sp>
        <p:nvSpPr>
          <p:cNvPr id="17" name="text-167">
            <a:extLst>
              <a:ext uri="{FF2B5EF4-FFF2-40B4-BE49-F238E27FC236}">
                <ns2:creationId id="{DC8D3611-E6D8-430E-9764-F37663EEE1C5}"/>
              </a:ext>
            </a:extLst>
          </p:cNvPr>
          <p:cNvSpPr>
            <a:spLocks noGrp="1"/>
          </p:cNvSpPr>
          <p:nvPr/>
        </p:nvSpPr>
        <p:spPr>
          <a:xfrm>
            <a:off x="3257550" y="360045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Find an asset</a:t>
            </a:r>
          </a:p>
        </p:txBody>
      </p:sp>
      <p:sp>
        <p:nvSpPr>
          <p:cNvPr id="18" name="text-168">
            <a:extLst>
              <a:ext uri="{FF2B5EF4-FFF2-40B4-BE49-F238E27FC236}">
                <ns2:creationId id="{2B5EADE9-BAA3-433E-AA0D-F5755FA6A3FC}"/>
              </a:ext>
            </a:extLst>
          </p:cNvPr>
          <p:cNvSpPr>
            <a:spLocks noGrp="1"/>
          </p:cNvSpPr>
          <p:nvPr/>
        </p:nvSpPr>
        <p:spPr>
          <a:xfrm>
            <a:off x="3257550" y="407670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Search by subject, domain, asset type or owner.</a:t>
            </a:r>
          </a:p>
        </p:txBody>
      </p:sp>
      <p:sp>
        <p:nvSpPr>
          <p:cNvPr id="19" name="text-169">
            <a:extLst>
              <a:ext uri="{FF2B5EF4-FFF2-40B4-BE49-F238E27FC236}">
                <ns2:creationId id="{4720373D-E93B-402D-970C-6373006C3771}"/>
              </a:ext>
            </a:extLst>
          </p:cNvPr>
          <p:cNvSpPr>
            <a:spLocks noGrp="1"/>
          </p:cNvSpPr>
          <p:nvPr/>
        </p:nvSpPr>
        <p:spPr>
          <a:xfrm>
            <a:off x="3257550" y="4829175"/>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Inspect its support</a:t>
            </a:r>
          </a:p>
        </p:txBody>
      </p:sp>
      <p:sp>
        <p:nvSpPr>
          <p:cNvPr id="20" name="text-170">
            <a:extLst>
              <a:ext uri="{FF2B5EF4-FFF2-40B4-BE49-F238E27FC236}">
                <ns2:creationId id="{FBF279CD-C2B4-46F7-8744-2970B21AAEDA}"/>
              </a:ext>
            </a:extLst>
          </p:cNvPr>
          <p:cNvSpPr>
            <a:spLocks noGrp="1"/>
          </p:cNvSpPr>
          <p:nvPr/>
        </p:nvSpPr>
        <p:spPr>
          <a:xfrm>
            <a:off x="3257550" y="5305425"/>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Inspect linked evidence, versions, review state and freshness.</a:t>
            </a:r>
          </a:p>
        </p:txBody>
      </p:sp>
      <p:sp>
        <p:nvSpPr>
          <p:cNvPr id="21" name="text-171">
            <a:extLst>
              <a:ext uri="{FF2B5EF4-FFF2-40B4-BE49-F238E27FC236}">
                <ns2:creationId id="{3A21DCE1-9D0B-4312-AF6C-E9A279791554}"/>
              </a:ext>
            </a:extLst>
          </p:cNvPr>
          <p:cNvSpPr>
            <a:spLocks noGrp="1"/>
          </p:cNvSpPr>
          <p:nvPr/>
        </p:nvSpPr>
        <p:spPr>
          <a:xfrm>
            <a:off x="3257550" y="605790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Reuse scoped context</a:t>
            </a:r>
          </a:p>
        </p:txBody>
      </p:sp>
      <p:sp>
        <p:nvSpPr>
          <p:cNvPr id="22" name="text-172">
            <a:extLst>
              <a:ext uri="{FF2B5EF4-FFF2-40B4-BE49-F238E27FC236}">
                <ns2:creationId id="{073B07CB-E3A5-48FB-B634-87CE04176ADD}"/>
              </a:ext>
            </a:extLst>
          </p:cNvPr>
          <p:cNvSpPr>
            <a:spLocks noGrp="1"/>
          </p:cNvSpPr>
          <p:nvPr/>
        </p:nvSpPr>
        <p:spPr>
          <a:xfrm>
            <a:off x="3257550" y="653415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Follow relationships to definitions, capabilities and pending work.</a:t>
            </a:r>
          </a:p>
        </p:txBody>
      </p:sp>
      <p:sp>
        <p:nvSpPr>
          <p:cNvPr id="23" name="shape-173">
            <a:extLst>
              <a:ext uri="{FF2B5EF4-FFF2-40B4-BE49-F238E27FC236}">
                <ns2:creationId id="{7AB6DBF7-A3C7-4C61-907F-F9C38C13DD41}"/>
              </a:ext>
            </a:extLst>
          </p:cNvPr>
          <p:cNvSpPr>
            <a:spLocks noGrp="1"/>
          </p:cNvSpPr>
          <p:nvPr/>
        </p:nvSpPr>
        <p:spPr>
          <a:xfrm>
            <a:off x="10153650" y="2638425"/>
            <a:ext cx="4476750" cy="2657475"/>
          </a:xfrm>
          <a:prstGeom prst="roundRect">
            <a:avLst>
              <a:gd name="adj" fmla="val 2509"/>
            </a:avLst>
          </a:prstGeom>
          <a:solidFill>
            <a:srgbClr val="EEE0DB"/>
          </a:solidFill>
          <a:ln w="0">
            <a:noFill/>
          </a:ln>
        </p:spPr>
      </p:sp>
      <p:sp>
        <p:nvSpPr>
          <p:cNvPr id="24" name="text-174">
            <a:extLst>
              <a:ext uri="{FF2B5EF4-FFF2-40B4-BE49-F238E27FC236}">
                <ns2:creationId id="{8E6B8460-70C4-40FE-AA97-3D706793FF96}"/>
              </a:ext>
            </a:extLst>
          </p:cNvPr>
          <p:cNvSpPr>
            <a:spLocks noGrp="1"/>
          </p:cNvSpPr>
          <p:nvPr/>
        </p:nvSpPr>
        <p:spPr>
          <a:xfrm>
            <a:off x="10420350" y="2876550"/>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Customer benefit</a:t>
            </a:r>
          </a:p>
        </p:txBody>
      </p:sp>
      <p:sp>
        <p:nvSpPr>
          <p:cNvPr id="25" name="text-175">
            <a:extLst>
              <a:ext uri="{FF2B5EF4-FFF2-40B4-BE49-F238E27FC236}">
                <ns2:creationId id="{2990DBCE-8378-4FB3-9191-11726B4F6983}"/>
              </a:ext>
            </a:extLst>
          </p:cNvPr>
          <p:cNvSpPr>
            <a:spLocks noGrp="1"/>
          </p:cNvSpPr>
          <p:nvPr/>
        </p:nvSpPr>
        <p:spPr>
          <a:xfrm>
            <a:off x="10420350" y="3505200"/>
            <a:ext cx="3943350" cy="157162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A reusable asset view preserves meaning and provenance. Customer value is easier discovery and fewer repeated source searches.</a:t>
            </a:r>
          </a:p>
        </p:txBody>
      </p:sp>
      <p:sp>
        <p:nvSpPr>
          <p:cNvPr id="26" name="shape-176">
            <a:extLst>
              <a:ext uri="{FF2B5EF4-FFF2-40B4-BE49-F238E27FC236}">
                <ns2:creationId id="{98678F5D-F2B6-4F45-BF31-74D2C3484253}"/>
              </a:ext>
            </a:extLst>
          </p:cNvPr>
          <p:cNvSpPr>
            <a:spLocks noGrp="1"/>
          </p:cNvSpPr>
          <p:nvPr/>
        </p:nvSpPr>
        <p:spPr>
          <a:xfrm>
            <a:off x="10153650" y="5524500"/>
            <a:ext cx="4476750" cy="2295525"/>
          </a:xfrm>
          <a:prstGeom prst="roundRect">
            <a:avLst>
              <a:gd name="adj" fmla="val 2905"/>
            </a:avLst>
          </a:prstGeom>
          <a:solidFill>
            <a:srgbClr val="FFFFFF"/>
          </a:solidFill>
          <a:ln w="0">
            <a:noFill/>
          </a:ln>
        </p:spPr>
      </p:sp>
      <p:sp>
        <p:nvSpPr>
          <p:cNvPr id="27" name="text-177">
            <a:extLst>
              <a:ext uri="{FF2B5EF4-FFF2-40B4-BE49-F238E27FC236}">
                <ns2:creationId id="{C5EEFAF6-863F-4E1A-9A38-9689D7EB246E}"/>
              </a:ext>
            </a:extLst>
          </p:cNvPr>
          <p:cNvSpPr>
            <a:spLocks noGrp="1"/>
          </p:cNvSpPr>
          <p:nvPr/>
        </p:nvSpPr>
        <p:spPr>
          <a:xfrm>
            <a:off x="10420350" y="5762625"/>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Review and access</a:t>
            </a:r>
          </a:p>
        </p:txBody>
      </p:sp>
      <p:sp>
        <p:nvSpPr>
          <p:cNvPr id="28" name="text-178">
            <a:extLst>
              <a:ext uri="{FF2B5EF4-FFF2-40B4-BE49-F238E27FC236}">
                <ns2:creationId id="{8E818C82-8855-41A3-9D24-1BB74D87B47B}"/>
              </a:ext>
            </a:extLst>
          </p:cNvPr>
          <p:cNvSpPr>
            <a:spLocks noGrp="1"/>
          </p:cNvSpPr>
          <p:nvPr/>
        </p:nvSpPr>
        <p:spPr>
          <a:xfrm>
            <a:off x="10420350" y="6391275"/>
            <a:ext cx="3943350" cy="120967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Search and export respect permitted source and case scopes.</a:t>
            </a:r>
          </a:p>
        </p:txBody>
      </p:sp>
    </p:spTree>
    <p:extLst>
      <p:ext uri="{BB962C8B-B14F-4D97-AF65-F5344CB8AC3E}">
        <ns4:creationId val="1838368199"/>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show="0">
  <p:cSld>
    <p:bg>
      <p:bgPr>
        <a:solidFill>
          <a:srgbClr val="F4F2EE"/>
        </a:solidFill>
      </p:bgPr>
    </p:bg>
    <p:spTree>
      <p:nvGrpSpPr>
        <p:cNvPr id="1" name=""/>
        <p:cNvGrpSpPr/>
        <p:nvPr/>
      </p:nvGrpSpPr>
      <p:grpSpPr>
        <a:xfrm/>
      </p:grpSpPr>
      <p:sp>
        <p:nvSpPr>
          <p:cNvPr id="29" name="text-179">
            <a:extLst>
              <a:ext uri="{FF2B5EF4-FFF2-40B4-BE49-F238E27FC236}">
                <ns2:creationId id="{3D9B4349-197B-4D84-9404-25F0BD48EEF6}"/>
              </a:ext>
            </a:extLst>
          </p:cNvPr>
          <p:cNvSpPr>
            <a:spLocks noGrp="1"/>
          </p:cNvSpPr>
          <p:nvPr/>
        </p:nvSpPr>
        <p:spPr>
          <a:xfrm>
            <a:off x="609600" y="523875"/>
            <a:ext cx="14020800" cy="809625"/>
          </a:xfrm>
          <a:prstGeom prst="rect">
            <a:avLst/>
          </a:prstGeom>
          <a:noFill/>
          <a:ln w="0">
            <a:noFill/>
          </a:ln>
        </p:spPr>
        <p:txBody>
          <a:bodyPr wrap="square" lIns="0" tIns="0" rIns="0" bIns="0" anchor="t">
            <a:noAutofit/>
          </a:bodyPr>
          <a:lstStyle>
            <a:defPPr algn="l">
              <a:defRPr sz="4200" b="0">
                <a:solidFill>
                  <a:srgbClr val="252524"/>
                </a:solidFill>
                <a:latin typeface="Helvetica Neue"/>
                <a:ea typeface="Helvetica Neue"/>
                <a:cs typeface="Helvetica Neue"/>
              </a:defRPr>
            </a:defPPr>
          </a:lstStyle>
          <a:p>
            <a:pPr algn="l">
              <a:lnSpc>
                <a:spcPct val="113000"/>
              </a:lnSpc>
              <a:buNone/>
              <a:defRPr sz="4200" b="0">
                <a:solidFill>
                  <a:srgbClr val="252524"/>
                </a:solidFill>
                <a:latin typeface="Helvetica Neue"/>
                <a:ea typeface="Helvetica Neue"/>
                <a:cs typeface="Helvetica Neue"/>
              </a:defRPr>
            </a:pPr>
            <a:r>
              <a:rPr sz="4200" b="0">
                <a:solidFill>
                  <a:srgbClr val="252524"/>
                </a:solidFill>
                <a:latin typeface="Helvetica Neue"/>
                <a:ea typeface="Helvetica Neue"/>
                <a:cs typeface="Helvetica Neue"/>
              </a:rPr>
              <a:t>Knowledge builder</a:t>
            </a:r>
          </a:p>
        </p:txBody>
      </p:sp>
      <p:sp>
        <p:nvSpPr>
          <p:cNvPr id="2" name="text-180">
            <a:extLst>
              <a:ext uri="{FF2B5EF4-FFF2-40B4-BE49-F238E27FC236}">
                <ns2:creationId id="{BA91B3F8-45F8-4AFB-89EF-24C7ABD81ECE}"/>
              </a:ext>
            </a:extLst>
          </p:cNvPr>
          <p:cNvSpPr>
            <a:spLocks noGrp="1"/>
          </p:cNvSpPr>
          <p:nvPr/>
        </p:nvSpPr>
        <p:spPr>
          <a:xfrm>
            <a:off x="628650" y="1476375"/>
            <a:ext cx="13963650" cy="914400"/>
          </a:xfrm>
          <a:prstGeom prst="rect">
            <a:avLst/>
          </a:prstGeom>
          <a:noFill/>
          <a:ln w="0">
            <a:noFill/>
          </a:ln>
        </p:spPr>
        <p:txBody>
          <a:bodyPr wrap="square" lIns="0" tIns="0" rIns="0" bIns="0" anchor="t">
            <a:noAutofit/>
          </a:bodyPr>
          <a:lstStyle>
            <a:defPPr algn="l">
              <a:defRPr sz="2025" b="0">
                <a:solidFill>
                  <a:srgbClr val="686560"/>
                </a:solidFill>
                <a:latin typeface="Helvetica Neue"/>
                <a:ea typeface="Helvetica Neue"/>
                <a:cs typeface="Helvetica Neue"/>
              </a:defRPr>
            </a:defPPr>
          </a:lstStyle>
          <a:p>
            <a:pPr algn="l">
              <a:lnSpc>
                <a:spcPct val="113000"/>
              </a:lnSpc>
              <a:buNone/>
              <a:defRPr sz="2025" b="0">
                <a:solidFill>
                  <a:srgbClr val="686560"/>
                </a:solidFill>
                <a:latin typeface="Helvetica Neue"/>
                <a:ea typeface="Helvetica Neue"/>
                <a:cs typeface="Helvetica Neue"/>
              </a:defRPr>
            </a:pPr>
            <a:r>
              <a:rPr sz="2025" b="0">
                <a:solidFill>
                  <a:srgbClr val="686560"/>
                </a:solidFill>
                <a:latin typeface="Helvetica Neue"/>
                <a:ea typeface="Helvetica Neue"/>
                <a:cs typeface="Helvetica Neue"/>
              </a:rPr>
              <a:t>A guided workspace maps sources into governed knowledge and assembles reusable context packs.</a:t>
            </a:r>
          </a:p>
        </p:txBody>
      </p:sp>
      <p:sp>
        <p:nvSpPr>
          <p:cNvPr id="3" name="shape-181">
            <a:extLst>
              <a:ext uri="{FF2B5EF4-FFF2-40B4-BE49-F238E27FC236}">
                <ns2:creationId id="{5204EA7F-ACCB-4055-AF4E-7E63C8893EF4}"/>
              </a:ext>
            </a:extLst>
          </p:cNvPr>
          <p:cNvSpPr>
            <a:spLocks noGrp="1"/>
          </p:cNvSpPr>
          <p:nvPr/>
        </p:nvSpPr>
        <p:spPr>
          <a:xfrm>
            <a:off x="609600" y="8153400"/>
            <a:ext cx="14020800" cy="0"/>
          </a:xfrm>
          <a:prstGeom prst="line">
            <a:avLst/>
          </a:prstGeom>
          <a:noFill/>
          <a:ln w="9525">
            <a:solidFill>
              <a:srgbClr val="D6D2CB"/>
            </a:solidFill>
          </a:ln>
        </p:spPr>
      </p:sp>
      <p:sp>
        <p:nvSpPr>
          <p:cNvPr id="4" name="text-182">
            <a:extLst>
              <a:ext uri="{FF2B5EF4-FFF2-40B4-BE49-F238E27FC236}">
                <ns2:creationId id="{372B1C32-7791-493E-8421-A8C572056319}"/>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686560"/>
                </a:solidFill>
                <a:latin typeface="Helvetica Neue"/>
                <a:ea typeface="Helvetica Neue"/>
                <a:cs typeface="Helvetica Neue"/>
              </a:defRPr>
            </a:defPPr>
          </a:lstStyle>
          <a:p>
            <a:pPr algn="r">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08</a:t>
            </a:r>
          </a:p>
        </p:txBody>
      </p:sp>
      <p:sp>
        <p:nvSpPr>
          <p:cNvPr id="5" name="shape-183">
            <a:extLst>
              <a:ext uri="{FF2B5EF4-FFF2-40B4-BE49-F238E27FC236}">
                <ns2:creationId id="{6EB0C10E-CA95-4C06-8754-E5A3D5F80B44}"/>
              </a:ext>
            </a:extLst>
          </p:cNvPr>
          <p:cNvSpPr>
            <a:spLocks noGrp="1"/>
          </p:cNvSpPr>
          <p:nvPr/>
        </p:nvSpPr>
        <p:spPr>
          <a:xfrm>
            <a:off x="609600" y="2638425"/>
            <a:ext cx="2152650" cy="5181600"/>
          </a:xfrm>
          <a:prstGeom prst="roundRect">
            <a:avLst>
              <a:gd name="adj" fmla="val 3097"/>
            </a:avLst>
          </a:prstGeom>
          <a:solidFill>
            <a:srgbClr val="252524"/>
          </a:solidFill>
          <a:ln w="0">
            <a:noFill/>
          </a:ln>
        </p:spPr>
      </p:sp>
      <p:sp>
        <p:nvSpPr>
          <p:cNvPr id="6" name="text-184">
            <a:extLst>
              <a:ext uri="{FF2B5EF4-FFF2-40B4-BE49-F238E27FC236}">
                <ns2:creationId id="{7E3875C2-A6BB-4C75-9795-2357769B2283}"/>
              </a:ext>
            </a:extLst>
          </p:cNvPr>
          <p:cNvSpPr>
            <a:spLocks noGrp="1"/>
          </p:cNvSpPr>
          <p:nvPr/>
        </p:nvSpPr>
        <p:spPr>
          <a:xfrm>
            <a:off x="838200" y="2905125"/>
            <a:ext cx="1695450" cy="647700"/>
          </a:xfrm>
          <a:prstGeom prst="rect">
            <a:avLst/>
          </a:prstGeom>
          <a:noFill/>
          <a:ln w="0">
            <a:noFill/>
          </a:ln>
        </p:spPr>
        <p:txBody>
          <a:bodyPr wrap="square" lIns="0" tIns="0" rIns="0" bIns="0" anchor="t">
            <a:noAutofit/>
          </a:bodyPr>
          <a:lstStyle>
            <a:defPPr algn="l">
              <a:defRPr sz="1875" b="0">
                <a:solidFill>
                  <a:srgbClr val="FFFFFF"/>
                </a:solidFill>
                <a:latin typeface="Helvetica Neue"/>
                <a:ea typeface="Helvetica Neue"/>
                <a:cs typeface="Helvetica Neue"/>
              </a:defRPr>
            </a:defPPr>
          </a:lstStyle>
          <a:p>
            <a:pPr algn="l">
              <a:lnSpc>
                <a:spcPct val="113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Workspace areas</a:t>
            </a:r>
          </a:p>
        </p:txBody>
      </p:sp>
      <p:sp>
        <p:nvSpPr>
          <p:cNvPr id="7" name="text-185">
            <a:hlinkClick r:id="Race9377d2bc34d70" action="ppaction://hlinksldjump"/>
            <a:extLst>
              <a:ext uri="{FF2B5EF4-FFF2-40B4-BE49-F238E27FC236}">
                <ns2:creationId id="{9ECE063E-003A-4BB6-800F-4E009F2DA075}"/>
              </a:ext>
            </a:extLst>
          </p:cNvPr>
          <p:cNvSpPr>
            <a:spLocks noGrp="1"/>
          </p:cNvSpPr>
          <p:nvPr/>
        </p:nvSpPr>
        <p:spPr>
          <a:xfrm>
            <a:off x="876300" y="38004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ace9377d2bc34d70" action="ppaction://hlinksldjump"/>
              </a:rPr>
              <a:t>Catalogue</a:t>
            </a:r>
          </a:p>
        </p:txBody>
      </p:sp>
      <p:sp>
        <p:nvSpPr>
          <p:cNvPr id="8" name="shape-186">
            <a:extLst>
              <a:ext uri="{FF2B5EF4-FFF2-40B4-BE49-F238E27FC236}">
                <ns2:creationId id="{330EA10E-7C98-43DD-9C85-F0D6B650F6A6}"/>
              </a:ext>
            </a:extLst>
          </p:cNvPr>
          <p:cNvSpPr>
            <a:spLocks noGrp="1"/>
          </p:cNvSpPr>
          <p:nvPr/>
        </p:nvSpPr>
        <p:spPr>
          <a:xfrm>
            <a:off x="762000" y="4210050"/>
            <a:ext cx="1847850" cy="400050"/>
          </a:xfrm>
          <a:prstGeom prst="roundRect">
            <a:avLst>
              <a:gd name="adj" fmla="val 11905"/>
            </a:avLst>
          </a:prstGeom>
          <a:solidFill>
            <a:srgbClr val="C9433C"/>
          </a:solidFill>
          <a:ln w="0">
            <a:noFill/>
          </a:ln>
        </p:spPr>
      </p:sp>
      <p:sp>
        <p:nvSpPr>
          <p:cNvPr id="9" name="text-187">
            <a:hlinkClick r:id="Rb69ca8e759984127" action="ppaction://hlinksldjump"/>
            <a:extLst>
              <a:ext uri="{FF2B5EF4-FFF2-40B4-BE49-F238E27FC236}">
                <ns2:creationId id="{CA9B5588-37FD-4C83-993B-A736723BC160}"/>
              </a:ext>
            </a:extLst>
          </p:cNvPr>
          <p:cNvSpPr>
            <a:spLocks noGrp="1"/>
          </p:cNvSpPr>
          <p:nvPr/>
        </p:nvSpPr>
        <p:spPr>
          <a:xfrm>
            <a:off x="876300" y="42672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b69ca8e759984127" action="ppaction://hlinksldjump"/>
              </a:rPr>
              <a:t>Builder</a:t>
            </a:r>
          </a:p>
        </p:txBody>
      </p:sp>
      <p:sp>
        <p:nvSpPr>
          <p:cNvPr id="10" name="text-188">
            <a:hlinkClick r:id="R4e635505f3944fbf" action="ppaction://hlinksldjump"/>
            <a:extLst>
              <a:ext uri="{FF2B5EF4-FFF2-40B4-BE49-F238E27FC236}">
                <ns2:creationId id="{38ABB9B2-963E-40D1-AD26-4520D1C19BF4}"/>
              </a:ext>
            </a:extLst>
          </p:cNvPr>
          <p:cNvSpPr>
            <a:spLocks noGrp="1"/>
          </p:cNvSpPr>
          <p:nvPr/>
        </p:nvSpPr>
        <p:spPr>
          <a:xfrm>
            <a:off x="876300" y="473392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4e635505f3944fbf" action="ppaction://hlinksldjump"/>
              </a:rPr>
              <a:t>Reauthoring</a:t>
            </a:r>
          </a:p>
        </p:txBody>
      </p:sp>
      <p:sp>
        <p:nvSpPr>
          <p:cNvPr id="11" name="text-189">
            <a:hlinkClick r:id="Rbe5482473b4644ff" action="ppaction://hlinksldjump"/>
            <a:extLst>
              <a:ext uri="{FF2B5EF4-FFF2-40B4-BE49-F238E27FC236}">
                <ns2:creationId id="{F9534AC4-BB4D-465E-92EA-A41EE1B578D9}"/>
              </a:ext>
            </a:extLst>
          </p:cNvPr>
          <p:cNvSpPr>
            <a:spLocks noGrp="1"/>
          </p:cNvSpPr>
          <p:nvPr/>
        </p:nvSpPr>
        <p:spPr>
          <a:xfrm>
            <a:off x="876300" y="520065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be5482473b4644ff" action="ppaction://hlinksldjump"/>
              </a:rPr>
              <a:t>Ontology</a:t>
            </a:r>
          </a:p>
        </p:txBody>
      </p:sp>
      <p:sp>
        <p:nvSpPr>
          <p:cNvPr id="12" name="text-190">
            <a:hlinkClick r:id="R732f95810a024844" action="ppaction://hlinksldjump"/>
            <a:extLst>
              <a:ext uri="{FF2B5EF4-FFF2-40B4-BE49-F238E27FC236}">
                <ns2:creationId id="{32AC9772-D82C-4AC3-9B3B-078777DFF34B}"/>
              </a:ext>
            </a:extLst>
          </p:cNvPr>
          <p:cNvSpPr>
            <a:spLocks noGrp="1"/>
          </p:cNvSpPr>
          <p:nvPr/>
        </p:nvSpPr>
        <p:spPr>
          <a:xfrm>
            <a:off x="876300" y="56673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732f95810a024844" action="ppaction://hlinksldjump"/>
              </a:rPr>
              <a:t>Agents</a:t>
            </a:r>
          </a:p>
        </p:txBody>
      </p:sp>
      <p:sp>
        <p:nvSpPr>
          <p:cNvPr id="13" name="text-191">
            <a:hlinkClick r:id="Rbf145e83215a49db" action="ppaction://hlinksldjump"/>
            <a:extLst>
              <a:ext uri="{FF2B5EF4-FFF2-40B4-BE49-F238E27FC236}">
                <ns2:creationId id="{5E755AD8-FE99-45A5-968E-EF72B598CB48}"/>
              </a:ext>
            </a:extLst>
          </p:cNvPr>
          <p:cNvSpPr>
            <a:spLocks noGrp="1"/>
          </p:cNvSpPr>
          <p:nvPr/>
        </p:nvSpPr>
        <p:spPr>
          <a:xfrm>
            <a:off x="876300" y="61341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bf145e83215a49db" action="ppaction://hlinksldjump"/>
              </a:rPr>
              <a:t>Memory</a:t>
            </a:r>
          </a:p>
        </p:txBody>
      </p:sp>
      <p:sp>
        <p:nvSpPr>
          <p:cNvPr id="14" name="text-192">
            <a:hlinkClick r:id="R7b2cc4ef91674b6b" action="ppaction://hlinksldjump"/>
            <a:extLst>
              <a:ext uri="{FF2B5EF4-FFF2-40B4-BE49-F238E27FC236}">
                <ns2:creationId id="{A24308EC-28CC-449D-A22B-9DD3DC024350}"/>
              </a:ext>
            </a:extLst>
          </p:cNvPr>
          <p:cNvSpPr>
            <a:spLocks noGrp="1"/>
          </p:cNvSpPr>
          <p:nvPr/>
        </p:nvSpPr>
        <p:spPr>
          <a:xfrm>
            <a:off x="838200" y="6991350"/>
            <a:ext cx="1695450" cy="6667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40f58641ebc54ed6" action="ppaction://hlinksldjump"/>
              </a:rPr>
              <a:t>Back to</a:t>
            </a:r>
          </a:p>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7b2cc4ef91674b6b" action="ppaction://hlinksldjump"/>
              </a:rPr>
              <a:t>workspace</a:t>
            </a:r>
          </a:p>
        </p:txBody>
      </p:sp>
      <p:sp>
        <p:nvSpPr>
          <p:cNvPr id="15" name="shape-193">
            <a:extLst>
              <a:ext uri="{FF2B5EF4-FFF2-40B4-BE49-F238E27FC236}">
                <ns2:creationId id="{5A8ABB53-63FF-4D56-ADF7-B80BDDB093B9}"/>
              </a:ext>
            </a:extLst>
          </p:cNvPr>
          <p:cNvSpPr>
            <a:spLocks noGrp="1"/>
          </p:cNvSpPr>
          <p:nvPr/>
        </p:nvSpPr>
        <p:spPr>
          <a:xfrm>
            <a:off x="2990850" y="2638425"/>
            <a:ext cx="6934200" cy="5181600"/>
          </a:xfrm>
          <a:prstGeom prst="roundRect">
            <a:avLst>
              <a:gd name="adj" fmla="val 1287"/>
            </a:avLst>
          </a:prstGeom>
          <a:solidFill>
            <a:srgbClr val="FFFFFF"/>
          </a:solidFill>
          <a:ln w="0">
            <a:noFill/>
          </a:ln>
        </p:spPr>
      </p:sp>
      <p:sp>
        <p:nvSpPr>
          <p:cNvPr id="16" name="text-194">
            <a:extLst>
              <a:ext uri="{FF2B5EF4-FFF2-40B4-BE49-F238E27FC236}">
                <ns2:creationId id="{BAF26F05-4FFC-4F5F-A053-6099A0F0E96F}"/>
              </a:ext>
            </a:extLst>
          </p:cNvPr>
          <p:cNvSpPr>
            <a:spLocks noGrp="1"/>
          </p:cNvSpPr>
          <p:nvPr/>
        </p:nvSpPr>
        <p:spPr>
          <a:xfrm>
            <a:off x="3257550" y="2876550"/>
            <a:ext cx="6400800" cy="495300"/>
          </a:xfrm>
          <a:prstGeom prst="rect">
            <a:avLst/>
          </a:prstGeom>
          <a:noFill/>
          <a:ln w="0">
            <a:noFill/>
          </a:ln>
        </p:spPr>
        <p:txBody>
          <a:bodyPr wrap="square" lIns="0" tIns="0" rIns="0" bIns="0" anchor="t">
            <a:noAutofit/>
          </a:bodyPr>
          <a:lstStyle>
            <a:defPPr algn="l">
              <a:defRPr sz="2550" b="0">
                <a:solidFill>
                  <a:srgbClr val="252524"/>
                </a:solidFill>
                <a:latin typeface="Helvetica Neue"/>
                <a:ea typeface="Helvetica Neue"/>
                <a:cs typeface="Helvetica Neue"/>
              </a:defRPr>
            </a:defPPr>
          </a:lstStyle>
          <a:p>
            <a:pPr algn="l">
              <a:lnSpc>
                <a:spcPct val="113000"/>
              </a:lnSpc>
              <a:buNone/>
              <a:defRPr sz="2550" b="0">
                <a:solidFill>
                  <a:srgbClr val="252524"/>
                </a:solidFill>
                <a:latin typeface="Helvetica Neue"/>
                <a:ea typeface="Helvetica Neue"/>
                <a:cs typeface="Helvetica Neue"/>
              </a:defRPr>
            </a:pPr>
            <a:r>
              <a:rPr sz="2550" b="0">
                <a:solidFill>
                  <a:srgbClr val="252524"/>
                </a:solidFill>
                <a:latin typeface="Helvetica Neue"/>
                <a:ea typeface="Helvetica Neue"/>
                <a:cs typeface="Helvetica Neue"/>
              </a:rPr>
              <a:t>Customer workflow</a:t>
            </a:r>
          </a:p>
        </p:txBody>
      </p:sp>
      <p:sp>
        <p:nvSpPr>
          <p:cNvPr id="17" name="text-195">
            <a:extLst>
              <a:ext uri="{FF2B5EF4-FFF2-40B4-BE49-F238E27FC236}">
                <ns2:creationId id="{4C96D231-39BB-455B-A726-5446D98C2502}"/>
              </a:ext>
            </a:extLst>
          </p:cNvPr>
          <p:cNvSpPr>
            <a:spLocks noGrp="1"/>
          </p:cNvSpPr>
          <p:nvPr/>
        </p:nvSpPr>
        <p:spPr>
          <a:xfrm>
            <a:off x="3257550" y="360045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Connect sources</a:t>
            </a:r>
          </a:p>
        </p:txBody>
      </p:sp>
      <p:sp>
        <p:nvSpPr>
          <p:cNvPr id="18" name="text-196">
            <a:extLst>
              <a:ext uri="{FF2B5EF4-FFF2-40B4-BE49-F238E27FC236}">
                <ns2:creationId id="{EBD3ADEC-7FE9-4483-A956-F9D91E6ABC3D}"/>
              </a:ext>
            </a:extLst>
          </p:cNvPr>
          <p:cNvSpPr>
            <a:spLocks noGrp="1"/>
          </p:cNvSpPr>
          <p:nvPr/>
        </p:nvSpPr>
        <p:spPr>
          <a:xfrm>
            <a:off x="3257550" y="407670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Capture sources and pin their exact module versions.</a:t>
            </a:r>
          </a:p>
        </p:txBody>
      </p:sp>
      <p:sp>
        <p:nvSpPr>
          <p:cNvPr id="19" name="text-197">
            <a:extLst>
              <a:ext uri="{FF2B5EF4-FFF2-40B4-BE49-F238E27FC236}">
                <ns2:creationId id="{59F28425-CBB4-4DAD-BFF3-DF4E9813103F}"/>
              </a:ext>
            </a:extLst>
          </p:cNvPr>
          <p:cNvSpPr>
            <a:spLocks noGrp="1"/>
          </p:cNvSpPr>
          <p:nvPr/>
        </p:nvSpPr>
        <p:spPr>
          <a:xfrm>
            <a:off x="3257550" y="4829175"/>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Map and validate</a:t>
            </a:r>
          </a:p>
        </p:txBody>
      </p:sp>
      <p:sp>
        <p:nvSpPr>
          <p:cNvPr id="20" name="text-198">
            <a:extLst>
              <a:ext uri="{FF2B5EF4-FFF2-40B4-BE49-F238E27FC236}">
                <ns2:creationId id="{8DD5F964-50EB-430C-902F-45CB0D748048}"/>
              </a:ext>
            </a:extLst>
          </p:cNvPr>
          <p:cNvSpPr>
            <a:spLocks noGrp="1"/>
          </p:cNvSpPr>
          <p:nvPr/>
        </p:nvSpPr>
        <p:spPr>
          <a:xfrm>
            <a:off x="3257550" y="5305425"/>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Map fields and source spans to typed assertions and identities.</a:t>
            </a:r>
          </a:p>
        </p:txBody>
      </p:sp>
      <p:sp>
        <p:nvSpPr>
          <p:cNvPr id="21" name="text-199">
            <a:extLst>
              <a:ext uri="{FF2B5EF4-FFF2-40B4-BE49-F238E27FC236}">
                <ns2:creationId id="{CD8C0744-ADEB-4C78-9365-5FF44707CBE3}"/>
              </a:ext>
            </a:extLst>
          </p:cNvPr>
          <p:cNvSpPr>
            <a:spLocks noGrp="1"/>
          </p:cNvSpPr>
          <p:nvPr/>
        </p:nvSpPr>
        <p:spPr>
          <a:xfrm>
            <a:off x="3257550" y="605790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Review and publish</a:t>
            </a:r>
          </a:p>
        </p:txBody>
      </p:sp>
      <p:sp>
        <p:nvSpPr>
          <p:cNvPr id="22" name="text-200">
            <a:extLst>
              <a:ext uri="{FF2B5EF4-FFF2-40B4-BE49-F238E27FC236}">
                <ns2:creationId id="{10BACED7-3076-42A6-B361-F657614112C7}"/>
              </a:ext>
            </a:extLst>
          </p:cNvPr>
          <p:cNvSpPr>
            <a:spLocks noGrp="1"/>
          </p:cNvSpPr>
          <p:nvPr/>
        </p:nvSpPr>
        <p:spPr>
          <a:xfrm>
            <a:off x="3257550" y="653415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Preview validation and obtain steward review before publication.</a:t>
            </a:r>
          </a:p>
        </p:txBody>
      </p:sp>
      <p:sp>
        <p:nvSpPr>
          <p:cNvPr id="23" name="shape-201">
            <a:extLst>
              <a:ext uri="{FF2B5EF4-FFF2-40B4-BE49-F238E27FC236}">
                <ns2:creationId id="{0D1D9E97-F8AC-4D68-837C-F9A669789384}"/>
              </a:ext>
            </a:extLst>
          </p:cNvPr>
          <p:cNvSpPr>
            <a:spLocks noGrp="1"/>
          </p:cNvSpPr>
          <p:nvPr/>
        </p:nvSpPr>
        <p:spPr>
          <a:xfrm>
            <a:off x="10153650" y="2638425"/>
            <a:ext cx="4476750" cy="2657475"/>
          </a:xfrm>
          <a:prstGeom prst="roundRect">
            <a:avLst>
              <a:gd name="adj" fmla="val 2509"/>
            </a:avLst>
          </a:prstGeom>
          <a:solidFill>
            <a:srgbClr val="EEE0DB"/>
          </a:solidFill>
          <a:ln w="0">
            <a:noFill/>
          </a:ln>
        </p:spPr>
      </p:sp>
      <p:sp>
        <p:nvSpPr>
          <p:cNvPr id="24" name="text-202">
            <a:extLst>
              <a:ext uri="{FF2B5EF4-FFF2-40B4-BE49-F238E27FC236}">
                <ns2:creationId id="{8FF607AB-FC9F-4BBD-A515-00014A6A142E}"/>
              </a:ext>
            </a:extLst>
          </p:cNvPr>
          <p:cNvSpPr>
            <a:spLocks noGrp="1"/>
          </p:cNvSpPr>
          <p:nvPr/>
        </p:nvSpPr>
        <p:spPr>
          <a:xfrm>
            <a:off x="10420350" y="2876550"/>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Customer benefit</a:t>
            </a:r>
          </a:p>
        </p:txBody>
      </p:sp>
      <p:sp>
        <p:nvSpPr>
          <p:cNvPr id="25" name="text-203">
            <a:extLst>
              <a:ext uri="{FF2B5EF4-FFF2-40B4-BE49-F238E27FC236}">
                <ns2:creationId id="{D7D6437D-7023-4AE6-A102-6BF5E9B2109F}"/>
              </a:ext>
            </a:extLst>
          </p:cNvPr>
          <p:cNvSpPr>
            <a:spLocks noGrp="1"/>
          </p:cNvSpPr>
          <p:nvPr/>
        </p:nvSpPr>
        <p:spPr>
          <a:xfrm>
            <a:off x="10420350" y="3505200"/>
            <a:ext cx="3943350" cy="157162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A versioned context pack combines reviewed meanings, source evidence and approved procedures. Customer value is reusable preparation across clients.</a:t>
            </a:r>
          </a:p>
        </p:txBody>
      </p:sp>
      <p:sp>
        <p:nvSpPr>
          <p:cNvPr id="26" name="shape-204">
            <a:extLst>
              <a:ext uri="{FF2B5EF4-FFF2-40B4-BE49-F238E27FC236}">
                <ns2:creationId id="{3C91A777-18E9-49A5-8CCB-2613C20EBF04}"/>
              </a:ext>
            </a:extLst>
          </p:cNvPr>
          <p:cNvSpPr>
            <a:spLocks noGrp="1"/>
          </p:cNvSpPr>
          <p:nvPr/>
        </p:nvSpPr>
        <p:spPr>
          <a:xfrm>
            <a:off x="10153650" y="5524500"/>
            <a:ext cx="4476750" cy="2295525"/>
          </a:xfrm>
          <a:prstGeom prst="roundRect">
            <a:avLst>
              <a:gd name="adj" fmla="val 2905"/>
            </a:avLst>
          </a:prstGeom>
          <a:solidFill>
            <a:srgbClr val="FFFFFF"/>
          </a:solidFill>
          <a:ln w="0">
            <a:noFill/>
          </a:ln>
        </p:spPr>
      </p:sp>
      <p:sp>
        <p:nvSpPr>
          <p:cNvPr id="27" name="text-205">
            <a:extLst>
              <a:ext uri="{FF2B5EF4-FFF2-40B4-BE49-F238E27FC236}">
                <ns2:creationId id="{676BF88B-697D-495C-AF57-013EE29EBBEA}"/>
              </a:ext>
            </a:extLst>
          </p:cNvPr>
          <p:cNvSpPr>
            <a:spLocks noGrp="1"/>
          </p:cNvSpPr>
          <p:nvPr/>
        </p:nvSpPr>
        <p:spPr>
          <a:xfrm>
            <a:off x="10420350" y="5762625"/>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Review and access</a:t>
            </a:r>
          </a:p>
        </p:txBody>
      </p:sp>
      <p:sp>
        <p:nvSpPr>
          <p:cNvPr id="28" name="text-206">
            <a:extLst>
              <a:ext uri="{FF2B5EF4-FFF2-40B4-BE49-F238E27FC236}">
                <ns2:creationId id="{5BC4AFF6-1F0A-4247-9857-A4BFF3F2A4C6}"/>
              </a:ext>
            </a:extLst>
          </p:cNvPr>
          <p:cNvSpPr>
            <a:spLocks noGrp="1"/>
          </p:cNvSpPr>
          <p:nvPr/>
        </p:nvSpPr>
        <p:spPr>
          <a:xfrm>
            <a:off x="10420350" y="6391275"/>
            <a:ext cx="3943350" cy="120967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AI suggests mappings. Invalid input stays staged until validation and steward review.</a:t>
            </a:r>
          </a:p>
        </p:txBody>
      </p:sp>
    </p:spTree>
    <p:extLst>
      <p:ext uri="{BB962C8B-B14F-4D97-AF65-F5344CB8AC3E}">
        <ns4:creationId val="1044537407"/>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show="0">
  <p:cSld>
    <p:bg>
      <p:bgPr>
        <a:solidFill>
          <a:srgbClr val="F4F2EE"/>
        </a:solidFill>
      </p:bgPr>
    </p:bg>
    <p:spTree>
      <p:nvGrpSpPr>
        <p:cNvPr id="1" name=""/>
        <p:cNvGrpSpPr/>
        <p:nvPr/>
      </p:nvGrpSpPr>
      <p:grpSpPr>
        <a:xfrm/>
      </p:grpSpPr>
      <p:sp>
        <p:nvSpPr>
          <p:cNvPr id="29" name="text-207">
            <a:extLst>
              <a:ext uri="{FF2B5EF4-FFF2-40B4-BE49-F238E27FC236}">
                <ns2:creationId id="{DB5AF253-30D1-4EED-AB1D-9F33D8C6019B}"/>
              </a:ext>
            </a:extLst>
          </p:cNvPr>
          <p:cNvSpPr>
            <a:spLocks noGrp="1"/>
          </p:cNvSpPr>
          <p:nvPr/>
        </p:nvSpPr>
        <p:spPr>
          <a:xfrm>
            <a:off x="609600" y="523875"/>
            <a:ext cx="14020800" cy="809625"/>
          </a:xfrm>
          <a:prstGeom prst="rect">
            <a:avLst/>
          </a:prstGeom>
          <a:noFill/>
          <a:ln w="0">
            <a:noFill/>
          </a:ln>
        </p:spPr>
        <p:txBody>
          <a:bodyPr wrap="square" lIns="0" tIns="0" rIns="0" bIns="0" anchor="t">
            <a:noAutofit/>
          </a:bodyPr>
          <a:lstStyle>
            <a:defPPr algn="l">
              <a:defRPr sz="4200" b="0">
                <a:solidFill>
                  <a:srgbClr val="252524"/>
                </a:solidFill>
                <a:latin typeface="Helvetica Neue"/>
                <a:ea typeface="Helvetica Neue"/>
                <a:cs typeface="Helvetica Neue"/>
              </a:defRPr>
            </a:defPPr>
          </a:lstStyle>
          <a:p>
            <a:pPr algn="l">
              <a:lnSpc>
                <a:spcPct val="113000"/>
              </a:lnSpc>
              <a:buNone/>
              <a:defRPr sz="4200" b="0">
                <a:solidFill>
                  <a:srgbClr val="252524"/>
                </a:solidFill>
                <a:latin typeface="Helvetica Neue"/>
                <a:ea typeface="Helvetica Neue"/>
                <a:cs typeface="Helvetica Neue"/>
              </a:defRPr>
            </a:pPr>
            <a:r>
              <a:rPr sz="4200" b="0">
                <a:solidFill>
                  <a:srgbClr val="252524"/>
                </a:solidFill>
                <a:latin typeface="Helvetica Neue"/>
                <a:ea typeface="Helvetica Neue"/>
                <a:cs typeface="Helvetica Neue"/>
              </a:rPr>
              <a:t>Reauthoring</a:t>
            </a:r>
          </a:p>
        </p:txBody>
      </p:sp>
      <p:sp>
        <p:nvSpPr>
          <p:cNvPr id="2" name="text-208">
            <a:extLst>
              <a:ext uri="{FF2B5EF4-FFF2-40B4-BE49-F238E27FC236}">
                <ns2:creationId id="{3C94999F-4DF0-4CC9-BBF1-45C7D9C97F2A}"/>
              </a:ext>
            </a:extLst>
          </p:cNvPr>
          <p:cNvSpPr>
            <a:spLocks noGrp="1"/>
          </p:cNvSpPr>
          <p:nvPr/>
        </p:nvSpPr>
        <p:spPr>
          <a:xfrm>
            <a:off x="628650" y="1476375"/>
            <a:ext cx="13963650" cy="914400"/>
          </a:xfrm>
          <a:prstGeom prst="rect">
            <a:avLst/>
          </a:prstGeom>
          <a:noFill/>
          <a:ln w="0">
            <a:noFill/>
          </a:ln>
        </p:spPr>
        <p:txBody>
          <a:bodyPr wrap="square" lIns="0" tIns="0" rIns="0" bIns="0" anchor="t">
            <a:noAutofit/>
          </a:bodyPr>
          <a:lstStyle>
            <a:defPPr algn="l">
              <a:defRPr sz="2025" b="0">
                <a:solidFill>
                  <a:srgbClr val="686560"/>
                </a:solidFill>
                <a:latin typeface="Helvetica Neue"/>
                <a:ea typeface="Helvetica Neue"/>
                <a:cs typeface="Helvetica Neue"/>
              </a:defRPr>
            </a:defPPr>
          </a:lstStyle>
          <a:p>
            <a:pPr algn="l">
              <a:lnSpc>
                <a:spcPct val="113000"/>
              </a:lnSpc>
              <a:buNone/>
              <a:defRPr sz="2025" b="0">
                <a:solidFill>
                  <a:srgbClr val="686560"/>
                </a:solidFill>
                <a:latin typeface="Helvetica Neue"/>
                <a:ea typeface="Helvetica Neue"/>
                <a:cs typeface="Helvetica Neue"/>
              </a:defRPr>
            </a:pPr>
            <a:r>
              <a:rPr sz="2025" b="0">
                <a:solidFill>
                  <a:srgbClr val="686560"/>
                </a:solidFill>
                <a:latin typeface="Helvetica Neue"/>
                <a:ea typeface="Helvetica Neue"/>
                <a:cs typeface="Helvetica Neue"/>
              </a:rPr>
              <a:t>Customers revise knowledge through reviewed source patches that preserve attribution and identify affected work.</a:t>
            </a:r>
          </a:p>
        </p:txBody>
      </p:sp>
      <p:sp>
        <p:nvSpPr>
          <p:cNvPr id="3" name="shape-209">
            <a:extLst>
              <a:ext uri="{FF2B5EF4-FFF2-40B4-BE49-F238E27FC236}">
                <ns2:creationId id="{2DD186D2-E11A-43C4-92F0-6D1AA94B3AEB}"/>
              </a:ext>
            </a:extLst>
          </p:cNvPr>
          <p:cNvSpPr>
            <a:spLocks noGrp="1"/>
          </p:cNvSpPr>
          <p:nvPr/>
        </p:nvSpPr>
        <p:spPr>
          <a:xfrm>
            <a:off x="609600" y="8153400"/>
            <a:ext cx="14020800" cy="0"/>
          </a:xfrm>
          <a:prstGeom prst="line">
            <a:avLst/>
          </a:prstGeom>
          <a:noFill/>
          <a:ln w="9525">
            <a:solidFill>
              <a:srgbClr val="D6D2CB"/>
            </a:solidFill>
          </a:ln>
        </p:spPr>
      </p:sp>
      <p:sp>
        <p:nvSpPr>
          <p:cNvPr id="4" name="text-210">
            <a:extLst>
              <a:ext uri="{FF2B5EF4-FFF2-40B4-BE49-F238E27FC236}">
                <ns2:creationId id="{6CB85CC2-E5A4-4BAE-82B4-78437E552338}"/>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686560"/>
                </a:solidFill>
                <a:latin typeface="Helvetica Neue"/>
                <a:ea typeface="Helvetica Neue"/>
                <a:cs typeface="Helvetica Neue"/>
              </a:defRPr>
            </a:defPPr>
          </a:lstStyle>
          <a:p>
            <a:pPr algn="r">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09</a:t>
            </a:r>
          </a:p>
        </p:txBody>
      </p:sp>
      <p:sp>
        <p:nvSpPr>
          <p:cNvPr id="5" name="shape-211">
            <a:extLst>
              <a:ext uri="{FF2B5EF4-FFF2-40B4-BE49-F238E27FC236}">
                <ns2:creationId id="{0E4543F4-02B1-4CFA-9918-474DB5514E46}"/>
              </a:ext>
            </a:extLst>
          </p:cNvPr>
          <p:cNvSpPr>
            <a:spLocks noGrp="1"/>
          </p:cNvSpPr>
          <p:nvPr/>
        </p:nvSpPr>
        <p:spPr>
          <a:xfrm>
            <a:off x="609600" y="2638425"/>
            <a:ext cx="2152650" cy="5181600"/>
          </a:xfrm>
          <a:prstGeom prst="roundRect">
            <a:avLst>
              <a:gd name="adj" fmla="val 3097"/>
            </a:avLst>
          </a:prstGeom>
          <a:solidFill>
            <a:srgbClr val="252524"/>
          </a:solidFill>
          <a:ln w="0">
            <a:noFill/>
          </a:ln>
        </p:spPr>
      </p:sp>
      <p:sp>
        <p:nvSpPr>
          <p:cNvPr id="6" name="text-212">
            <a:extLst>
              <a:ext uri="{FF2B5EF4-FFF2-40B4-BE49-F238E27FC236}">
                <ns2:creationId id="{B66098BD-CF34-4815-8FB8-D42BC08A9BA0}"/>
              </a:ext>
            </a:extLst>
          </p:cNvPr>
          <p:cNvSpPr>
            <a:spLocks noGrp="1"/>
          </p:cNvSpPr>
          <p:nvPr/>
        </p:nvSpPr>
        <p:spPr>
          <a:xfrm>
            <a:off x="838200" y="2905125"/>
            <a:ext cx="1695450" cy="647700"/>
          </a:xfrm>
          <a:prstGeom prst="rect">
            <a:avLst/>
          </a:prstGeom>
          <a:noFill/>
          <a:ln w="0">
            <a:noFill/>
          </a:ln>
        </p:spPr>
        <p:txBody>
          <a:bodyPr wrap="square" lIns="0" tIns="0" rIns="0" bIns="0" anchor="t">
            <a:noAutofit/>
          </a:bodyPr>
          <a:lstStyle>
            <a:defPPr algn="l">
              <a:defRPr sz="1875" b="0">
                <a:solidFill>
                  <a:srgbClr val="FFFFFF"/>
                </a:solidFill>
                <a:latin typeface="Helvetica Neue"/>
                <a:ea typeface="Helvetica Neue"/>
                <a:cs typeface="Helvetica Neue"/>
              </a:defRPr>
            </a:defPPr>
          </a:lstStyle>
          <a:p>
            <a:pPr algn="l">
              <a:lnSpc>
                <a:spcPct val="113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Workspace areas</a:t>
            </a:r>
          </a:p>
        </p:txBody>
      </p:sp>
      <p:sp>
        <p:nvSpPr>
          <p:cNvPr id="7" name="text-213">
            <a:hlinkClick r:id="R29dd0b8525c24b07" action="ppaction://hlinksldjump"/>
            <a:extLst>
              <a:ext uri="{FF2B5EF4-FFF2-40B4-BE49-F238E27FC236}">
                <ns2:creationId id="{3741BC79-0EF1-4009-AD11-D008BF9672A4}"/>
              </a:ext>
            </a:extLst>
          </p:cNvPr>
          <p:cNvSpPr>
            <a:spLocks noGrp="1"/>
          </p:cNvSpPr>
          <p:nvPr/>
        </p:nvSpPr>
        <p:spPr>
          <a:xfrm>
            <a:off x="876300" y="38004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29dd0b8525c24b07" action="ppaction://hlinksldjump"/>
              </a:rPr>
              <a:t>Catalogue</a:t>
            </a:r>
          </a:p>
        </p:txBody>
      </p:sp>
      <p:sp>
        <p:nvSpPr>
          <p:cNvPr id="8" name="text-214">
            <a:hlinkClick r:id="R07b0bcbc74ac4030" action="ppaction://hlinksldjump"/>
            <a:extLst>
              <a:ext uri="{FF2B5EF4-FFF2-40B4-BE49-F238E27FC236}">
                <ns2:creationId id="{FDD1CB5B-2CA4-469A-8CF4-E1019D023175}"/>
              </a:ext>
            </a:extLst>
          </p:cNvPr>
          <p:cNvSpPr>
            <a:spLocks noGrp="1"/>
          </p:cNvSpPr>
          <p:nvPr/>
        </p:nvSpPr>
        <p:spPr>
          <a:xfrm>
            <a:off x="876300" y="42672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07b0bcbc74ac4030" action="ppaction://hlinksldjump"/>
              </a:rPr>
              <a:t>Builder</a:t>
            </a:r>
          </a:p>
        </p:txBody>
      </p:sp>
      <p:sp>
        <p:nvSpPr>
          <p:cNvPr id="9" name="shape-215">
            <a:extLst>
              <a:ext uri="{FF2B5EF4-FFF2-40B4-BE49-F238E27FC236}">
                <ns2:creationId id="{9B469A4E-C50B-42FE-AB43-78D4F9178956}"/>
              </a:ext>
            </a:extLst>
          </p:cNvPr>
          <p:cNvSpPr>
            <a:spLocks noGrp="1"/>
          </p:cNvSpPr>
          <p:nvPr/>
        </p:nvSpPr>
        <p:spPr>
          <a:xfrm>
            <a:off x="762000" y="4676775"/>
            <a:ext cx="1847850" cy="400050"/>
          </a:xfrm>
          <a:prstGeom prst="roundRect">
            <a:avLst>
              <a:gd name="adj" fmla="val 11905"/>
            </a:avLst>
          </a:prstGeom>
          <a:solidFill>
            <a:srgbClr val="C9433C"/>
          </a:solidFill>
          <a:ln w="0">
            <a:noFill/>
          </a:ln>
        </p:spPr>
      </p:sp>
      <p:sp>
        <p:nvSpPr>
          <p:cNvPr id="10" name="text-216">
            <a:hlinkClick r:id="R8c4999de59c640f8" action="ppaction://hlinksldjump"/>
            <a:extLst>
              <a:ext uri="{FF2B5EF4-FFF2-40B4-BE49-F238E27FC236}">
                <ns2:creationId id="{9D3E4889-F0AA-4825-A5E9-C49BFA74204E}"/>
              </a:ext>
            </a:extLst>
          </p:cNvPr>
          <p:cNvSpPr>
            <a:spLocks noGrp="1"/>
          </p:cNvSpPr>
          <p:nvPr/>
        </p:nvSpPr>
        <p:spPr>
          <a:xfrm>
            <a:off x="876300" y="473392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8c4999de59c640f8" action="ppaction://hlinksldjump"/>
              </a:rPr>
              <a:t>Reauthoring</a:t>
            </a:r>
          </a:p>
        </p:txBody>
      </p:sp>
      <p:sp>
        <p:nvSpPr>
          <p:cNvPr id="11" name="text-217">
            <a:hlinkClick r:id="Ra1b836358e494578" action="ppaction://hlinksldjump"/>
            <a:extLst>
              <a:ext uri="{FF2B5EF4-FFF2-40B4-BE49-F238E27FC236}">
                <ns2:creationId id="{E1F191DE-777D-4C4B-8777-3735DE3DA6A4}"/>
              </a:ext>
            </a:extLst>
          </p:cNvPr>
          <p:cNvSpPr>
            <a:spLocks noGrp="1"/>
          </p:cNvSpPr>
          <p:nvPr/>
        </p:nvSpPr>
        <p:spPr>
          <a:xfrm>
            <a:off x="876300" y="520065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a1b836358e494578" action="ppaction://hlinksldjump"/>
              </a:rPr>
              <a:t>Ontology</a:t>
            </a:r>
          </a:p>
        </p:txBody>
      </p:sp>
      <p:sp>
        <p:nvSpPr>
          <p:cNvPr id="12" name="text-218">
            <a:hlinkClick r:id="R46b43b60e5c04866" action="ppaction://hlinksldjump"/>
            <a:extLst>
              <a:ext uri="{FF2B5EF4-FFF2-40B4-BE49-F238E27FC236}">
                <ns2:creationId id="{10D4CB6F-F1AD-42EF-95FD-3ABCF53AEC5D}"/>
              </a:ext>
            </a:extLst>
          </p:cNvPr>
          <p:cNvSpPr>
            <a:spLocks noGrp="1"/>
          </p:cNvSpPr>
          <p:nvPr/>
        </p:nvSpPr>
        <p:spPr>
          <a:xfrm>
            <a:off x="876300" y="56673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46b43b60e5c04866" action="ppaction://hlinksldjump"/>
              </a:rPr>
              <a:t>Agents</a:t>
            </a:r>
          </a:p>
        </p:txBody>
      </p:sp>
      <p:sp>
        <p:nvSpPr>
          <p:cNvPr id="13" name="text-219">
            <a:hlinkClick r:id="Rcd60e051d15943e7" action="ppaction://hlinksldjump"/>
            <a:extLst>
              <a:ext uri="{FF2B5EF4-FFF2-40B4-BE49-F238E27FC236}">
                <ns2:creationId id="{40A87914-2668-4D5B-9F3D-364EB10F1017}"/>
              </a:ext>
            </a:extLst>
          </p:cNvPr>
          <p:cNvSpPr>
            <a:spLocks noGrp="1"/>
          </p:cNvSpPr>
          <p:nvPr/>
        </p:nvSpPr>
        <p:spPr>
          <a:xfrm>
            <a:off x="876300" y="61341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cd60e051d15943e7" action="ppaction://hlinksldjump"/>
              </a:rPr>
              <a:t>Memory</a:t>
            </a:r>
          </a:p>
        </p:txBody>
      </p:sp>
      <p:sp>
        <p:nvSpPr>
          <p:cNvPr id="14" name="text-220">
            <a:hlinkClick r:id="R023779b145404169" action="ppaction://hlinksldjump"/>
            <a:extLst>
              <a:ext uri="{FF2B5EF4-FFF2-40B4-BE49-F238E27FC236}">
                <ns2:creationId id="{4125D3E5-1D5D-4C23-93CD-BCACCA3AE6FA}"/>
              </a:ext>
            </a:extLst>
          </p:cNvPr>
          <p:cNvSpPr>
            <a:spLocks noGrp="1"/>
          </p:cNvSpPr>
          <p:nvPr/>
        </p:nvSpPr>
        <p:spPr>
          <a:xfrm>
            <a:off x="838200" y="6991350"/>
            <a:ext cx="1695450" cy="6667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023779b145404169" action="ppaction://hlinksldjump"/>
              </a:rPr>
              <a:t>Back to</a:t>
            </a:r>
          </a:p>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7c876d42409b4bbc" action="ppaction://hlinksldjump"/>
              </a:rPr>
              <a:t>workspace</a:t>
            </a:r>
          </a:p>
        </p:txBody>
      </p:sp>
      <p:sp>
        <p:nvSpPr>
          <p:cNvPr id="15" name="shape-221">
            <a:extLst>
              <a:ext uri="{FF2B5EF4-FFF2-40B4-BE49-F238E27FC236}">
                <ns2:creationId id="{2B5FFAB4-3AB0-41DC-A1EC-47DC4D2B5542}"/>
              </a:ext>
            </a:extLst>
          </p:cNvPr>
          <p:cNvSpPr>
            <a:spLocks noGrp="1"/>
          </p:cNvSpPr>
          <p:nvPr/>
        </p:nvSpPr>
        <p:spPr>
          <a:xfrm>
            <a:off x="2990850" y="2638425"/>
            <a:ext cx="6934200" cy="5181600"/>
          </a:xfrm>
          <a:prstGeom prst="roundRect">
            <a:avLst>
              <a:gd name="adj" fmla="val 1287"/>
            </a:avLst>
          </a:prstGeom>
          <a:solidFill>
            <a:srgbClr val="FFFFFF"/>
          </a:solidFill>
          <a:ln w="0">
            <a:noFill/>
          </a:ln>
        </p:spPr>
      </p:sp>
      <p:sp>
        <p:nvSpPr>
          <p:cNvPr id="16" name="text-222">
            <a:extLst>
              <a:ext uri="{FF2B5EF4-FFF2-40B4-BE49-F238E27FC236}">
                <ns2:creationId id="{2B3E02E1-1E89-4E24-9417-5B4117305353}"/>
              </a:ext>
            </a:extLst>
          </p:cNvPr>
          <p:cNvSpPr>
            <a:spLocks noGrp="1"/>
          </p:cNvSpPr>
          <p:nvPr/>
        </p:nvSpPr>
        <p:spPr>
          <a:xfrm>
            <a:off x="3257550" y="2876550"/>
            <a:ext cx="6400800" cy="495300"/>
          </a:xfrm>
          <a:prstGeom prst="rect">
            <a:avLst/>
          </a:prstGeom>
          <a:noFill/>
          <a:ln w="0">
            <a:noFill/>
          </a:ln>
        </p:spPr>
        <p:txBody>
          <a:bodyPr wrap="square" lIns="0" tIns="0" rIns="0" bIns="0" anchor="t">
            <a:noAutofit/>
          </a:bodyPr>
          <a:lstStyle>
            <a:defPPr algn="l">
              <a:defRPr sz="2550" b="0">
                <a:solidFill>
                  <a:srgbClr val="252524"/>
                </a:solidFill>
                <a:latin typeface="Helvetica Neue"/>
                <a:ea typeface="Helvetica Neue"/>
                <a:cs typeface="Helvetica Neue"/>
              </a:defRPr>
            </a:defPPr>
          </a:lstStyle>
          <a:p>
            <a:pPr algn="l">
              <a:lnSpc>
                <a:spcPct val="113000"/>
              </a:lnSpc>
              <a:buNone/>
              <a:defRPr sz="2550" b="0">
                <a:solidFill>
                  <a:srgbClr val="252524"/>
                </a:solidFill>
                <a:latin typeface="Helvetica Neue"/>
                <a:ea typeface="Helvetica Neue"/>
                <a:cs typeface="Helvetica Neue"/>
              </a:defRPr>
            </a:pPr>
            <a:r>
              <a:rPr sz="2550" b="0">
                <a:solidFill>
                  <a:srgbClr val="252524"/>
                </a:solidFill>
                <a:latin typeface="Helvetica Neue"/>
                <a:ea typeface="Helvetica Neue"/>
                <a:cs typeface="Helvetica Neue"/>
              </a:rPr>
              <a:t>Customer workflow</a:t>
            </a:r>
          </a:p>
        </p:txBody>
      </p:sp>
      <p:sp>
        <p:nvSpPr>
          <p:cNvPr id="17" name="text-223">
            <a:extLst>
              <a:ext uri="{FF2B5EF4-FFF2-40B4-BE49-F238E27FC236}">
                <ns2:creationId id="{386E72D4-C717-42FF-930E-912ED379E8E7}"/>
              </a:ext>
            </a:extLst>
          </p:cNvPr>
          <p:cNvSpPr>
            <a:spLocks noGrp="1"/>
          </p:cNvSpPr>
          <p:nvPr/>
        </p:nvSpPr>
        <p:spPr>
          <a:xfrm>
            <a:off x="3257550" y="360045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Propose a revision</a:t>
            </a:r>
          </a:p>
        </p:txBody>
      </p:sp>
      <p:sp>
        <p:nvSpPr>
          <p:cNvPr id="18" name="text-224">
            <a:extLst>
              <a:ext uri="{FF2B5EF4-FFF2-40B4-BE49-F238E27FC236}">
                <ns2:creationId id="{249F1981-D265-4CFF-A954-1D67B5EAC1A3}"/>
              </a:ext>
            </a:extLst>
          </p:cNvPr>
          <p:cNvSpPr>
            <a:spLocks noGrp="1"/>
          </p:cNvSpPr>
          <p:nvPr/>
        </p:nvSpPr>
        <p:spPr>
          <a:xfrm>
            <a:off x="3257550" y="407670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Edit Markdown knowledge, mappings or approved procedures.</a:t>
            </a:r>
          </a:p>
        </p:txBody>
      </p:sp>
      <p:sp>
        <p:nvSpPr>
          <p:cNvPr id="19" name="text-225">
            <a:extLst>
              <a:ext uri="{FF2B5EF4-FFF2-40B4-BE49-F238E27FC236}">
                <ns2:creationId id="{7AEA4150-564F-4E27-B6CF-F61E75BC8CBA}"/>
              </a:ext>
            </a:extLst>
          </p:cNvPr>
          <p:cNvSpPr>
            <a:spLocks noGrp="1"/>
          </p:cNvSpPr>
          <p:nvPr/>
        </p:nvSpPr>
        <p:spPr>
          <a:xfrm>
            <a:off x="3257550" y="4829175"/>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Review its effect</a:t>
            </a:r>
          </a:p>
        </p:txBody>
      </p:sp>
      <p:sp>
        <p:nvSpPr>
          <p:cNvPr id="20" name="text-226">
            <a:extLst>
              <a:ext uri="{FF2B5EF4-FFF2-40B4-BE49-F238E27FC236}">
                <ns2:creationId id="{4669004C-CA88-4FDD-A482-0779049E120D}"/>
              </a:ext>
            </a:extLst>
          </p:cNvPr>
          <p:cNvSpPr>
            <a:spLocks noGrp="1"/>
          </p:cNvSpPr>
          <p:nvPr/>
        </p:nvSpPr>
        <p:spPr>
          <a:xfrm>
            <a:off x="3257550" y="5305425"/>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Compare the proposed diff with source spans and validation.</a:t>
            </a:r>
          </a:p>
        </p:txBody>
      </p:sp>
      <p:sp>
        <p:nvSpPr>
          <p:cNvPr id="21" name="text-227">
            <a:extLst>
              <a:ext uri="{FF2B5EF4-FFF2-40B4-BE49-F238E27FC236}">
                <ns2:creationId id="{8758BDB9-7FDD-4911-B917-5702293D16E7}"/>
              </a:ext>
            </a:extLst>
          </p:cNvPr>
          <p:cNvSpPr>
            <a:spLocks noGrp="1"/>
          </p:cNvSpPr>
          <p:nvPr/>
        </p:nvSpPr>
        <p:spPr>
          <a:xfrm>
            <a:off x="3257550" y="605790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Publish a new version</a:t>
            </a:r>
          </a:p>
        </p:txBody>
      </p:sp>
      <p:sp>
        <p:nvSpPr>
          <p:cNvPr id="22" name="text-228">
            <a:extLst>
              <a:ext uri="{FF2B5EF4-FFF2-40B4-BE49-F238E27FC236}">
                <ns2:creationId id="{212F1BB2-2620-41E3-8FC6-E9008F3CAA43}"/>
              </a:ext>
            </a:extLst>
          </p:cNvPr>
          <p:cNvSpPr>
            <a:spLocks noGrp="1"/>
          </p:cNvSpPr>
          <p:nvPr/>
        </p:nvSpPr>
        <p:spPr>
          <a:xfrm>
            <a:off x="3257550" y="653415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Publish a new version and inspect affected receipts and tasks.</a:t>
            </a:r>
          </a:p>
        </p:txBody>
      </p:sp>
      <p:sp>
        <p:nvSpPr>
          <p:cNvPr id="23" name="shape-229">
            <a:extLst>
              <a:ext uri="{FF2B5EF4-FFF2-40B4-BE49-F238E27FC236}">
                <ns2:creationId id="{3CBEA132-24CB-4892-8A7B-A672C884AA71}"/>
              </a:ext>
            </a:extLst>
          </p:cNvPr>
          <p:cNvSpPr>
            <a:spLocks noGrp="1"/>
          </p:cNvSpPr>
          <p:nvPr/>
        </p:nvSpPr>
        <p:spPr>
          <a:xfrm>
            <a:off x="10153650" y="2638425"/>
            <a:ext cx="4476750" cy="2657475"/>
          </a:xfrm>
          <a:prstGeom prst="roundRect">
            <a:avLst>
              <a:gd name="adj" fmla="val 2509"/>
            </a:avLst>
          </a:prstGeom>
          <a:solidFill>
            <a:srgbClr val="EEE0DB"/>
          </a:solidFill>
          <a:ln w="0">
            <a:noFill/>
          </a:ln>
        </p:spPr>
      </p:sp>
      <p:sp>
        <p:nvSpPr>
          <p:cNvPr id="24" name="text-230">
            <a:extLst>
              <a:ext uri="{FF2B5EF4-FFF2-40B4-BE49-F238E27FC236}">
                <ns2:creationId id="{ACC421CD-45B1-4D86-98E5-0044E84ABBF2}"/>
              </a:ext>
            </a:extLst>
          </p:cNvPr>
          <p:cNvSpPr>
            <a:spLocks noGrp="1"/>
          </p:cNvSpPr>
          <p:nvPr/>
        </p:nvSpPr>
        <p:spPr>
          <a:xfrm>
            <a:off x="10420350" y="2876550"/>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Customer benefit</a:t>
            </a:r>
          </a:p>
        </p:txBody>
      </p:sp>
      <p:sp>
        <p:nvSpPr>
          <p:cNvPr id="25" name="text-231">
            <a:extLst>
              <a:ext uri="{FF2B5EF4-FFF2-40B4-BE49-F238E27FC236}">
                <ns2:creationId id="{D374A36F-8E9B-4AD7-945A-4AF43B13FF0D}"/>
              </a:ext>
            </a:extLst>
          </p:cNvPr>
          <p:cNvSpPr>
            <a:spLocks noGrp="1"/>
          </p:cNvSpPr>
          <p:nvPr/>
        </p:nvSpPr>
        <p:spPr>
          <a:xfrm>
            <a:off x="10420350" y="3505200"/>
            <a:ext cx="3943350" cy="157162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Knowledge can evolve without silently overwriting history. Customer value is clearer maintenance and focused review of affected conclusions.</a:t>
            </a:r>
          </a:p>
        </p:txBody>
      </p:sp>
      <p:sp>
        <p:nvSpPr>
          <p:cNvPr id="26" name="shape-232">
            <a:extLst>
              <a:ext uri="{FF2B5EF4-FFF2-40B4-BE49-F238E27FC236}">
                <ns2:creationId id="{267FD831-FDA7-469A-9D57-42D44919768C}"/>
              </a:ext>
            </a:extLst>
          </p:cNvPr>
          <p:cNvSpPr>
            <a:spLocks noGrp="1"/>
          </p:cNvSpPr>
          <p:nvPr/>
        </p:nvSpPr>
        <p:spPr>
          <a:xfrm>
            <a:off x="10153650" y="5524500"/>
            <a:ext cx="4476750" cy="2295525"/>
          </a:xfrm>
          <a:prstGeom prst="roundRect">
            <a:avLst>
              <a:gd name="adj" fmla="val 2905"/>
            </a:avLst>
          </a:prstGeom>
          <a:solidFill>
            <a:srgbClr val="FFFFFF"/>
          </a:solidFill>
          <a:ln w="0">
            <a:noFill/>
          </a:ln>
        </p:spPr>
      </p:sp>
      <p:sp>
        <p:nvSpPr>
          <p:cNvPr id="27" name="text-233">
            <a:extLst>
              <a:ext uri="{FF2B5EF4-FFF2-40B4-BE49-F238E27FC236}">
                <ns2:creationId id="{D5547463-294F-47AE-AC57-D98D91F0B9BE}"/>
              </a:ext>
            </a:extLst>
          </p:cNvPr>
          <p:cNvSpPr>
            <a:spLocks noGrp="1"/>
          </p:cNvSpPr>
          <p:nvPr/>
        </p:nvSpPr>
        <p:spPr>
          <a:xfrm>
            <a:off x="10420350" y="5762625"/>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Review and access</a:t>
            </a:r>
          </a:p>
        </p:txBody>
      </p:sp>
      <p:sp>
        <p:nvSpPr>
          <p:cNvPr id="28" name="text-234">
            <a:extLst>
              <a:ext uri="{FF2B5EF4-FFF2-40B4-BE49-F238E27FC236}">
                <ns2:creationId id="{1A99E4C6-8DF3-493B-8FA0-A6A11B605D9D}"/>
              </a:ext>
            </a:extLst>
          </p:cNvPr>
          <p:cNvSpPr>
            <a:spLocks noGrp="1"/>
          </p:cNvSpPr>
          <p:nvPr/>
        </p:nvSpPr>
        <p:spPr>
          <a:xfrm>
            <a:off x="10420350" y="6391275"/>
            <a:ext cx="3943350" cy="120967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Preserve source ownership and history. Semantic reinterpretations require migration.</a:t>
            </a:r>
          </a:p>
        </p:txBody>
      </p:sp>
    </p:spTree>
    <p:extLst>
      <p:ext uri="{BB962C8B-B14F-4D97-AF65-F5344CB8AC3E}">
        <ns4:creationId val="1356605445"/>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show="0">
  <p:cSld>
    <p:bg>
      <p:bgPr>
        <a:solidFill>
          <a:srgbClr val="F4F2EE"/>
        </a:solidFill>
      </p:bgPr>
    </p:bg>
    <p:spTree>
      <p:nvGrpSpPr>
        <p:cNvPr id="1" name=""/>
        <p:cNvGrpSpPr/>
        <p:nvPr/>
      </p:nvGrpSpPr>
      <p:grpSpPr>
        <a:xfrm/>
      </p:grpSpPr>
      <p:sp>
        <p:nvSpPr>
          <p:cNvPr id="29" name="text-235">
            <a:extLst>
              <a:ext uri="{FF2B5EF4-FFF2-40B4-BE49-F238E27FC236}">
                <ns2:creationId id="{F7886163-BE71-40CD-BB7A-FF108141071B}"/>
              </a:ext>
            </a:extLst>
          </p:cNvPr>
          <p:cNvSpPr>
            <a:spLocks noGrp="1"/>
          </p:cNvSpPr>
          <p:nvPr/>
        </p:nvSpPr>
        <p:spPr>
          <a:xfrm>
            <a:off x="609600" y="523875"/>
            <a:ext cx="14020800" cy="809625"/>
          </a:xfrm>
          <a:prstGeom prst="rect">
            <a:avLst/>
          </a:prstGeom>
          <a:noFill/>
          <a:ln w="0">
            <a:noFill/>
          </a:ln>
        </p:spPr>
        <p:txBody>
          <a:bodyPr wrap="square" lIns="0" tIns="0" rIns="0" bIns="0" anchor="t">
            <a:noAutofit/>
          </a:bodyPr>
          <a:lstStyle>
            <a:defPPr algn="l">
              <a:defRPr sz="4200" b="0">
                <a:solidFill>
                  <a:srgbClr val="252524"/>
                </a:solidFill>
                <a:latin typeface="Helvetica Neue"/>
                <a:ea typeface="Helvetica Neue"/>
                <a:cs typeface="Helvetica Neue"/>
              </a:defRPr>
            </a:defPPr>
          </a:lstStyle>
          <a:p>
            <a:pPr algn="l">
              <a:lnSpc>
                <a:spcPct val="113000"/>
              </a:lnSpc>
              <a:buNone/>
              <a:defRPr sz="4200" b="0">
                <a:solidFill>
                  <a:srgbClr val="252524"/>
                </a:solidFill>
                <a:latin typeface="Helvetica Neue"/>
                <a:ea typeface="Helvetica Neue"/>
                <a:cs typeface="Helvetica Neue"/>
              </a:defRPr>
            </a:pPr>
            <a:r>
              <a:rPr sz="4200" b="0">
                <a:solidFill>
                  <a:srgbClr val="252524"/>
                </a:solidFill>
                <a:latin typeface="Helvetica Neue"/>
                <a:ea typeface="Helvetica Neue"/>
                <a:cs typeface="Helvetica Neue"/>
              </a:rPr>
              <a:t>Ontology management</a:t>
            </a:r>
          </a:p>
        </p:txBody>
      </p:sp>
      <p:sp>
        <p:nvSpPr>
          <p:cNvPr id="2" name="text-236">
            <a:extLst>
              <a:ext uri="{FF2B5EF4-FFF2-40B4-BE49-F238E27FC236}">
                <ns2:creationId id="{3E817305-E796-49A1-858C-A8D6940F00B1}"/>
              </a:ext>
            </a:extLst>
          </p:cNvPr>
          <p:cNvSpPr>
            <a:spLocks noGrp="1"/>
          </p:cNvSpPr>
          <p:nvPr/>
        </p:nvSpPr>
        <p:spPr>
          <a:xfrm>
            <a:off x="628650" y="1476375"/>
            <a:ext cx="13963650" cy="914400"/>
          </a:xfrm>
          <a:prstGeom prst="rect">
            <a:avLst/>
          </a:prstGeom>
          <a:noFill/>
          <a:ln w="0">
            <a:noFill/>
          </a:ln>
        </p:spPr>
        <p:txBody>
          <a:bodyPr wrap="square" lIns="0" tIns="0" rIns="0" bIns="0" anchor="t">
            <a:noAutofit/>
          </a:bodyPr>
          <a:lstStyle>
            <a:defPPr algn="l">
              <a:defRPr sz="2025" b="0">
                <a:solidFill>
                  <a:srgbClr val="686560"/>
                </a:solidFill>
                <a:latin typeface="Helvetica Neue"/>
                <a:ea typeface="Helvetica Neue"/>
                <a:cs typeface="Helvetica Neue"/>
              </a:defRPr>
            </a:defPPr>
          </a:lstStyle>
          <a:p>
            <a:pPr algn="l">
              <a:lnSpc>
                <a:spcPct val="113000"/>
              </a:lnSpc>
              <a:buNone/>
              <a:defRPr sz="2025" b="0">
                <a:solidFill>
                  <a:srgbClr val="686560"/>
                </a:solidFill>
                <a:latin typeface="Helvetica Neue"/>
                <a:ea typeface="Helvetica Neue"/>
                <a:cs typeface="Helvetica Neue"/>
              </a:defRPr>
            </a:pPr>
            <a:r>
              <a:rPr sz="2025" b="0">
                <a:solidFill>
                  <a:srgbClr val="686560"/>
                </a:solidFill>
                <a:latin typeface="Helvetica Neue"/>
                <a:ea typeface="Helvetica Neue"/>
                <a:cs typeface="Helvetica Neue"/>
              </a:rPr>
              <a:t>Versioned core and domain modules define how the platform interprets subjects, claims and relationships.</a:t>
            </a:r>
          </a:p>
        </p:txBody>
      </p:sp>
      <p:sp>
        <p:nvSpPr>
          <p:cNvPr id="3" name="shape-237">
            <a:extLst>
              <a:ext uri="{FF2B5EF4-FFF2-40B4-BE49-F238E27FC236}">
                <ns2:creationId id="{81F8621D-C590-440B-873E-C53C6B840EA3}"/>
              </a:ext>
            </a:extLst>
          </p:cNvPr>
          <p:cNvSpPr>
            <a:spLocks noGrp="1"/>
          </p:cNvSpPr>
          <p:nvPr/>
        </p:nvSpPr>
        <p:spPr>
          <a:xfrm>
            <a:off x="609600" y="8153400"/>
            <a:ext cx="14020800" cy="0"/>
          </a:xfrm>
          <a:prstGeom prst="line">
            <a:avLst/>
          </a:prstGeom>
          <a:noFill/>
          <a:ln w="9525">
            <a:solidFill>
              <a:srgbClr val="D6D2CB"/>
            </a:solidFill>
          </a:ln>
        </p:spPr>
      </p:sp>
      <p:sp>
        <p:nvSpPr>
          <p:cNvPr id="4" name="text-238">
            <a:extLst>
              <a:ext uri="{FF2B5EF4-FFF2-40B4-BE49-F238E27FC236}">
                <ns2:creationId id="{E93B8EE8-E3E9-476C-B3B5-1FF0DE741F68}"/>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686560"/>
                </a:solidFill>
                <a:latin typeface="Helvetica Neue"/>
                <a:ea typeface="Helvetica Neue"/>
                <a:cs typeface="Helvetica Neue"/>
              </a:defRPr>
            </a:defPPr>
          </a:lstStyle>
          <a:p>
            <a:pPr algn="r">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10</a:t>
            </a:r>
          </a:p>
        </p:txBody>
      </p:sp>
      <p:sp>
        <p:nvSpPr>
          <p:cNvPr id="5" name="shape-239">
            <a:extLst>
              <a:ext uri="{FF2B5EF4-FFF2-40B4-BE49-F238E27FC236}">
                <ns2:creationId id="{542334E9-67C9-4C68-BF1A-21A5CCB88207}"/>
              </a:ext>
            </a:extLst>
          </p:cNvPr>
          <p:cNvSpPr>
            <a:spLocks noGrp="1"/>
          </p:cNvSpPr>
          <p:nvPr/>
        </p:nvSpPr>
        <p:spPr>
          <a:xfrm>
            <a:off x="609600" y="2638425"/>
            <a:ext cx="2152650" cy="5181600"/>
          </a:xfrm>
          <a:prstGeom prst="roundRect">
            <a:avLst>
              <a:gd name="adj" fmla="val 3097"/>
            </a:avLst>
          </a:prstGeom>
          <a:solidFill>
            <a:srgbClr val="252524"/>
          </a:solidFill>
          <a:ln w="0">
            <a:noFill/>
          </a:ln>
        </p:spPr>
      </p:sp>
      <p:sp>
        <p:nvSpPr>
          <p:cNvPr id="6" name="text-240">
            <a:extLst>
              <a:ext uri="{FF2B5EF4-FFF2-40B4-BE49-F238E27FC236}">
                <ns2:creationId id="{00B26659-07F8-432F-86EF-4BB017C31910}"/>
              </a:ext>
            </a:extLst>
          </p:cNvPr>
          <p:cNvSpPr>
            <a:spLocks noGrp="1"/>
          </p:cNvSpPr>
          <p:nvPr/>
        </p:nvSpPr>
        <p:spPr>
          <a:xfrm>
            <a:off x="838200" y="2905125"/>
            <a:ext cx="1695450" cy="647700"/>
          </a:xfrm>
          <a:prstGeom prst="rect">
            <a:avLst/>
          </a:prstGeom>
          <a:noFill/>
          <a:ln w="0">
            <a:noFill/>
          </a:ln>
        </p:spPr>
        <p:txBody>
          <a:bodyPr wrap="square" lIns="0" tIns="0" rIns="0" bIns="0" anchor="t">
            <a:noAutofit/>
          </a:bodyPr>
          <a:lstStyle>
            <a:defPPr algn="l">
              <a:defRPr sz="1875" b="0">
                <a:solidFill>
                  <a:srgbClr val="FFFFFF"/>
                </a:solidFill>
                <a:latin typeface="Helvetica Neue"/>
                <a:ea typeface="Helvetica Neue"/>
                <a:cs typeface="Helvetica Neue"/>
              </a:defRPr>
            </a:defPPr>
          </a:lstStyle>
          <a:p>
            <a:pPr algn="l">
              <a:lnSpc>
                <a:spcPct val="113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Workspace areas</a:t>
            </a:r>
          </a:p>
        </p:txBody>
      </p:sp>
      <p:sp>
        <p:nvSpPr>
          <p:cNvPr id="7" name="text-241">
            <a:hlinkClick r:id="Rab1083d9c5854324" action="ppaction://hlinksldjump"/>
            <a:extLst>
              <a:ext uri="{FF2B5EF4-FFF2-40B4-BE49-F238E27FC236}">
                <ns2:creationId id="{1D7DE007-87CF-4ED4-92F4-5912884522A3}"/>
              </a:ext>
            </a:extLst>
          </p:cNvPr>
          <p:cNvSpPr>
            <a:spLocks noGrp="1"/>
          </p:cNvSpPr>
          <p:nvPr/>
        </p:nvSpPr>
        <p:spPr>
          <a:xfrm>
            <a:off x="876300" y="38004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ab1083d9c5854324" action="ppaction://hlinksldjump"/>
              </a:rPr>
              <a:t>Catalogue</a:t>
            </a:r>
          </a:p>
        </p:txBody>
      </p:sp>
      <p:sp>
        <p:nvSpPr>
          <p:cNvPr id="8" name="text-242">
            <a:hlinkClick r:id="R194514e0d6a2482d" action="ppaction://hlinksldjump"/>
            <a:extLst>
              <a:ext uri="{FF2B5EF4-FFF2-40B4-BE49-F238E27FC236}">
                <ns2:creationId id="{22436775-23CB-4DC3-A4C8-6C3714C8C131}"/>
              </a:ext>
            </a:extLst>
          </p:cNvPr>
          <p:cNvSpPr>
            <a:spLocks noGrp="1"/>
          </p:cNvSpPr>
          <p:nvPr/>
        </p:nvSpPr>
        <p:spPr>
          <a:xfrm>
            <a:off x="876300" y="42672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194514e0d6a2482d" action="ppaction://hlinksldjump"/>
              </a:rPr>
              <a:t>Builder</a:t>
            </a:r>
          </a:p>
        </p:txBody>
      </p:sp>
      <p:sp>
        <p:nvSpPr>
          <p:cNvPr id="9" name="text-243">
            <a:hlinkClick r:id="R57788f24c57b4c4d" action="ppaction://hlinksldjump"/>
            <a:extLst>
              <a:ext uri="{FF2B5EF4-FFF2-40B4-BE49-F238E27FC236}">
                <ns2:creationId id="{97FC60E4-0224-42FD-B733-0BBB49F67290}"/>
              </a:ext>
            </a:extLst>
          </p:cNvPr>
          <p:cNvSpPr>
            <a:spLocks noGrp="1"/>
          </p:cNvSpPr>
          <p:nvPr/>
        </p:nvSpPr>
        <p:spPr>
          <a:xfrm>
            <a:off x="876300" y="473392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57788f24c57b4c4d" action="ppaction://hlinksldjump"/>
              </a:rPr>
              <a:t>Reauthoring</a:t>
            </a:r>
          </a:p>
        </p:txBody>
      </p:sp>
      <p:sp>
        <p:nvSpPr>
          <p:cNvPr id="10" name="shape-244">
            <a:extLst>
              <a:ext uri="{FF2B5EF4-FFF2-40B4-BE49-F238E27FC236}">
                <ns2:creationId id="{29D44E43-0F9A-45F5-9C7A-D3F6B84B6FD2}"/>
              </a:ext>
            </a:extLst>
          </p:cNvPr>
          <p:cNvSpPr>
            <a:spLocks noGrp="1"/>
          </p:cNvSpPr>
          <p:nvPr/>
        </p:nvSpPr>
        <p:spPr>
          <a:xfrm>
            <a:off x="762000" y="5143500"/>
            <a:ext cx="1847850" cy="400050"/>
          </a:xfrm>
          <a:prstGeom prst="roundRect">
            <a:avLst>
              <a:gd name="adj" fmla="val 11905"/>
            </a:avLst>
          </a:prstGeom>
          <a:solidFill>
            <a:srgbClr val="C9433C"/>
          </a:solidFill>
          <a:ln w="0">
            <a:noFill/>
          </a:ln>
        </p:spPr>
      </p:sp>
      <p:sp>
        <p:nvSpPr>
          <p:cNvPr id="11" name="text-245">
            <a:hlinkClick r:id="Rdfb4217af3a44670" action="ppaction://hlinksldjump"/>
            <a:extLst>
              <a:ext uri="{FF2B5EF4-FFF2-40B4-BE49-F238E27FC236}">
                <ns2:creationId id="{D987B058-A97F-4375-BCBC-217E7383004B}"/>
              </a:ext>
            </a:extLst>
          </p:cNvPr>
          <p:cNvSpPr>
            <a:spLocks noGrp="1"/>
          </p:cNvSpPr>
          <p:nvPr/>
        </p:nvSpPr>
        <p:spPr>
          <a:xfrm>
            <a:off x="876300" y="520065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dfb4217af3a44670" action="ppaction://hlinksldjump"/>
              </a:rPr>
              <a:t>Ontology</a:t>
            </a:r>
          </a:p>
        </p:txBody>
      </p:sp>
      <p:sp>
        <p:nvSpPr>
          <p:cNvPr id="12" name="text-246">
            <a:hlinkClick r:id="R188cc6aafdcf4544" action="ppaction://hlinksldjump"/>
            <a:extLst>
              <a:ext uri="{FF2B5EF4-FFF2-40B4-BE49-F238E27FC236}">
                <ns2:creationId id="{15534B4E-BAC9-41AC-9109-1A9D965473E4}"/>
              </a:ext>
            </a:extLst>
          </p:cNvPr>
          <p:cNvSpPr>
            <a:spLocks noGrp="1"/>
          </p:cNvSpPr>
          <p:nvPr/>
        </p:nvSpPr>
        <p:spPr>
          <a:xfrm>
            <a:off x="876300" y="56673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188cc6aafdcf4544" action="ppaction://hlinksldjump"/>
              </a:rPr>
              <a:t>Agents</a:t>
            </a:r>
          </a:p>
        </p:txBody>
      </p:sp>
      <p:sp>
        <p:nvSpPr>
          <p:cNvPr id="13" name="text-247">
            <a:hlinkClick r:id="R3841de1154364928" action="ppaction://hlinksldjump"/>
            <a:extLst>
              <a:ext uri="{FF2B5EF4-FFF2-40B4-BE49-F238E27FC236}">
                <ns2:creationId id="{7600B060-36E8-4A93-9108-009C8451B4BC}"/>
              </a:ext>
            </a:extLst>
          </p:cNvPr>
          <p:cNvSpPr>
            <a:spLocks noGrp="1"/>
          </p:cNvSpPr>
          <p:nvPr/>
        </p:nvSpPr>
        <p:spPr>
          <a:xfrm>
            <a:off x="876300" y="61341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3841de1154364928" action="ppaction://hlinksldjump"/>
              </a:rPr>
              <a:t>Memory</a:t>
            </a:r>
          </a:p>
        </p:txBody>
      </p:sp>
      <p:sp>
        <p:nvSpPr>
          <p:cNvPr id="14" name="text-248">
            <a:hlinkClick r:id="R691e2a8a44a742f5" action="ppaction://hlinksldjump"/>
            <a:extLst>
              <a:ext uri="{FF2B5EF4-FFF2-40B4-BE49-F238E27FC236}">
                <ns2:creationId id="{789F68D0-8A88-4041-8BF8-1DC5A9BC3F18}"/>
              </a:ext>
            </a:extLst>
          </p:cNvPr>
          <p:cNvSpPr>
            <a:spLocks noGrp="1"/>
          </p:cNvSpPr>
          <p:nvPr/>
        </p:nvSpPr>
        <p:spPr>
          <a:xfrm>
            <a:off x="838200" y="6991350"/>
            <a:ext cx="1695450" cy="6667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691e2a8a44a742f5" action="ppaction://hlinksldjump"/>
              </a:rPr>
              <a:t>Back to</a:t>
            </a:r>
          </a:p>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c1f40e1afa844229" action="ppaction://hlinksldjump"/>
              </a:rPr>
              <a:t>workspace</a:t>
            </a:r>
          </a:p>
        </p:txBody>
      </p:sp>
      <p:sp>
        <p:nvSpPr>
          <p:cNvPr id="15" name="shape-249">
            <a:extLst>
              <a:ext uri="{FF2B5EF4-FFF2-40B4-BE49-F238E27FC236}">
                <ns2:creationId id="{9E0C0418-3885-44CC-BF57-B5D60C6DA5AD}"/>
              </a:ext>
            </a:extLst>
          </p:cNvPr>
          <p:cNvSpPr>
            <a:spLocks noGrp="1"/>
          </p:cNvSpPr>
          <p:nvPr/>
        </p:nvSpPr>
        <p:spPr>
          <a:xfrm>
            <a:off x="2990850" y="2638425"/>
            <a:ext cx="6934200" cy="5181600"/>
          </a:xfrm>
          <a:prstGeom prst="roundRect">
            <a:avLst>
              <a:gd name="adj" fmla="val 1287"/>
            </a:avLst>
          </a:prstGeom>
          <a:solidFill>
            <a:srgbClr val="FFFFFF"/>
          </a:solidFill>
          <a:ln w="0">
            <a:noFill/>
          </a:ln>
        </p:spPr>
      </p:sp>
      <p:sp>
        <p:nvSpPr>
          <p:cNvPr id="16" name="text-250">
            <a:extLst>
              <a:ext uri="{FF2B5EF4-FFF2-40B4-BE49-F238E27FC236}">
                <ns2:creationId id="{C8CC6B76-6092-4E6B-91A8-EBE1F9DD6B46}"/>
              </a:ext>
            </a:extLst>
          </p:cNvPr>
          <p:cNvSpPr>
            <a:spLocks noGrp="1"/>
          </p:cNvSpPr>
          <p:nvPr/>
        </p:nvSpPr>
        <p:spPr>
          <a:xfrm>
            <a:off x="3257550" y="2876550"/>
            <a:ext cx="6400800" cy="495300"/>
          </a:xfrm>
          <a:prstGeom prst="rect">
            <a:avLst/>
          </a:prstGeom>
          <a:noFill/>
          <a:ln w="0">
            <a:noFill/>
          </a:ln>
        </p:spPr>
        <p:txBody>
          <a:bodyPr wrap="square" lIns="0" tIns="0" rIns="0" bIns="0" anchor="t">
            <a:noAutofit/>
          </a:bodyPr>
          <a:lstStyle>
            <a:defPPr algn="l">
              <a:defRPr sz="2550" b="0">
                <a:solidFill>
                  <a:srgbClr val="252524"/>
                </a:solidFill>
                <a:latin typeface="Helvetica Neue"/>
                <a:ea typeface="Helvetica Neue"/>
                <a:cs typeface="Helvetica Neue"/>
              </a:defRPr>
            </a:defPPr>
          </a:lstStyle>
          <a:p>
            <a:pPr algn="l">
              <a:lnSpc>
                <a:spcPct val="113000"/>
              </a:lnSpc>
              <a:buNone/>
              <a:defRPr sz="2550" b="0">
                <a:solidFill>
                  <a:srgbClr val="252524"/>
                </a:solidFill>
                <a:latin typeface="Helvetica Neue"/>
                <a:ea typeface="Helvetica Neue"/>
                <a:cs typeface="Helvetica Neue"/>
              </a:defRPr>
            </a:pPr>
            <a:r>
              <a:rPr sz="2550" b="0">
                <a:solidFill>
                  <a:srgbClr val="252524"/>
                </a:solidFill>
                <a:latin typeface="Helvetica Neue"/>
                <a:ea typeface="Helvetica Neue"/>
                <a:cs typeface="Helvetica Neue"/>
              </a:rPr>
              <a:t>Customer workflow</a:t>
            </a:r>
          </a:p>
        </p:txBody>
      </p:sp>
      <p:sp>
        <p:nvSpPr>
          <p:cNvPr id="17" name="text-251">
            <a:extLst>
              <a:ext uri="{FF2B5EF4-FFF2-40B4-BE49-F238E27FC236}">
                <ns2:creationId id="{98AFF415-26DE-48B2-A7F5-37A6F8ED395D}"/>
              </a:ext>
            </a:extLst>
          </p:cNvPr>
          <p:cNvSpPr>
            <a:spLocks noGrp="1"/>
          </p:cNvSpPr>
          <p:nvPr/>
        </p:nvSpPr>
        <p:spPr>
          <a:xfrm>
            <a:off x="3257550" y="360045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Choose modules</a:t>
            </a:r>
          </a:p>
        </p:txBody>
      </p:sp>
      <p:sp>
        <p:nvSpPr>
          <p:cNvPr id="18" name="text-252">
            <a:extLst>
              <a:ext uri="{FF2B5EF4-FFF2-40B4-BE49-F238E27FC236}">
                <ns2:creationId id="{5285C8E0-8A76-4014-AFD9-B6C9AC6754D8}"/>
              </a:ext>
            </a:extLst>
          </p:cNvPr>
          <p:cNvSpPr>
            <a:spLocks noGrp="1"/>
          </p:cNvSpPr>
          <p:nvPr/>
        </p:nvSpPr>
        <p:spPr>
          <a:xfrm>
            <a:off x="3257550" y="407670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Inspect allowed types, properties, predicates and endpoints.</a:t>
            </a:r>
          </a:p>
        </p:txBody>
      </p:sp>
      <p:sp>
        <p:nvSpPr>
          <p:cNvPr id="19" name="text-253">
            <a:extLst>
              <a:ext uri="{FF2B5EF4-FFF2-40B4-BE49-F238E27FC236}">
                <ns2:creationId id="{68115813-B83C-4D45-B174-57464192C523}"/>
              </a:ext>
            </a:extLst>
          </p:cNvPr>
          <p:cNvSpPr>
            <a:spLocks noGrp="1"/>
          </p:cNvSpPr>
          <p:nvPr/>
        </p:nvSpPr>
        <p:spPr>
          <a:xfrm>
            <a:off x="3257550" y="4829175"/>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Review meanings</a:t>
            </a:r>
          </a:p>
        </p:txBody>
      </p:sp>
      <p:sp>
        <p:nvSpPr>
          <p:cNvPr id="20" name="text-254">
            <a:extLst>
              <a:ext uri="{FF2B5EF4-FFF2-40B4-BE49-F238E27FC236}">
                <ns2:creationId id="{BD778889-55A3-4BA0-B5F4-9DFC37854ECB}"/>
              </a:ext>
            </a:extLst>
          </p:cNvPr>
          <p:cNvSpPr>
            <a:spLocks noGrp="1"/>
          </p:cNvSpPr>
          <p:nvPr/>
        </p:nvSpPr>
        <p:spPr>
          <a:xfrm>
            <a:off x="3257550" y="5305425"/>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Review proposed additions with evidence and affected records.</a:t>
            </a:r>
          </a:p>
        </p:txBody>
      </p:sp>
      <p:sp>
        <p:nvSpPr>
          <p:cNvPr id="21" name="text-255">
            <a:extLst>
              <a:ext uri="{FF2B5EF4-FFF2-40B4-BE49-F238E27FC236}">
                <ns2:creationId id="{D0865AC6-6C6B-4510-8F60-5BC89B05EEB9}"/>
              </a:ext>
            </a:extLst>
          </p:cNvPr>
          <p:cNvSpPr>
            <a:spLocks noGrp="1"/>
          </p:cNvSpPr>
          <p:nvPr/>
        </p:nvSpPr>
        <p:spPr>
          <a:xfrm>
            <a:off x="3257550" y="605790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Activate versions</a:t>
            </a:r>
          </a:p>
        </p:txBody>
      </p:sp>
      <p:sp>
        <p:nvSpPr>
          <p:cNvPr id="22" name="text-256">
            <a:extLst>
              <a:ext uri="{FF2B5EF4-FFF2-40B4-BE49-F238E27FC236}">
                <ns2:creationId id="{47901930-19EE-4D35-8DF7-EADA4FBA8075}"/>
              </a:ext>
            </a:extLst>
          </p:cNvPr>
          <p:cNvSpPr>
            <a:spLocks noGrp="1"/>
          </p:cNvSpPr>
          <p:nvPr/>
        </p:nvSpPr>
        <p:spPr>
          <a:xfrm>
            <a:off x="3257550" y="653415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Pin exact module versions and plan semantic migrations.</a:t>
            </a:r>
          </a:p>
        </p:txBody>
      </p:sp>
      <p:sp>
        <p:nvSpPr>
          <p:cNvPr id="23" name="shape-257">
            <a:extLst>
              <a:ext uri="{FF2B5EF4-FFF2-40B4-BE49-F238E27FC236}">
                <ns2:creationId id="{07F59266-6116-4C3F-B961-5F2158A1CB70}"/>
              </a:ext>
            </a:extLst>
          </p:cNvPr>
          <p:cNvSpPr>
            <a:spLocks noGrp="1"/>
          </p:cNvSpPr>
          <p:nvPr/>
        </p:nvSpPr>
        <p:spPr>
          <a:xfrm>
            <a:off x="10153650" y="2638425"/>
            <a:ext cx="4476750" cy="2657475"/>
          </a:xfrm>
          <a:prstGeom prst="roundRect">
            <a:avLst>
              <a:gd name="adj" fmla="val 2509"/>
            </a:avLst>
          </a:prstGeom>
          <a:solidFill>
            <a:srgbClr val="EEE0DB"/>
          </a:solidFill>
          <a:ln w="0">
            <a:noFill/>
          </a:ln>
        </p:spPr>
      </p:sp>
      <p:sp>
        <p:nvSpPr>
          <p:cNvPr id="24" name="text-258">
            <a:extLst>
              <a:ext uri="{FF2B5EF4-FFF2-40B4-BE49-F238E27FC236}">
                <ns2:creationId id="{F326678C-B51A-4BE6-9BD6-F384912D4C89}"/>
              </a:ext>
            </a:extLst>
          </p:cNvPr>
          <p:cNvSpPr>
            <a:spLocks noGrp="1"/>
          </p:cNvSpPr>
          <p:nvPr/>
        </p:nvSpPr>
        <p:spPr>
          <a:xfrm>
            <a:off x="10420350" y="2876550"/>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Customer benefit</a:t>
            </a:r>
          </a:p>
        </p:txBody>
      </p:sp>
      <p:sp>
        <p:nvSpPr>
          <p:cNvPr id="25" name="text-259">
            <a:extLst>
              <a:ext uri="{FF2B5EF4-FFF2-40B4-BE49-F238E27FC236}">
                <ns2:creationId id="{E9FC1A2A-6B98-4166-9F7F-A6666B94E892}"/>
              </a:ext>
            </a:extLst>
          </p:cNvPr>
          <p:cNvSpPr>
            <a:spLocks noGrp="1"/>
          </p:cNvSpPr>
          <p:nvPr/>
        </p:nvSpPr>
        <p:spPr>
          <a:xfrm>
            <a:off x="10420350" y="3505200"/>
            <a:ext cx="3943350" cy="157162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Shared definitions reduce ambiguous interpretation across sources and agents. Customer value is consistent terminology and explicit governance.</a:t>
            </a:r>
          </a:p>
        </p:txBody>
      </p:sp>
      <p:sp>
        <p:nvSpPr>
          <p:cNvPr id="26" name="shape-260">
            <a:extLst>
              <a:ext uri="{FF2B5EF4-FFF2-40B4-BE49-F238E27FC236}">
                <ns2:creationId id="{EBFA5D71-864F-4396-89EC-56C93F77E3BA}"/>
              </a:ext>
            </a:extLst>
          </p:cNvPr>
          <p:cNvSpPr>
            <a:spLocks noGrp="1"/>
          </p:cNvSpPr>
          <p:nvPr/>
        </p:nvSpPr>
        <p:spPr>
          <a:xfrm>
            <a:off x="10153650" y="5524500"/>
            <a:ext cx="4476750" cy="2295525"/>
          </a:xfrm>
          <a:prstGeom prst="roundRect">
            <a:avLst>
              <a:gd name="adj" fmla="val 2905"/>
            </a:avLst>
          </a:prstGeom>
          <a:solidFill>
            <a:srgbClr val="FFFFFF"/>
          </a:solidFill>
          <a:ln w="0">
            <a:noFill/>
          </a:ln>
        </p:spPr>
      </p:sp>
      <p:sp>
        <p:nvSpPr>
          <p:cNvPr id="27" name="text-261">
            <a:extLst>
              <a:ext uri="{FF2B5EF4-FFF2-40B4-BE49-F238E27FC236}">
                <ns2:creationId id="{93D1B8DB-01A6-4463-9737-6C211C35EE57}"/>
              </a:ext>
            </a:extLst>
          </p:cNvPr>
          <p:cNvSpPr>
            <a:spLocks noGrp="1"/>
          </p:cNvSpPr>
          <p:nvPr/>
        </p:nvSpPr>
        <p:spPr>
          <a:xfrm>
            <a:off x="10420350" y="5762625"/>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Review and access</a:t>
            </a:r>
          </a:p>
        </p:txBody>
      </p:sp>
      <p:sp>
        <p:nvSpPr>
          <p:cNvPr id="28" name="text-262">
            <a:extLst>
              <a:ext uri="{FF2B5EF4-FFF2-40B4-BE49-F238E27FC236}">
                <ns2:creationId id="{0114B391-ED6A-41F8-B82B-D9D99C5CBFE8}"/>
              </a:ext>
            </a:extLst>
          </p:cNvPr>
          <p:cNvSpPr>
            <a:spLocks noGrp="1"/>
          </p:cNvSpPr>
          <p:nvPr/>
        </p:nvSpPr>
        <p:spPr>
          <a:xfrm>
            <a:off x="10420350" y="6391275"/>
            <a:ext cx="3943350" cy="120967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Stewards activate additions. Changed meanings need an explicit migration.</a:t>
            </a:r>
          </a:p>
        </p:txBody>
      </p:sp>
    </p:spTree>
    <p:extLst>
      <p:ext uri="{BB962C8B-B14F-4D97-AF65-F5344CB8AC3E}">
        <ns4:creationId val="483473636"/>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show="0">
  <p:cSld>
    <p:bg>
      <p:bgPr>
        <a:solidFill>
          <a:srgbClr val="F4F2EE"/>
        </a:solidFill>
      </p:bgPr>
    </p:bg>
    <p:spTree>
      <p:nvGrpSpPr>
        <p:cNvPr id="1" name=""/>
        <p:cNvGrpSpPr/>
        <p:nvPr/>
      </p:nvGrpSpPr>
      <p:grpSpPr>
        <a:xfrm/>
      </p:grpSpPr>
      <p:sp>
        <p:nvSpPr>
          <p:cNvPr id="29" name="text-263">
            <a:extLst>
              <a:ext uri="{FF2B5EF4-FFF2-40B4-BE49-F238E27FC236}">
                <ns2:creationId id="{3FEC5F94-2A77-4F25-A2B7-5B4475D1E876}"/>
              </a:ext>
            </a:extLst>
          </p:cNvPr>
          <p:cNvSpPr>
            <a:spLocks noGrp="1"/>
          </p:cNvSpPr>
          <p:nvPr/>
        </p:nvSpPr>
        <p:spPr>
          <a:xfrm>
            <a:off x="609600" y="523875"/>
            <a:ext cx="14020800" cy="809625"/>
          </a:xfrm>
          <a:prstGeom prst="rect">
            <a:avLst/>
          </a:prstGeom>
          <a:noFill/>
          <a:ln w="0">
            <a:noFill/>
          </a:ln>
        </p:spPr>
        <p:txBody>
          <a:bodyPr wrap="square" lIns="0" tIns="0" rIns="0" bIns="0" anchor="t">
            <a:noAutofit/>
          </a:bodyPr>
          <a:lstStyle>
            <a:defPPr algn="l">
              <a:defRPr sz="4200" b="0">
                <a:solidFill>
                  <a:srgbClr val="252524"/>
                </a:solidFill>
                <a:latin typeface="Helvetica Neue"/>
                <a:ea typeface="Helvetica Neue"/>
                <a:cs typeface="Helvetica Neue"/>
              </a:defRPr>
            </a:defPPr>
          </a:lstStyle>
          <a:p>
            <a:pPr algn="l">
              <a:lnSpc>
                <a:spcPct val="113000"/>
              </a:lnSpc>
              <a:buNone/>
              <a:defRPr sz="4200" b="0">
                <a:solidFill>
                  <a:srgbClr val="252524"/>
                </a:solidFill>
                <a:latin typeface="Helvetica Neue"/>
                <a:ea typeface="Helvetica Neue"/>
                <a:cs typeface="Helvetica Neue"/>
              </a:defRPr>
            </a:pPr>
            <a:r>
              <a:rPr sz="4200" b="0">
                <a:solidFill>
                  <a:srgbClr val="252524"/>
                </a:solidFill>
                <a:latin typeface="Helvetica Neue"/>
                <a:ea typeface="Helvetica Neue"/>
                <a:cs typeface="Helvetica Neue"/>
              </a:rPr>
              <a:t>Agent integrations</a:t>
            </a:r>
          </a:p>
        </p:txBody>
      </p:sp>
      <p:sp>
        <p:nvSpPr>
          <p:cNvPr id="2" name="text-264">
            <a:extLst>
              <a:ext uri="{FF2B5EF4-FFF2-40B4-BE49-F238E27FC236}">
                <ns2:creationId id="{4C33B9CF-EE26-49A6-B623-B06726EDE34F}"/>
              </a:ext>
            </a:extLst>
          </p:cNvPr>
          <p:cNvSpPr>
            <a:spLocks noGrp="1"/>
          </p:cNvSpPr>
          <p:nvPr/>
        </p:nvSpPr>
        <p:spPr>
          <a:xfrm>
            <a:off x="628650" y="1476375"/>
            <a:ext cx="13963650" cy="914400"/>
          </a:xfrm>
          <a:prstGeom prst="rect">
            <a:avLst/>
          </a:prstGeom>
          <a:noFill/>
          <a:ln w="0">
            <a:noFill/>
          </a:ln>
        </p:spPr>
        <p:txBody>
          <a:bodyPr wrap="square" lIns="0" tIns="0" rIns="0" bIns="0" anchor="t">
            <a:noAutofit/>
          </a:bodyPr>
          <a:lstStyle>
            <a:defPPr algn="l">
              <a:defRPr sz="2025" b="0">
                <a:solidFill>
                  <a:srgbClr val="686560"/>
                </a:solidFill>
                <a:latin typeface="Helvetica Neue"/>
                <a:ea typeface="Helvetica Neue"/>
                <a:cs typeface="Helvetica Neue"/>
              </a:defRPr>
            </a:defPPr>
          </a:lstStyle>
          <a:p>
            <a:pPr algn="l">
              <a:lnSpc>
                <a:spcPct val="113000"/>
              </a:lnSpc>
              <a:buNone/>
              <a:defRPr sz="2025" b="0">
                <a:solidFill>
                  <a:srgbClr val="686560"/>
                </a:solidFill>
                <a:latin typeface="Helvetica Neue"/>
                <a:ea typeface="Helvetica Neue"/>
                <a:cs typeface="Helvetica Neue"/>
              </a:defRPr>
            </a:pPr>
            <a:r>
              <a:rPr sz="2025" b="0">
                <a:solidFill>
                  <a:srgbClr val="686560"/>
                </a:solidFill>
                <a:latin typeface="Helvetica Neue"/>
                <a:ea typeface="Helvetica Neue"/>
                <a:cs typeface="Helvetica Neue"/>
              </a:rPr>
              <a:t>Existing harnesses and copilots access the same scoped context through MCP and versioned HTTP interfaces.</a:t>
            </a:r>
          </a:p>
        </p:txBody>
      </p:sp>
      <p:sp>
        <p:nvSpPr>
          <p:cNvPr id="3" name="shape-265">
            <a:extLst>
              <a:ext uri="{FF2B5EF4-FFF2-40B4-BE49-F238E27FC236}">
                <ns2:creationId id="{01DE0458-A499-43E3-8F48-E52722F443D6}"/>
              </a:ext>
            </a:extLst>
          </p:cNvPr>
          <p:cNvSpPr>
            <a:spLocks noGrp="1"/>
          </p:cNvSpPr>
          <p:nvPr/>
        </p:nvSpPr>
        <p:spPr>
          <a:xfrm>
            <a:off x="609600" y="8153400"/>
            <a:ext cx="14020800" cy="0"/>
          </a:xfrm>
          <a:prstGeom prst="line">
            <a:avLst/>
          </a:prstGeom>
          <a:noFill/>
          <a:ln w="9525">
            <a:solidFill>
              <a:srgbClr val="D6D2CB"/>
            </a:solidFill>
          </a:ln>
        </p:spPr>
      </p:sp>
      <p:sp>
        <p:nvSpPr>
          <p:cNvPr id="4" name="text-266">
            <a:extLst>
              <a:ext uri="{FF2B5EF4-FFF2-40B4-BE49-F238E27FC236}">
                <ns2:creationId id="{1A8DD058-CCE9-4944-9D89-822F4DA36E36}"/>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686560"/>
                </a:solidFill>
                <a:latin typeface="Helvetica Neue"/>
                <a:ea typeface="Helvetica Neue"/>
                <a:cs typeface="Helvetica Neue"/>
              </a:defRPr>
            </a:defPPr>
          </a:lstStyle>
          <a:p>
            <a:pPr algn="r">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11</a:t>
            </a:r>
          </a:p>
        </p:txBody>
      </p:sp>
      <p:sp>
        <p:nvSpPr>
          <p:cNvPr id="5" name="shape-267">
            <a:extLst>
              <a:ext uri="{FF2B5EF4-FFF2-40B4-BE49-F238E27FC236}">
                <ns2:creationId id="{3739312E-BC8C-4BFA-82A6-71C84470C47A}"/>
              </a:ext>
            </a:extLst>
          </p:cNvPr>
          <p:cNvSpPr>
            <a:spLocks noGrp="1"/>
          </p:cNvSpPr>
          <p:nvPr/>
        </p:nvSpPr>
        <p:spPr>
          <a:xfrm>
            <a:off x="609600" y="2638425"/>
            <a:ext cx="2152650" cy="5181600"/>
          </a:xfrm>
          <a:prstGeom prst="roundRect">
            <a:avLst>
              <a:gd name="adj" fmla="val 3097"/>
            </a:avLst>
          </a:prstGeom>
          <a:solidFill>
            <a:srgbClr val="252524"/>
          </a:solidFill>
          <a:ln w="0">
            <a:noFill/>
          </a:ln>
        </p:spPr>
      </p:sp>
      <p:sp>
        <p:nvSpPr>
          <p:cNvPr id="6" name="text-268">
            <a:extLst>
              <a:ext uri="{FF2B5EF4-FFF2-40B4-BE49-F238E27FC236}">
                <ns2:creationId id="{33B8D822-E397-4A24-8D56-6BB4073860E0}"/>
              </a:ext>
            </a:extLst>
          </p:cNvPr>
          <p:cNvSpPr>
            <a:spLocks noGrp="1"/>
          </p:cNvSpPr>
          <p:nvPr/>
        </p:nvSpPr>
        <p:spPr>
          <a:xfrm>
            <a:off x="838200" y="2905125"/>
            <a:ext cx="1695450" cy="647700"/>
          </a:xfrm>
          <a:prstGeom prst="rect">
            <a:avLst/>
          </a:prstGeom>
          <a:noFill/>
          <a:ln w="0">
            <a:noFill/>
          </a:ln>
        </p:spPr>
        <p:txBody>
          <a:bodyPr wrap="square" lIns="0" tIns="0" rIns="0" bIns="0" anchor="t">
            <a:noAutofit/>
          </a:bodyPr>
          <a:lstStyle>
            <a:defPPr algn="l">
              <a:defRPr sz="1875" b="0">
                <a:solidFill>
                  <a:srgbClr val="FFFFFF"/>
                </a:solidFill>
                <a:latin typeface="Helvetica Neue"/>
                <a:ea typeface="Helvetica Neue"/>
                <a:cs typeface="Helvetica Neue"/>
              </a:defRPr>
            </a:defPPr>
          </a:lstStyle>
          <a:p>
            <a:pPr algn="l">
              <a:lnSpc>
                <a:spcPct val="113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Workspace areas</a:t>
            </a:r>
          </a:p>
        </p:txBody>
      </p:sp>
      <p:sp>
        <p:nvSpPr>
          <p:cNvPr id="7" name="text-269">
            <a:hlinkClick r:id="Rb6293955dd1941b1" action="ppaction://hlinksldjump"/>
            <a:extLst>
              <a:ext uri="{FF2B5EF4-FFF2-40B4-BE49-F238E27FC236}">
                <ns2:creationId id="{294CE844-250A-4A04-9454-C3C190119CDE}"/>
              </a:ext>
            </a:extLst>
          </p:cNvPr>
          <p:cNvSpPr>
            <a:spLocks noGrp="1"/>
          </p:cNvSpPr>
          <p:nvPr/>
        </p:nvSpPr>
        <p:spPr>
          <a:xfrm>
            <a:off x="876300" y="38004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b6293955dd1941b1" action="ppaction://hlinksldjump"/>
              </a:rPr>
              <a:t>Catalogue</a:t>
            </a:r>
          </a:p>
        </p:txBody>
      </p:sp>
      <p:sp>
        <p:nvSpPr>
          <p:cNvPr id="8" name="text-270">
            <a:hlinkClick r:id="Rc54c81af90fc460c" action="ppaction://hlinksldjump"/>
            <a:extLst>
              <a:ext uri="{FF2B5EF4-FFF2-40B4-BE49-F238E27FC236}">
                <ns2:creationId id="{C661B422-2F1E-4F4C-915E-DF7619099D29}"/>
              </a:ext>
            </a:extLst>
          </p:cNvPr>
          <p:cNvSpPr>
            <a:spLocks noGrp="1"/>
          </p:cNvSpPr>
          <p:nvPr/>
        </p:nvSpPr>
        <p:spPr>
          <a:xfrm>
            <a:off x="876300" y="42672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c54c81af90fc460c" action="ppaction://hlinksldjump"/>
              </a:rPr>
              <a:t>Builder</a:t>
            </a:r>
          </a:p>
        </p:txBody>
      </p:sp>
      <p:sp>
        <p:nvSpPr>
          <p:cNvPr id="9" name="text-271">
            <a:hlinkClick r:id="R8477c9e148d2467e" action="ppaction://hlinksldjump"/>
            <a:extLst>
              <a:ext uri="{FF2B5EF4-FFF2-40B4-BE49-F238E27FC236}">
                <ns2:creationId id="{2A98F1F1-28BB-4F1F-BC42-0CEE8387535A}"/>
              </a:ext>
            </a:extLst>
          </p:cNvPr>
          <p:cNvSpPr>
            <a:spLocks noGrp="1"/>
          </p:cNvSpPr>
          <p:nvPr/>
        </p:nvSpPr>
        <p:spPr>
          <a:xfrm>
            <a:off x="876300" y="473392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8477c9e148d2467e" action="ppaction://hlinksldjump"/>
              </a:rPr>
              <a:t>Reauthoring</a:t>
            </a:r>
          </a:p>
        </p:txBody>
      </p:sp>
      <p:sp>
        <p:nvSpPr>
          <p:cNvPr id="10" name="text-272">
            <a:hlinkClick r:id="R9c0763a135434861" action="ppaction://hlinksldjump"/>
            <a:extLst>
              <a:ext uri="{FF2B5EF4-FFF2-40B4-BE49-F238E27FC236}">
                <ns2:creationId id="{2ACA1D0F-17F8-4D70-97A6-614B79A61A37}"/>
              </a:ext>
            </a:extLst>
          </p:cNvPr>
          <p:cNvSpPr>
            <a:spLocks noGrp="1"/>
          </p:cNvSpPr>
          <p:nvPr/>
        </p:nvSpPr>
        <p:spPr>
          <a:xfrm>
            <a:off x="876300" y="520065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9c0763a135434861" action="ppaction://hlinksldjump"/>
              </a:rPr>
              <a:t>Ontology</a:t>
            </a:r>
          </a:p>
        </p:txBody>
      </p:sp>
      <p:sp>
        <p:nvSpPr>
          <p:cNvPr id="11" name="shape-273">
            <a:extLst>
              <a:ext uri="{FF2B5EF4-FFF2-40B4-BE49-F238E27FC236}">
                <ns2:creationId id="{13BF4638-2C98-48F7-99F6-55329DBAB751}"/>
              </a:ext>
            </a:extLst>
          </p:cNvPr>
          <p:cNvSpPr>
            <a:spLocks noGrp="1"/>
          </p:cNvSpPr>
          <p:nvPr/>
        </p:nvSpPr>
        <p:spPr>
          <a:xfrm>
            <a:off x="762000" y="5610225"/>
            <a:ext cx="1847850" cy="400050"/>
          </a:xfrm>
          <a:prstGeom prst="roundRect">
            <a:avLst>
              <a:gd name="adj" fmla="val 11905"/>
            </a:avLst>
          </a:prstGeom>
          <a:solidFill>
            <a:srgbClr val="C9433C"/>
          </a:solidFill>
          <a:ln w="0">
            <a:noFill/>
          </a:ln>
        </p:spPr>
      </p:sp>
      <p:sp>
        <p:nvSpPr>
          <p:cNvPr id="12" name="text-274">
            <a:hlinkClick r:id="R87cd5d4acc284dbd" action="ppaction://hlinksldjump"/>
            <a:extLst>
              <a:ext uri="{FF2B5EF4-FFF2-40B4-BE49-F238E27FC236}">
                <ns2:creationId id="{994D458D-F9DE-4EBB-B878-289CD3B686B0}"/>
              </a:ext>
            </a:extLst>
          </p:cNvPr>
          <p:cNvSpPr>
            <a:spLocks noGrp="1"/>
          </p:cNvSpPr>
          <p:nvPr/>
        </p:nvSpPr>
        <p:spPr>
          <a:xfrm>
            <a:off x="876300" y="56673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87cd5d4acc284dbd" action="ppaction://hlinksldjump"/>
              </a:rPr>
              <a:t>Agents</a:t>
            </a:r>
          </a:p>
        </p:txBody>
      </p:sp>
      <p:sp>
        <p:nvSpPr>
          <p:cNvPr id="13" name="text-275">
            <a:hlinkClick r:id="R2d1c5365189342e6" action="ppaction://hlinksldjump"/>
            <a:extLst>
              <a:ext uri="{FF2B5EF4-FFF2-40B4-BE49-F238E27FC236}">
                <ns2:creationId id="{B2691DB3-84E6-41DE-A5CF-1C1A2201A08B}"/>
              </a:ext>
            </a:extLst>
          </p:cNvPr>
          <p:cNvSpPr>
            <a:spLocks noGrp="1"/>
          </p:cNvSpPr>
          <p:nvPr/>
        </p:nvSpPr>
        <p:spPr>
          <a:xfrm>
            <a:off x="876300" y="61341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2d1c5365189342e6" action="ppaction://hlinksldjump"/>
              </a:rPr>
              <a:t>Memory</a:t>
            </a:r>
          </a:p>
        </p:txBody>
      </p:sp>
      <p:sp>
        <p:nvSpPr>
          <p:cNvPr id="14" name="text-276">
            <a:hlinkClick r:id="Rcd346705f1494c60" action="ppaction://hlinksldjump"/>
            <a:extLst>
              <a:ext uri="{FF2B5EF4-FFF2-40B4-BE49-F238E27FC236}">
                <ns2:creationId id="{9A38454C-4C94-4738-AE0E-50148F43D435}"/>
              </a:ext>
            </a:extLst>
          </p:cNvPr>
          <p:cNvSpPr>
            <a:spLocks noGrp="1"/>
          </p:cNvSpPr>
          <p:nvPr/>
        </p:nvSpPr>
        <p:spPr>
          <a:xfrm>
            <a:off x="838200" y="6991350"/>
            <a:ext cx="1695450" cy="6667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cd346705f1494c60" action="ppaction://hlinksldjump"/>
              </a:rPr>
              <a:t>Back to</a:t>
            </a:r>
          </a:p>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7fa401e308e64e7a" action="ppaction://hlinksldjump"/>
              </a:rPr>
              <a:t>workspace</a:t>
            </a:r>
          </a:p>
        </p:txBody>
      </p:sp>
      <p:sp>
        <p:nvSpPr>
          <p:cNvPr id="15" name="shape-277">
            <a:extLst>
              <a:ext uri="{FF2B5EF4-FFF2-40B4-BE49-F238E27FC236}">
                <ns2:creationId id="{1269A821-78A2-451B-9F16-D45E6BE0E57C}"/>
              </a:ext>
            </a:extLst>
          </p:cNvPr>
          <p:cNvSpPr>
            <a:spLocks noGrp="1"/>
          </p:cNvSpPr>
          <p:nvPr/>
        </p:nvSpPr>
        <p:spPr>
          <a:xfrm>
            <a:off x="2990850" y="2638425"/>
            <a:ext cx="6934200" cy="5181600"/>
          </a:xfrm>
          <a:prstGeom prst="roundRect">
            <a:avLst>
              <a:gd name="adj" fmla="val 1287"/>
            </a:avLst>
          </a:prstGeom>
          <a:solidFill>
            <a:srgbClr val="FFFFFF"/>
          </a:solidFill>
          <a:ln w="0">
            <a:noFill/>
          </a:ln>
        </p:spPr>
      </p:sp>
      <p:sp>
        <p:nvSpPr>
          <p:cNvPr id="16" name="text-278">
            <a:extLst>
              <a:ext uri="{FF2B5EF4-FFF2-40B4-BE49-F238E27FC236}">
                <ns2:creationId id="{21D7FB4F-42C9-4A18-A1E9-9790C13F9DD6}"/>
              </a:ext>
            </a:extLst>
          </p:cNvPr>
          <p:cNvSpPr>
            <a:spLocks noGrp="1"/>
          </p:cNvSpPr>
          <p:nvPr/>
        </p:nvSpPr>
        <p:spPr>
          <a:xfrm>
            <a:off x="3257550" y="2876550"/>
            <a:ext cx="6400800" cy="495300"/>
          </a:xfrm>
          <a:prstGeom prst="rect">
            <a:avLst/>
          </a:prstGeom>
          <a:noFill/>
          <a:ln w="0">
            <a:noFill/>
          </a:ln>
        </p:spPr>
        <p:txBody>
          <a:bodyPr wrap="square" lIns="0" tIns="0" rIns="0" bIns="0" anchor="t">
            <a:noAutofit/>
          </a:bodyPr>
          <a:lstStyle>
            <a:defPPr algn="l">
              <a:defRPr sz="2550" b="0">
                <a:solidFill>
                  <a:srgbClr val="252524"/>
                </a:solidFill>
                <a:latin typeface="Helvetica Neue"/>
                <a:ea typeface="Helvetica Neue"/>
                <a:cs typeface="Helvetica Neue"/>
              </a:defRPr>
            </a:defPPr>
          </a:lstStyle>
          <a:p>
            <a:pPr algn="l">
              <a:lnSpc>
                <a:spcPct val="113000"/>
              </a:lnSpc>
              <a:buNone/>
              <a:defRPr sz="2550" b="0">
                <a:solidFill>
                  <a:srgbClr val="252524"/>
                </a:solidFill>
                <a:latin typeface="Helvetica Neue"/>
                <a:ea typeface="Helvetica Neue"/>
                <a:cs typeface="Helvetica Neue"/>
              </a:defRPr>
            </a:pPr>
            <a:r>
              <a:rPr sz="2550" b="0">
                <a:solidFill>
                  <a:srgbClr val="252524"/>
                </a:solidFill>
                <a:latin typeface="Helvetica Neue"/>
                <a:ea typeface="Helvetica Neue"/>
                <a:cs typeface="Helvetica Neue"/>
              </a:rPr>
              <a:t>Customer workflow</a:t>
            </a:r>
          </a:p>
        </p:txBody>
      </p:sp>
      <p:sp>
        <p:nvSpPr>
          <p:cNvPr id="17" name="text-279">
            <a:extLst>
              <a:ext uri="{FF2B5EF4-FFF2-40B4-BE49-F238E27FC236}">
                <ns2:creationId id="{438AADA1-6C5B-41CD-8233-4625626BDCE5}"/>
              </a:ext>
            </a:extLst>
          </p:cNvPr>
          <p:cNvSpPr>
            <a:spLocks noGrp="1"/>
          </p:cNvSpPr>
          <p:nvPr/>
        </p:nvSpPr>
        <p:spPr>
          <a:xfrm>
            <a:off x="3257550" y="360045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Connect a client</a:t>
            </a:r>
          </a:p>
        </p:txBody>
      </p:sp>
      <p:sp>
        <p:nvSpPr>
          <p:cNvPr id="18" name="text-280">
            <a:extLst>
              <a:ext uri="{FF2B5EF4-FFF2-40B4-BE49-F238E27FC236}">
                <ns2:creationId id="{6308A974-C2B4-4AA3-81E6-05CCC63AA1E0}"/>
              </a:ext>
            </a:extLst>
          </p:cNvPr>
          <p:cNvSpPr>
            <a:spLocks noGrp="1"/>
          </p:cNvSpPr>
          <p:nvPr/>
        </p:nvSpPr>
        <p:spPr>
          <a:xfrm>
            <a:off x="3257550" y="407670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Configure a scoped client identity and permitted tools.</a:t>
            </a:r>
          </a:p>
        </p:txBody>
      </p:sp>
      <p:sp>
        <p:nvSpPr>
          <p:cNvPr id="19" name="text-281">
            <a:extLst>
              <a:ext uri="{FF2B5EF4-FFF2-40B4-BE49-F238E27FC236}">
                <ns2:creationId id="{8CB7C0FA-FCAD-49CB-8C07-60F5BF730889}"/>
              </a:ext>
            </a:extLst>
          </p:cNvPr>
          <p:cNvSpPr>
            <a:spLocks noGrp="1"/>
          </p:cNvSpPr>
          <p:nvPr/>
        </p:nvSpPr>
        <p:spPr>
          <a:xfrm>
            <a:off x="3257550" y="4829175"/>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Use scoped tools</a:t>
            </a:r>
          </a:p>
        </p:txBody>
      </p:sp>
      <p:sp>
        <p:nvSpPr>
          <p:cNvPr id="20" name="text-282">
            <a:extLst>
              <a:ext uri="{FF2B5EF4-FFF2-40B4-BE49-F238E27FC236}">
                <ns2:creationId id="{0CB6C850-6507-405D-937D-089926184C77}"/>
              </a:ext>
            </a:extLst>
          </p:cNvPr>
          <p:cNvSpPr>
            <a:spLocks noGrp="1"/>
          </p:cNvSpPr>
          <p:nvPr/>
        </p:nvSpPr>
        <p:spPr>
          <a:xfrm>
            <a:off x="3257550" y="5305425"/>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Retrieve a receipt and inspect evidence before acting.</a:t>
            </a:r>
          </a:p>
        </p:txBody>
      </p:sp>
      <p:sp>
        <p:nvSpPr>
          <p:cNvPr id="21" name="text-283">
            <a:extLst>
              <a:ext uri="{FF2B5EF4-FFF2-40B4-BE49-F238E27FC236}">
                <ns2:creationId id="{51F03E84-E401-4BEE-9E0D-54DE2EEDFE72}"/>
              </a:ext>
            </a:extLst>
          </p:cNvPr>
          <p:cNvSpPr>
            <a:spLocks noGrp="1"/>
          </p:cNvSpPr>
          <p:nvPr/>
        </p:nvSpPr>
        <p:spPr>
          <a:xfrm>
            <a:off x="3257550" y="605790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Share work</a:t>
            </a:r>
          </a:p>
        </p:txBody>
      </p:sp>
      <p:sp>
        <p:nvSpPr>
          <p:cNvPr id="22" name="text-284">
            <a:extLst>
              <a:ext uri="{FF2B5EF4-FFF2-40B4-BE49-F238E27FC236}">
                <ns2:creationId id="{125B950D-C150-4AD2-BF15-86BB526C35FF}"/>
              </a:ext>
            </a:extLst>
          </p:cNvPr>
          <p:cNvSpPr>
            <a:spLocks noGrp="1"/>
          </p:cNvSpPr>
          <p:nvPr/>
        </p:nvSpPr>
        <p:spPr>
          <a:xfrm>
            <a:off x="3257550" y="653415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Record findings and transfer tasks with explicit instructions.</a:t>
            </a:r>
          </a:p>
        </p:txBody>
      </p:sp>
      <p:sp>
        <p:nvSpPr>
          <p:cNvPr id="23" name="shape-285">
            <a:extLst>
              <a:ext uri="{FF2B5EF4-FFF2-40B4-BE49-F238E27FC236}">
                <ns2:creationId id="{1D364CF5-4509-4DE2-888A-5E021A66C0A5}"/>
              </a:ext>
            </a:extLst>
          </p:cNvPr>
          <p:cNvSpPr>
            <a:spLocks noGrp="1"/>
          </p:cNvSpPr>
          <p:nvPr/>
        </p:nvSpPr>
        <p:spPr>
          <a:xfrm>
            <a:off x="10153650" y="2638425"/>
            <a:ext cx="4476750" cy="2657475"/>
          </a:xfrm>
          <a:prstGeom prst="roundRect">
            <a:avLst>
              <a:gd name="adj" fmla="val 2509"/>
            </a:avLst>
          </a:prstGeom>
          <a:solidFill>
            <a:srgbClr val="EEE0DB"/>
          </a:solidFill>
          <a:ln w="0">
            <a:noFill/>
          </a:ln>
        </p:spPr>
      </p:sp>
      <p:sp>
        <p:nvSpPr>
          <p:cNvPr id="24" name="text-286">
            <a:extLst>
              <a:ext uri="{FF2B5EF4-FFF2-40B4-BE49-F238E27FC236}">
                <ns2:creationId id="{1BB230B5-0801-4699-8FA3-6AEBA11C31D4}"/>
              </a:ext>
            </a:extLst>
          </p:cNvPr>
          <p:cNvSpPr>
            <a:spLocks noGrp="1"/>
          </p:cNvSpPr>
          <p:nvPr/>
        </p:nvSpPr>
        <p:spPr>
          <a:xfrm>
            <a:off x="10420350" y="2876550"/>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Customer benefit</a:t>
            </a:r>
          </a:p>
        </p:txBody>
      </p:sp>
      <p:sp>
        <p:nvSpPr>
          <p:cNvPr id="25" name="text-287">
            <a:extLst>
              <a:ext uri="{FF2B5EF4-FFF2-40B4-BE49-F238E27FC236}">
                <ns2:creationId id="{1CFE36E5-687D-4A37-A85B-F7AF26E3879B}"/>
              </a:ext>
            </a:extLst>
          </p:cNvPr>
          <p:cNvSpPr>
            <a:spLocks noGrp="1"/>
          </p:cNvSpPr>
          <p:nvPr/>
        </p:nvSpPr>
        <p:spPr>
          <a:xfrm>
            <a:off x="10420350" y="3505200"/>
            <a:ext cx="3943350" cy="157162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Knowledge and unfinished work travel across clients without depending on one chat transcript. Customer value is client choice and less repeated integration.</a:t>
            </a:r>
          </a:p>
        </p:txBody>
      </p:sp>
      <p:sp>
        <p:nvSpPr>
          <p:cNvPr id="26" name="shape-288">
            <a:extLst>
              <a:ext uri="{FF2B5EF4-FFF2-40B4-BE49-F238E27FC236}">
                <ns2:creationId id="{96A617E0-945B-4FED-BD18-BF5080AC91D5}"/>
              </a:ext>
            </a:extLst>
          </p:cNvPr>
          <p:cNvSpPr>
            <a:spLocks noGrp="1"/>
          </p:cNvSpPr>
          <p:nvPr/>
        </p:nvSpPr>
        <p:spPr>
          <a:xfrm>
            <a:off x="10153650" y="5524500"/>
            <a:ext cx="4476750" cy="2295525"/>
          </a:xfrm>
          <a:prstGeom prst="roundRect">
            <a:avLst>
              <a:gd name="adj" fmla="val 2905"/>
            </a:avLst>
          </a:prstGeom>
          <a:solidFill>
            <a:srgbClr val="FFFFFF"/>
          </a:solidFill>
          <a:ln w="0">
            <a:noFill/>
          </a:ln>
        </p:spPr>
      </p:sp>
      <p:sp>
        <p:nvSpPr>
          <p:cNvPr id="27" name="text-289">
            <a:extLst>
              <a:ext uri="{FF2B5EF4-FFF2-40B4-BE49-F238E27FC236}">
                <ns2:creationId id="{90CD8D8B-E629-4AD5-B490-C7E0D91A46B9}"/>
              </a:ext>
            </a:extLst>
          </p:cNvPr>
          <p:cNvSpPr>
            <a:spLocks noGrp="1"/>
          </p:cNvSpPr>
          <p:nvPr/>
        </p:nvSpPr>
        <p:spPr>
          <a:xfrm>
            <a:off x="10420350" y="5762625"/>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Review and access</a:t>
            </a:r>
          </a:p>
        </p:txBody>
      </p:sp>
      <p:sp>
        <p:nvSpPr>
          <p:cNvPr id="28" name="text-290">
            <a:extLst>
              <a:ext uri="{FF2B5EF4-FFF2-40B4-BE49-F238E27FC236}">
                <ns2:creationId id="{D1062046-7F3F-44F7-AE6C-2D524197FE06}"/>
              </a:ext>
            </a:extLst>
          </p:cNvPr>
          <p:cNvSpPr>
            <a:spLocks noGrp="1"/>
          </p:cNvSpPr>
          <p:nvPr/>
        </p:nvSpPr>
        <p:spPr>
          <a:xfrm>
            <a:off x="10420350" y="6391275"/>
            <a:ext cx="3943350" cy="120967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Server identity selects the tenant and tools. Approval stays with a steward.</a:t>
            </a:r>
          </a:p>
        </p:txBody>
      </p:sp>
    </p:spTree>
    <p:extLst>
      <p:ext uri="{BB962C8B-B14F-4D97-AF65-F5344CB8AC3E}">
        <ns4:creationId val="518015653"/>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show="0">
  <p:cSld>
    <p:bg>
      <p:bgPr>
        <a:solidFill>
          <a:srgbClr val="F4F2EE"/>
        </a:solidFill>
      </p:bgPr>
    </p:bg>
    <p:spTree>
      <p:nvGrpSpPr>
        <p:cNvPr id="1" name=""/>
        <p:cNvGrpSpPr/>
        <p:nvPr/>
      </p:nvGrpSpPr>
      <p:grpSpPr>
        <a:xfrm/>
      </p:grpSpPr>
      <p:sp>
        <p:nvSpPr>
          <p:cNvPr id="29" name="text-291">
            <a:extLst>
              <a:ext uri="{FF2B5EF4-FFF2-40B4-BE49-F238E27FC236}">
                <ns2:creationId id="{6F477064-59E3-4AAC-8D26-F2C59469AA22}"/>
              </a:ext>
            </a:extLst>
          </p:cNvPr>
          <p:cNvSpPr>
            <a:spLocks noGrp="1"/>
          </p:cNvSpPr>
          <p:nvPr/>
        </p:nvSpPr>
        <p:spPr>
          <a:xfrm>
            <a:off x="609600" y="523875"/>
            <a:ext cx="14020800" cy="809625"/>
          </a:xfrm>
          <a:prstGeom prst="rect">
            <a:avLst/>
          </a:prstGeom>
          <a:noFill/>
          <a:ln w="0">
            <a:noFill/>
          </a:ln>
        </p:spPr>
        <p:txBody>
          <a:bodyPr wrap="square" lIns="0" tIns="0" rIns="0" bIns="0" anchor="t">
            <a:noAutofit/>
          </a:bodyPr>
          <a:lstStyle>
            <a:defPPr algn="l">
              <a:defRPr sz="4200" b="0">
                <a:solidFill>
                  <a:srgbClr val="252524"/>
                </a:solidFill>
                <a:latin typeface="Helvetica Neue"/>
                <a:ea typeface="Helvetica Neue"/>
                <a:cs typeface="Helvetica Neue"/>
              </a:defRPr>
            </a:defPPr>
          </a:lstStyle>
          <a:p>
            <a:pPr algn="l">
              <a:lnSpc>
                <a:spcPct val="113000"/>
              </a:lnSpc>
              <a:buNone/>
              <a:defRPr sz="4200" b="0">
                <a:solidFill>
                  <a:srgbClr val="252524"/>
                </a:solidFill>
                <a:latin typeface="Helvetica Neue"/>
                <a:ea typeface="Helvetica Neue"/>
                <a:cs typeface="Helvetica Neue"/>
              </a:defRPr>
            </a:pPr>
            <a:r>
              <a:rPr sz="4200" b="0">
                <a:solidFill>
                  <a:srgbClr val="252524"/>
                </a:solidFill>
                <a:latin typeface="Helvetica Neue"/>
                <a:ea typeface="Helvetica Neue"/>
                <a:cs typeface="Helvetica Neue"/>
              </a:rPr>
              <a:t>Persistent memory</a:t>
            </a:r>
          </a:p>
        </p:txBody>
      </p:sp>
      <p:sp>
        <p:nvSpPr>
          <p:cNvPr id="2" name="text-292">
            <a:extLst>
              <a:ext uri="{FF2B5EF4-FFF2-40B4-BE49-F238E27FC236}">
                <ns2:creationId id="{604A7916-7588-40EC-92D0-0511CED4A7FA}"/>
              </a:ext>
            </a:extLst>
          </p:cNvPr>
          <p:cNvSpPr>
            <a:spLocks noGrp="1"/>
          </p:cNvSpPr>
          <p:nvPr/>
        </p:nvSpPr>
        <p:spPr>
          <a:xfrm>
            <a:off x="628650" y="1476375"/>
            <a:ext cx="13963650" cy="914400"/>
          </a:xfrm>
          <a:prstGeom prst="rect">
            <a:avLst/>
          </a:prstGeom>
          <a:noFill/>
          <a:ln w="0">
            <a:noFill/>
          </a:ln>
        </p:spPr>
        <p:txBody>
          <a:bodyPr wrap="square" lIns="0" tIns="0" rIns="0" bIns="0" anchor="t">
            <a:noAutofit/>
          </a:bodyPr>
          <a:lstStyle>
            <a:defPPr algn="l">
              <a:defRPr sz="2025" b="0">
                <a:solidFill>
                  <a:srgbClr val="686560"/>
                </a:solidFill>
                <a:latin typeface="Helvetica Neue"/>
                <a:ea typeface="Helvetica Neue"/>
                <a:cs typeface="Helvetica Neue"/>
              </a:defRPr>
            </a:defPPr>
          </a:lstStyle>
          <a:p>
            <a:pPr algn="l">
              <a:lnSpc>
                <a:spcPct val="113000"/>
              </a:lnSpc>
              <a:buNone/>
              <a:defRPr sz="2025" b="0">
                <a:solidFill>
                  <a:srgbClr val="686560"/>
                </a:solidFill>
                <a:latin typeface="Helvetica Neue"/>
                <a:ea typeface="Helvetica Neue"/>
                <a:cs typeface="Helvetica Neue"/>
              </a:defRPr>
            </a:pPr>
            <a:r>
              <a:rPr sz="2025" b="0">
                <a:solidFill>
                  <a:srgbClr val="686560"/>
                </a:solidFill>
                <a:latin typeface="Helvetica Neue"/>
                <a:ea typeface="Helvetica Neue"/>
                <a:cs typeface="Helvetica Neue"/>
              </a:rPr>
              <a:t>The graph preserves governed knowledge, session experience and shared tasks for the next authorized helper.</a:t>
            </a:r>
          </a:p>
        </p:txBody>
      </p:sp>
      <p:sp>
        <p:nvSpPr>
          <p:cNvPr id="3" name="shape-293">
            <a:extLst>
              <a:ext uri="{FF2B5EF4-FFF2-40B4-BE49-F238E27FC236}">
                <ns2:creationId id="{2829F8F9-EC57-4C5D-B0AE-62ADB628FADA}"/>
              </a:ext>
            </a:extLst>
          </p:cNvPr>
          <p:cNvSpPr>
            <a:spLocks noGrp="1"/>
          </p:cNvSpPr>
          <p:nvPr/>
        </p:nvSpPr>
        <p:spPr>
          <a:xfrm>
            <a:off x="609600" y="8153400"/>
            <a:ext cx="14020800" cy="0"/>
          </a:xfrm>
          <a:prstGeom prst="line">
            <a:avLst/>
          </a:prstGeom>
          <a:noFill/>
          <a:ln w="9525">
            <a:solidFill>
              <a:srgbClr val="D6D2CB"/>
            </a:solidFill>
          </a:ln>
        </p:spPr>
      </p:sp>
      <p:sp>
        <p:nvSpPr>
          <p:cNvPr id="4" name="text-294">
            <a:extLst>
              <a:ext uri="{FF2B5EF4-FFF2-40B4-BE49-F238E27FC236}">
                <ns2:creationId id="{6F44105E-9A5A-4B74-A749-F6590FC26162}"/>
              </a:ext>
            </a:extLst>
          </p:cNvPr>
          <p:cNvSpPr>
            <a:spLocks noGrp="1"/>
          </p:cNvSpPr>
          <p:nvPr/>
        </p:nvSpPr>
        <p:spPr>
          <a:xfrm>
            <a:off x="14077950" y="8248650"/>
            <a:ext cx="552450" cy="257175"/>
          </a:xfrm>
          <a:prstGeom prst="rect">
            <a:avLst/>
          </a:prstGeom>
          <a:noFill/>
          <a:ln w="0">
            <a:noFill/>
          </a:ln>
        </p:spPr>
        <p:txBody>
          <a:bodyPr wrap="square" lIns="0" tIns="0" rIns="0" bIns="0" anchor="t">
            <a:noAutofit/>
          </a:bodyPr>
          <a:lstStyle>
            <a:defPPr algn="r">
              <a:defRPr sz="1350" b="0">
                <a:solidFill>
                  <a:srgbClr val="686560"/>
                </a:solidFill>
                <a:latin typeface="Helvetica Neue"/>
                <a:ea typeface="Helvetica Neue"/>
                <a:cs typeface="Helvetica Neue"/>
              </a:defRPr>
            </a:defPPr>
          </a:lstStyle>
          <a:p>
            <a:pPr algn="r">
              <a:lnSpc>
                <a:spcPct val="113000"/>
              </a:lnSpc>
              <a:buNone/>
              <a:defRPr sz="1350" b="0">
                <a:solidFill>
                  <a:srgbClr val="686560"/>
                </a:solidFill>
                <a:latin typeface="Helvetica Neue"/>
                <a:ea typeface="Helvetica Neue"/>
                <a:cs typeface="Helvetica Neue"/>
              </a:defRPr>
            </a:pPr>
            <a:r>
              <a:rPr sz="1350" b="0">
                <a:solidFill>
                  <a:srgbClr val="686560"/>
                </a:solidFill>
                <a:latin typeface="Helvetica Neue"/>
                <a:ea typeface="Helvetica Neue"/>
                <a:cs typeface="Helvetica Neue"/>
              </a:rPr>
              <a:t>12</a:t>
            </a:r>
          </a:p>
        </p:txBody>
      </p:sp>
      <p:sp>
        <p:nvSpPr>
          <p:cNvPr id="5" name="shape-295">
            <a:extLst>
              <a:ext uri="{FF2B5EF4-FFF2-40B4-BE49-F238E27FC236}">
                <ns2:creationId id="{C1CE9D43-2DE3-4FBC-B0FC-7DA1CB3C6D08}"/>
              </a:ext>
            </a:extLst>
          </p:cNvPr>
          <p:cNvSpPr>
            <a:spLocks noGrp="1"/>
          </p:cNvSpPr>
          <p:nvPr/>
        </p:nvSpPr>
        <p:spPr>
          <a:xfrm>
            <a:off x="609600" y="2638425"/>
            <a:ext cx="2152650" cy="5181600"/>
          </a:xfrm>
          <a:prstGeom prst="roundRect">
            <a:avLst>
              <a:gd name="adj" fmla="val 3097"/>
            </a:avLst>
          </a:prstGeom>
          <a:solidFill>
            <a:srgbClr val="252524"/>
          </a:solidFill>
          <a:ln w="0">
            <a:noFill/>
          </a:ln>
        </p:spPr>
      </p:sp>
      <p:sp>
        <p:nvSpPr>
          <p:cNvPr id="6" name="text-296">
            <a:extLst>
              <a:ext uri="{FF2B5EF4-FFF2-40B4-BE49-F238E27FC236}">
                <ns2:creationId id="{BC459B3C-1ACB-4B20-8C5B-6D511FD12B63}"/>
              </a:ext>
            </a:extLst>
          </p:cNvPr>
          <p:cNvSpPr>
            <a:spLocks noGrp="1"/>
          </p:cNvSpPr>
          <p:nvPr/>
        </p:nvSpPr>
        <p:spPr>
          <a:xfrm>
            <a:off x="838200" y="2905125"/>
            <a:ext cx="1695450" cy="647700"/>
          </a:xfrm>
          <a:prstGeom prst="rect">
            <a:avLst/>
          </a:prstGeom>
          <a:noFill/>
          <a:ln w="0">
            <a:noFill/>
          </a:ln>
        </p:spPr>
        <p:txBody>
          <a:bodyPr wrap="square" lIns="0" tIns="0" rIns="0" bIns="0" anchor="t">
            <a:noAutofit/>
          </a:bodyPr>
          <a:lstStyle>
            <a:defPPr algn="l">
              <a:defRPr sz="1875" b="0">
                <a:solidFill>
                  <a:srgbClr val="FFFFFF"/>
                </a:solidFill>
                <a:latin typeface="Helvetica Neue"/>
                <a:ea typeface="Helvetica Neue"/>
                <a:cs typeface="Helvetica Neue"/>
              </a:defRPr>
            </a:defPPr>
          </a:lstStyle>
          <a:p>
            <a:pPr algn="l">
              <a:lnSpc>
                <a:spcPct val="113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Workspace areas</a:t>
            </a:r>
          </a:p>
        </p:txBody>
      </p:sp>
      <p:sp>
        <p:nvSpPr>
          <p:cNvPr id="7" name="text-297">
            <a:hlinkClick r:id="Rf89ff26d49274eb7" action="ppaction://hlinksldjump"/>
            <a:extLst>
              <a:ext uri="{FF2B5EF4-FFF2-40B4-BE49-F238E27FC236}">
                <ns2:creationId id="{796D9C74-4895-452A-B79F-948E28A22228}"/>
              </a:ext>
            </a:extLst>
          </p:cNvPr>
          <p:cNvSpPr>
            <a:spLocks noGrp="1"/>
          </p:cNvSpPr>
          <p:nvPr/>
        </p:nvSpPr>
        <p:spPr>
          <a:xfrm>
            <a:off x="876300" y="38004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f89ff26d49274eb7" action="ppaction://hlinksldjump"/>
              </a:rPr>
              <a:t>Catalogue</a:t>
            </a:r>
          </a:p>
        </p:txBody>
      </p:sp>
      <p:sp>
        <p:nvSpPr>
          <p:cNvPr id="8" name="text-298">
            <a:hlinkClick r:id="R2853715533ac4cec" action="ppaction://hlinksldjump"/>
            <a:extLst>
              <a:ext uri="{FF2B5EF4-FFF2-40B4-BE49-F238E27FC236}">
                <ns2:creationId id="{49C01998-DC88-4E75-B88A-0BC1F3C3788E}"/>
              </a:ext>
            </a:extLst>
          </p:cNvPr>
          <p:cNvSpPr>
            <a:spLocks noGrp="1"/>
          </p:cNvSpPr>
          <p:nvPr/>
        </p:nvSpPr>
        <p:spPr>
          <a:xfrm>
            <a:off x="876300" y="42672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2853715533ac4cec" action="ppaction://hlinksldjump"/>
              </a:rPr>
              <a:t>Builder</a:t>
            </a:r>
          </a:p>
        </p:txBody>
      </p:sp>
      <p:sp>
        <p:nvSpPr>
          <p:cNvPr id="9" name="text-299">
            <a:hlinkClick r:id="R2243395b055e46ba" action="ppaction://hlinksldjump"/>
            <a:extLst>
              <a:ext uri="{FF2B5EF4-FFF2-40B4-BE49-F238E27FC236}">
                <ns2:creationId id="{1F138B69-5DD0-4A0B-BCBB-668A90BA6F36}"/>
              </a:ext>
            </a:extLst>
          </p:cNvPr>
          <p:cNvSpPr>
            <a:spLocks noGrp="1"/>
          </p:cNvSpPr>
          <p:nvPr/>
        </p:nvSpPr>
        <p:spPr>
          <a:xfrm>
            <a:off x="876300" y="473392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2243395b055e46ba" action="ppaction://hlinksldjump"/>
              </a:rPr>
              <a:t>Reauthoring</a:t>
            </a:r>
          </a:p>
        </p:txBody>
      </p:sp>
      <p:sp>
        <p:nvSpPr>
          <p:cNvPr id="10" name="text-300">
            <a:hlinkClick r:id="Rb6646735976e4723" action="ppaction://hlinksldjump"/>
            <a:extLst>
              <a:ext uri="{FF2B5EF4-FFF2-40B4-BE49-F238E27FC236}">
                <ns2:creationId id="{82FD9C62-D86A-452B-B0AF-7A5251748074}"/>
              </a:ext>
            </a:extLst>
          </p:cNvPr>
          <p:cNvSpPr>
            <a:spLocks noGrp="1"/>
          </p:cNvSpPr>
          <p:nvPr/>
        </p:nvSpPr>
        <p:spPr>
          <a:xfrm>
            <a:off x="876300" y="520065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b6646735976e4723" action="ppaction://hlinksldjump"/>
              </a:rPr>
              <a:t>Ontology</a:t>
            </a:r>
          </a:p>
        </p:txBody>
      </p:sp>
      <p:sp>
        <p:nvSpPr>
          <p:cNvPr id="11" name="text-301">
            <a:hlinkClick r:id="R24aca3c70c824b11" action="ppaction://hlinksldjump"/>
            <a:extLst>
              <a:ext uri="{FF2B5EF4-FFF2-40B4-BE49-F238E27FC236}">
                <ns2:creationId id="{DAB1688D-6592-4609-B80F-3E1459A7F62F}"/>
              </a:ext>
            </a:extLst>
          </p:cNvPr>
          <p:cNvSpPr>
            <a:spLocks noGrp="1"/>
          </p:cNvSpPr>
          <p:nvPr/>
        </p:nvSpPr>
        <p:spPr>
          <a:xfrm>
            <a:off x="876300" y="5667375"/>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24aca3c70c824b11" action="ppaction://hlinksldjump"/>
              </a:rPr>
              <a:t>Agents</a:t>
            </a:r>
          </a:p>
        </p:txBody>
      </p:sp>
      <p:sp>
        <p:nvSpPr>
          <p:cNvPr id="12" name="shape-302">
            <a:extLst>
              <a:ext uri="{FF2B5EF4-FFF2-40B4-BE49-F238E27FC236}">
                <ns2:creationId id="{636EF204-B082-4171-9CAC-343F6B1C77BE}"/>
              </a:ext>
            </a:extLst>
          </p:cNvPr>
          <p:cNvSpPr>
            <a:spLocks noGrp="1"/>
          </p:cNvSpPr>
          <p:nvPr/>
        </p:nvSpPr>
        <p:spPr>
          <a:xfrm>
            <a:off x="762000" y="6076950"/>
            <a:ext cx="1847850" cy="400050"/>
          </a:xfrm>
          <a:prstGeom prst="roundRect">
            <a:avLst>
              <a:gd name="adj" fmla="val 11905"/>
            </a:avLst>
          </a:prstGeom>
          <a:solidFill>
            <a:srgbClr val="C9433C"/>
          </a:solidFill>
          <a:ln w="0">
            <a:noFill/>
          </a:ln>
        </p:spPr>
      </p:sp>
      <p:sp>
        <p:nvSpPr>
          <p:cNvPr id="13" name="text-303">
            <a:hlinkClick r:id="Re71c8d937c004545" action="ppaction://hlinksldjump"/>
            <a:extLst>
              <a:ext uri="{FF2B5EF4-FFF2-40B4-BE49-F238E27FC236}">
                <ns2:creationId id="{F2B702E8-5817-406A-9FC2-1DA3559EC0F6}"/>
              </a:ext>
            </a:extLst>
          </p:cNvPr>
          <p:cNvSpPr>
            <a:spLocks noGrp="1"/>
          </p:cNvSpPr>
          <p:nvPr/>
        </p:nvSpPr>
        <p:spPr>
          <a:xfrm>
            <a:off x="876300" y="6134100"/>
            <a:ext cx="1619250" cy="3619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e71c8d937c004545" action="ppaction://hlinksldjump"/>
              </a:rPr>
              <a:t>Memory</a:t>
            </a:r>
          </a:p>
        </p:txBody>
      </p:sp>
      <p:sp>
        <p:nvSpPr>
          <p:cNvPr id="14" name="text-304">
            <a:hlinkClick r:id="Rc9ad5534518a49ca" action="ppaction://hlinksldjump"/>
            <a:extLst>
              <a:ext uri="{FF2B5EF4-FFF2-40B4-BE49-F238E27FC236}">
                <ns2:creationId id="{3A9642D7-F462-41E3-BC9D-936951972019}"/>
              </a:ext>
            </a:extLst>
          </p:cNvPr>
          <p:cNvSpPr>
            <a:spLocks noGrp="1"/>
          </p:cNvSpPr>
          <p:nvPr/>
        </p:nvSpPr>
        <p:spPr>
          <a:xfrm>
            <a:off x="838200" y="6991350"/>
            <a:ext cx="1695450" cy="666750"/>
          </a:xfrm>
          <a:prstGeom prst="rect">
            <a:avLst/>
          </a:prstGeom>
          <a:noFill/>
          <a:ln w="0">
            <a:noFill/>
          </a:ln>
        </p:spPr>
        <p:txBody>
          <a:bodyPr wrap="square" lIns="0" tIns="0" rIns="0" bIns="0" anchor="t">
            <a:noAutofit/>
          </a:bodyPr>
          <a:lstStyle>
            <a:defPPr algn="l">
              <a:defRPr sz="1725" b="0">
                <a:solidFill>
                  <a:srgbClr val="FFFFFF"/>
                </a:solidFill>
                <a:latin typeface="Helvetica Neue"/>
                <a:ea typeface="Helvetica Neue"/>
                <a:cs typeface="Helvetica Neue"/>
              </a:defRPr>
            </a:defPPr>
          </a:lstStyle>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ac4ddece22e6416b" action="ppaction://hlinksldjump"/>
              </a:rPr>
              <a:t>Back to</a:t>
            </a:r>
          </a:p>
          <a:p>
            <a:pPr algn="l">
              <a:lnSpc>
                <a:spcPct val="113000"/>
              </a:lnSpc>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hlinkClick r:id="Rc9ad5534518a49ca" action="ppaction://hlinksldjump"/>
              </a:rPr>
              <a:t>workspace</a:t>
            </a:r>
          </a:p>
        </p:txBody>
      </p:sp>
      <p:sp>
        <p:nvSpPr>
          <p:cNvPr id="15" name="shape-305">
            <a:extLst>
              <a:ext uri="{FF2B5EF4-FFF2-40B4-BE49-F238E27FC236}">
                <ns2:creationId id="{4BE92DAC-A0A1-45B2-91C0-D3A4FCDB8FA7}"/>
              </a:ext>
            </a:extLst>
          </p:cNvPr>
          <p:cNvSpPr>
            <a:spLocks noGrp="1"/>
          </p:cNvSpPr>
          <p:nvPr/>
        </p:nvSpPr>
        <p:spPr>
          <a:xfrm>
            <a:off x="2990850" y="2638425"/>
            <a:ext cx="6934200" cy="5181600"/>
          </a:xfrm>
          <a:prstGeom prst="roundRect">
            <a:avLst>
              <a:gd name="adj" fmla="val 1287"/>
            </a:avLst>
          </a:prstGeom>
          <a:solidFill>
            <a:srgbClr val="FFFFFF"/>
          </a:solidFill>
          <a:ln w="0">
            <a:noFill/>
          </a:ln>
        </p:spPr>
      </p:sp>
      <p:sp>
        <p:nvSpPr>
          <p:cNvPr id="16" name="text-306">
            <a:extLst>
              <a:ext uri="{FF2B5EF4-FFF2-40B4-BE49-F238E27FC236}">
                <ns2:creationId id="{38C83442-E88C-4B64-9B1E-75805121A9E8}"/>
              </a:ext>
            </a:extLst>
          </p:cNvPr>
          <p:cNvSpPr>
            <a:spLocks noGrp="1"/>
          </p:cNvSpPr>
          <p:nvPr/>
        </p:nvSpPr>
        <p:spPr>
          <a:xfrm>
            <a:off x="3257550" y="2876550"/>
            <a:ext cx="6400800" cy="495300"/>
          </a:xfrm>
          <a:prstGeom prst="rect">
            <a:avLst/>
          </a:prstGeom>
          <a:noFill/>
          <a:ln w="0">
            <a:noFill/>
          </a:ln>
        </p:spPr>
        <p:txBody>
          <a:bodyPr wrap="square" lIns="0" tIns="0" rIns="0" bIns="0" anchor="t">
            <a:noAutofit/>
          </a:bodyPr>
          <a:lstStyle>
            <a:defPPr algn="l">
              <a:defRPr sz="2550" b="0">
                <a:solidFill>
                  <a:srgbClr val="252524"/>
                </a:solidFill>
                <a:latin typeface="Helvetica Neue"/>
                <a:ea typeface="Helvetica Neue"/>
                <a:cs typeface="Helvetica Neue"/>
              </a:defRPr>
            </a:defPPr>
          </a:lstStyle>
          <a:p>
            <a:pPr algn="l">
              <a:lnSpc>
                <a:spcPct val="113000"/>
              </a:lnSpc>
              <a:buNone/>
              <a:defRPr sz="2550" b="0">
                <a:solidFill>
                  <a:srgbClr val="252524"/>
                </a:solidFill>
                <a:latin typeface="Helvetica Neue"/>
                <a:ea typeface="Helvetica Neue"/>
                <a:cs typeface="Helvetica Neue"/>
              </a:defRPr>
            </a:pPr>
            <a:r>
              <a:rPr sz="2550" b="0">
                <a:solidFill>
                  <a:srgbClr val="252524"/>
                </a:solidFill>
                <a:latin typeface="Helvetica Neue"/>
                <a:ea typeface="Helvetica Neue"/>
                <a:cs typeface="Helvetica Neue"/>
              </a:rPr>
              <a:t>Customer workflow</a:t>
            </a:r>
          </a:p>
        </p:txBody>
      </p:sp>
      <p:sp>
        <p:nvSpPr>
          <p:cNvPr id="17" name="text-307">
            <a:extLst>
              <a:ext uri="{FF2B5EF4-FFF2-40B4-BE49-F238E27FC236}">
                <ns2:creationId id="{866FD95C-A6F1-49AE-9507-29C1C0C4375E}"/>
              </a:ext>
            </a:extLst>
          </p:cNvPr>
          <p:cNvSpPr>
            <a:spLocks noGrp="1"/>
          </p:cNvSpPr>
          <p:nvPr/>
        </p:nvSpPr>
        <p:spPr>
          <a:xfrm>
            <a:off x="3257550" y="360045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Record experience</a:t>
            </a:r>
          </a:p>
        </p:txBody>
      </p:sp>
      <p:sp>
        <p:nvSpPr>
          <p:cNvPr id="18" name="text-308">
            <a:extLst>
              <a:ext uri="{FF2B5EF4-FFF2-40B4-BE49-F238E27FC236}">
                <ns2:creationId id="{B78EFB63-5E3F-4637-9EBF-959ED1BB493E}"/>
              </a:ext>
            </a:extLst>
          </p:cNvPr>
          <p:cNvSpPr>
            <a:spLocks noGrp="1"/>
          </p:cNvSpPr>
          <p:nvPr/>
        </p:nvSpPr>
        <p:spPr>
          <a:xfrm>
            <a:off x="3257550" y="407670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Save findings, attempts and unanswered questions with support.</a:t>
            </a:r>
          </a:p>
        </p:txBody>
      </p:sp>
      <p:sp>
        <p:nvSpPr>
          <p:cNvPr id="19" name="text-309">
            <a:extLst>
              <a:ext uri="{FF2B5EF4-FFF2-40B4-BE49-F238E27FC236}">
                <ns2:creationId id="{96567391-5492-47CA-A878-25D2F2C4D5C7}"/>
              </a:ext>
            </a:extLst>
          </p:cNvPr>
          <p:cNvSpPr>
            <a:spLocks noGrp="1"/>
          </p:cNvSpPr>
          <p:nvPr/>
        </p:nvSpPr>
        <p:spPr>
          <a:xfrm>
            <a:off x="3257550" y="4829175"/>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Preserve a task</a:t>
            </a:r>
          </a:p>
        </p:txBody>
      </p:sp>
      <p:sp>
        <p:nvSpPr>
          <p:cNvPr id="20" name="text-310">
            <a:extLst>
              <a:ext uri="{FF2B5EF4-FFF2-40B4-BE49-F238E27FC236}">
                <ns2:creationId id="{8721F2A0-7959-4ED8-A315-744FB7E48499}"/>
              </a:ext>
            </a:extLst>
          </p:cNvPr>
          <p:cNvSpPr>
            <a:spLocks noGrp="1"/>
          </p:cNvSpPr>
          <p:nvPr/>
        </p:nvSpPr>
        <p:spPr>
          <a:xfrm>
            <a:off x="3257550" y="5305425"/>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Reopen receipts and checkpoints after a session restart.</a:t>
            </a:r>
          </a:p>
        </p:txBody>
      </p:sp>
      <p:sp>
        <p:nvSpPr>
          <p:cNvPr id="21" name="text-311">
            <a:extLst>
              <a:ext uri="{FF2B5EF4-FFF2-40B4-BE49-F238E27FC236}">
                <ns2:creationId id="{ECB2A01C-FB9B-4A31-AA66-38F971872F55}"/>
              </a:ext>
            </a:extLst>
          </p:cNvPr>
          <p:cNvSpPr>
            <a:spLocks noGrp="1"/>
          </p:cNvSpPr>
          <p:nvPr/>
        </p:nvSpPr>
        <p:spPr>
          <a:xfrm>
            <a:off x="3257550" y="6057900"/>
            <a:ext cx="6400800" cy="371475"/>
          </a:xfrm>
          <a:prstGeom prst="rect">
            <a:avLst/>
          </a:prstGeom>
          <a:noFill/>
          <a:ln w="0">
            <a:noFill/>
          </a:ln>
        </p:spPr>
        <p:txBody>
          <a:bodyPr wrap="square" lIns="0" tIns="0" rIns="0" bIns="0" anchor="t">
            <a:noAutofit/>
          </a:bodyPr>
          <a:lstStyle>
            <a:defPPr algn="l">
              <a:defRPr sz="2175" b="0">
                <a:solidFill>
                  <a:srgbClr val="C9433C"/>
                </a:solidFill>
                <a:latin typeface="Helvetica Neue"/>
                <a:ea typeface="Helvetica Neue"/>
                <a:cs typeface="Helvetica Neue"/>
              </a:defRPr>
            </a:defPPr>
          </a:lstStyle>
          <a:p>
            <a:pPr algn="l">
              <a:lnSpc>
                <a:spcPct val="113000"/>
              </a:lnSpc>
              <a:buNone/>
              <a:defRPr sz="2175" b="0">
                <a:solidFill>
                  <a:srgbClr val="C9433C"/>
                </a:solidFill>
                <a:latin typeface="Helvetica Neue"/>
                <a:ea typeface="Helvetica Neue"/>
                <a:cs typeface="Helvetica Neue"/>
              </a:defRPr>
            </a:pPr>
            <a:r>
              <a:rPr sz="2175" b="0">
                <a:solidFill>
                  <a:srgbClr val="C9433C"/>
                </a:solidFill>
                <a:latin typeface="Helvetica Neue"/>
                <a:ea typeface="Helvetica Neue"/>
                <a:cs typeface="Helvetica Neue"/>
              </a:rPr>
              <a:t>Resume with a helper</a:t>
            </a:r>
          </a:p>
        </p:txBody>
      </p:sp>
      <p:sp>
        <p:nvSpPr>
          <p:cNvPr id="22" name="text-312">
            <a:extLst>
              <a:ext uri="{FF2B5EF4-FFF2-40B4-BE49-F238E27FC236}">
                <ns2:creationId id="{023CB135-7F4E-43EE-893B-7934267BE338}"/>
              </a:ext>
            </a:extLst>
          </p:cNvPr>
          <p:cNvSpPr>
            <a:spLocks noGrp="1"/>
          </p:cNvSpPr>
          <p:nvPr/>
        </p:nvSpPr>
        <p:spPr>
          <a:xfrm>
            <a:off x="3257550" y="6534150"/>
            <a:ext cx="6400800" cy="704850"/>
          </a:xfrm>
          <a:prstGeom prst="rect">
            <a:avLst/>
          </a:prstGeom>
          <a:noFill/>
          <a:ln w="0">
            <a:noFill/>
          </a:ln>
        </p:spPr>
        <p:txBody>
          <a:bodyPr wrap="square" lIns="0" tIns="0" rIns="0" bIns="0" anchor="t">
            <a:noAutofit/>
          </a:bodyPr>
          <a:lstStyle>
            <a:defPPr algn="l">
              <a:defRPr sz="2025" b="0">
                <a:solidFill>
                  <a:srgbClr val="252524"/>
                </a:solidFill>
                <a:latin typeface="Helvetica Neue"/>
                <a:ea typeface="Helvetica Neue"/>
                <a:cs typeface="Helvetica Neue"/>
              </a:defRPr>
            </a:defPPr>
          </a:lstStyle>
          <a:p>
            <a:pPr algn="l">
              <a:lnSpc>
                <a:spcPct val="113000"/>
              </a:lnSpc>
              <a:buNone/>
              <a:defRPr sz="2025" b="0">
                <a:solidFill>
                  <a:srgbClr val="252524"/>
                </a:solidFill>
                <a:latin typeface="Helvetica Neue"/>
                <a:ea typeface="Helvetica Neue"/>
                <a:cs typeface="Helvetica Neue"/>
              </a:defRPr>
            </a:pPr>
            <a:r>
              <a:rPr sz="2025" b="0">
                <a:solidFill>
                  <a:srgbClr val="252524"/>
                </a:solidFill>
                <a:latin typeface="Helvetica Neue"/>
                <a:ea typeface="Helvetica Neue"/>
                <a:cs typeface="Helvetica Neue"/>
              </a:rPr>
              <a:t>Accept a handoff with constraints, ownership and the next step.</a:t>
            </a:r>
          </a:p>
        </p:txBody>
      </p:sp>
      <p:sp>
        <p:nvSpPr>
          <p:cNvPr id="23" name="shape-313">
            <a:extLst>
              <a:ext uri="{FF2B5EF4-FFF2-40B4-BE49-F238E27FC236}">
                <ns2:creationId id="{169A9A80-0B22-450E-866E-C416EA29148A}"/>
              </a:ext>
            </a:extLst>
          </p:cNvPr>
          <p:cNvSpPr>
            <a:spLocks noGrp="1"/>
          </p:cNvSpPr>
          <p:nvPr/>
        </p:nvSpPr>
        <p:spPr>
          <a:xfrm>
            <a:off x="10153650" y="2638425"/>
            <a:ext cx="4476750" cy="2657475"/>
          </a:xfrm>
          <a:prstGeom prst="roundRect">
            <a:avLst>
              <a:gd name="adj" fmla="val 2509"/>
            </a:avLst>
          </a:prstGeom>
          <a:solidFill>
            <a:srgbClr val="EEE0DB"/>
          </a:solidFill>
          <a:ln w="0">
            <a:noFill/>
          </a:ln>
        </p:spPr>
      </p:sp>
      <p:sp>
        <p:nvSpPr>
          <p:cNvPr id="24" name="text-314">
            <a:extLst>
              <a:ext uri="{FF2B5EF4-FFF2-40B4-BE49-F238E27FC236}">
                <ns2:creationId id="{F7180A7A-1E97-4C69-9193-2E806FE6F096}"/>
              </a:ext>
            </a:extLst>
          </p:cNvPr>
          <p:cNvSpPr>
            <a:spLocks noGrp="1"/>
          </p:cNvSpPr>
          <p:nvPr/>
        </p:nvSpPr>
        <p:spPr>
          <a:xfrm>
            <a:off x="10420350" y="2876550"/>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Customer benefit</a:t>
            </a:r>
          </a:p>
        </p:txBody>
      </p:sp>
      <p:sp>
        <p:nvSpPr>
          <p:cNvPr id="25" name="text-315">
            <a:extLst>
              <a:ext uri="{FF2B5EF4-FFF2-40B4-BE49-F238E27FC236}">
                <ns2:creationId id="{A0253D48-3D84-4E21-8D5D-FE8BF009053E}"/>
              </a:ext>
            </a:extLst>
          </p:cNvPr>
          <p:cNvSpPr>
            <a:spLocks noGrp="1"/>
          </p:cNvSpPr>
          <p:nvPr/>
        </p:nvSpPr>
        <p:spPr>
          <a:xfrm>
            <a:off x="10420350" y="3505200"/>
            <a:ext cx="3943350" cy="157162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An investigation resumes with its history and uncertainty intact. Customer value is continuity and fewer repeated explanations.</a:t>
            </a:r>
          </a:p>
        </p:txBody>
      </p:sp>
      <p:sp>
        <p:nvSpPr>
          <p:cNvPr id="26" name="shape-316">
            <a:extLst>
              <a:ext uri="{FF2B5EF4-FFF2-40B4-BE49-F238E27FC236}">
                <ns2:creationId id="{EA6C9EE3-6CB0-415F-BA93-E92045CB3F38}"/>
              </a:ext>
            </a:extLst>
          </p:cNvPr>
          <p:cNvSpPr>
            <a:spLocks noGrp="1"/>
          </p:cNvSpPr>
          <p:nvPr/>
        </p:nvSpPr>
        <p:spPr>
          <a:xfrm>
            <a:off x="10153650" y="5524500"/>
            <a:ext cx="4476750" cy="2295525"/>
          </a:xfrm>
          <a:prstGeom prst="roundRect">
            <a:avLst>
              <a:gd name="adj" fmla="val 2905"/>
            </a:avLst>
          </a:prstGeom>
          <a:solidFill>
            <a:srgbClr val="FFFFFF"/>
          </a:solidFill>
          <a:ln w="0">
            <a:noFill/>
          </a:ln>
        </p:spPr>
      </p:sp>
      <p:sp>
        <p:nvSpPr>
          <p:cNvPr id="27" name="text-317">
            <a:extLst>
              <a:ext uri="{FF2B5EF4-FFF2-40B4-BE49-F238E27FC236}">
                <ns2:creationId id="{9341C82D-B7FC-4273-A549-3801B5B8AD75}"/>
              </a:ext>
            </a:extLst>
          </p:cNvPr>
          <p:cNvSpPr>
            <a:spLocks noGrp="1"/>
          </p:cNvSpPr>
          <p:nvPr/>
        </p:nvSpPr>
        <p:spPr>
          <a:xfrm>
            <a:off x="10420350" y="5762625"/>
            <a:ext cx="3943350" cy="476250"/>
          </a:xfrm>
          <a:prstGeom prst="rect">
            <a:avLst/>
          </a:prstGeom>
          <a:noFill/>
          <a:ln w="0">
            <a:noFill/>
          </a:ln>
        </p:spPr>
        <p:txBody>
          <a:bodyPr wrap="square" lIns="0" tIns="0" rIns="0" bIns="0" anchor="t">
            <a:noAutofit/>
          </a:bodyPr>
          <a:lstStyle>
            <a:defPPr algn="l">
              <a:defRPr sz="2250" b="0">
                <a:solidFill>
                  <a:srgbClr val="C9433C"/>
                </a:solidFill>
                <a:latin typeface="Helvetica Neue"/>
                <a:ea typeface="Helvetica Neue"/>
                <a:cs typeface="Helvetica Neue"/>
              </a:defRPr>
            </a:defPPr>
          </a:lstStyle>
          <a:p>
            <a:pPr algn="l">
              <a:lnSpc>
                <a:spcPct val="113000"/>
              </a:lnSpc>
              <a:buNone/>
              <a:defRPr sz="2250" b="0">
                <a:solidFill>
                  <a:srgbClr val="C9433C"/>
                </a:solidFill>
                <a:latin typeface="Helvetica Neue"/>
                <a:ea typeface="Helvetica Neue"/>
                <a:cs typeface="Helvetica Neue"/>
              </a:defRPr>
            </a:pPr>
            <a:r>
              <a:rPr sz="2250" b="0">
                <a:solidFill>
                  <a:srgbClr val="C9433C"/>
                </a:solidFill>
                <a:latin typeface="Helvetica Neue"/>
                <a:ea typeface="Helvetica Neue"/>
                <a:cs typeface="Helvetica Neue"/>
              </a:rPr>
              <a:t>Review and access</a:t>
            </a:r>
          </a:p>
        </p:txBody>
      </p:sp>
      <p:sp>
        <p:nvSpPr>
          <p:cNvPr id="28" name="text-318">
            <a:extLst>
              <a:ext uri="{FF2B5EF4-FFF2-40B4-BE49-F238E27FC236}">
                <ns2:creationId id="{32CF4FAE-4B1E-4BDE-A09B-A03D456E0C58}"/>
              </a:ext>
            </a:extLst>
          </p:cNvPr>
          <p:cNvSpPr>
            <a:spLocks noGrp="1"/>
          </p:cNvSpPr>
          <p:nvPr/>
        </p:nvSpPr>
        <p:spPr>
          <a:xfrm>
            <a:off x="10420350" y="6391275"/>
            <a:ext cx="3943350" cy="1209675"/>
          </a:xfrm>
          <a:prstGeom prst="rect">
            <a:avLst/>
          </a:prstGeom>
          <a:noFill/>
          <a:ln w="0">
            <a:noFill/>
          </a:ln>
        </p:spPr>
        <p:txBody>
          <a:bodyPr wrap="square" lIns="0" tIns="0" rIns="0" bIns="0" anchor="t">
            <a:noAutofit/>
          </a:bodyPr>
          <a:lstStyle>
            <a:defPPr algn="l">
              <a:defRPr sz="1875" b="0">
                <a:solidFill>
                  <a:srgbClr val="252524"/>
                </a:solidFill>
                <a:latin typeface="Helvetica Neue"/>
                <a:ea typeface="Helvetica Neue"/>
                <a:cs typeface="Helvetica Neue"/>
              </a:defRPr>
            </a:defPPr>
          </a:lstStyle>
          <a:p>
            <a:pPr algn="l">
              <a:lnSpc>
                <a:spcPct val="113000"/>
              </a:lnSpc>
              <a:buNone/>
              <a:defRPr sz="1875" b="0">
                <a:solidFill>
                  <a:srgbClr val="252524"/>
                </a:solidFill>
                <a:latin typeface="Helvetica Neue"/>
                <a:ea typeface="Helvetica Neue"/>
                <a:cs typeface="Helvetica Neue"/>
              </a:defRPr>
            </a:pPr>
            <a:r>
              <a:rPr sz="1875" b="0">
                <a:solidFill>
                  <a:srgbClr val="252524"/>
                </a:solidFill>
                <a:latin typeface="Helvetica Neue"/>
                <a:ea typeface="Helvetica Neue"/>
                <a:cs typeface="Helvetica Neue"/>
              </a:rPr>
              <a:t>Private support restricts derived memory. Corrections flag stale work. Handoffs transfer responsibility.</a:t>
            </a:r>
          </a:p>
        </p:txBody>
      </p:sp>
    </p:spTree>
    <p:extLst>
      <p:ext uri="{BB962C8B-B14F-4D97-AF65-F5344CB8AC3E}">
        <ns4:creationId val="8009129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2026-10-12T05:26:46.2620000Z</dcterms:created>
  <dcterms:modified xsi:type="dcterms:W3CDTF">2026-10-12T05:26:46.2620000Z</dcterms:modified>
</coreProperties>
</file>